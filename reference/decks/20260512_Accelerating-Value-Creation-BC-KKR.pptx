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notesSlides/notesSlide2.xml" ContentType="application/vnd.openxmlformats-officedocument.presentationml.notesSlide+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864" r:id="rId6"/>
  </p:sldMasterIdLst>
  <p:notesMasterIdLst>
    <p:notesMasterId r:id="rId18"/>
  </p:notesMasterIdLst>
  <p:handoutMasterIdLst>
    <p:handoutMasterId r:id="rId19"/>
  </p:handoutMasterIdLst>
  <p:sldIdLst>
    <p:sldId id="256" r:id="rId7"/>
    <p:sldId id="2147374974" r:id="rId8"/>
    <p:sldId id="2147477028" r:id="rId9"/>
    <p:sldId id="2147374979" r:id="rId10"/>
    <p:sldId id="1448943050" r:id="rId11"/>
    <p:sldId id="2147374981" r:id="rId12"/>
    <p:sldId id="1448943093" r:id="rId13"/>
    <p:sldId id="2147374978" r:id="rId14"/>
    <p:sldId id="2147374983" r:id="rId15"/>
    <p:sldId id="6258" r:id="rId16"/>
    <p:sldId id="2147374986" r:id="rId17"/>
  </p:sldIdLst>
  <p:sldSz cx="12192000" cy="6858000"/>
  <p:notesSz cx="7102475" cy="9388475"/>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B7C6FF"/>
    <a:srgbClr val="D0D0D0"/>
    <a:srgbClr val="051C2C"/>
    <a:srgbClr val="000000"/>
    <a:srgbClr val="7F7F7F"/>
    <a:srgbClr val="AFC3FF"/>
    <a:srgbClr val="0D3171"/>
    <a:srgbClr val="E6E6E6"/>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CA8CF-986E-416F-94FD-A4F317EADAD4}" v="26" dt="2026-06-10T02:33:07.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11 June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11 June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11 June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a:t>
            </a:fld>
            <a:endParaRPr lang="en-US"/>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825" y="549275"/>
            <a:ext cx="6648450" cy="37401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5042271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oleObject" Target="../embeddings/oleObject2.bin"/><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4.sv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3.jpe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1.emf"/><Relationship Id="rId4" Type="http://schemas.openxmlformats.org/officeDocument/2006/relationships/tags" Target="../tags/tag35.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image" Target="../media/image6.emf"/><Relationship Id="rId4" Type="http://schemas.openxmlformats.org/officeDocument/2006/relationships/tags" Target="../tags/tag56.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emf"/><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6.bin"/><Relationship Id="rId5" Type="http://schemas.openxmlformats.org/officeDocument/2006/relationships/tags" Target="../tags/tag64.xml"/><Relationship Id="rId10"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tags" Target="../tags/tag68.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oleObject" Target="../embeddings/oleObject7.bin"/><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oleObject" Target="../embeddings/oleObject8.bin"/><Relationship Id="rId5" Type="http://schemas.openxmlformats.org/officeDocument/2006/relationships/tags" Target="../tags/tag82.xml"/><Relationship Id="rId10" Type="http://schemas.openxmlformats.org/officeDocument/2006/relationships/slideMaster" Target="../slideMasters/slideMaster1.xml"/><Relationship Id="rId4" Type="http://schemas.openxmlformats.org/officeDocument/2006/relationships/tags" Target="../tags/tag81.xml"/><Relationship Id="rId9" Type="http://schemas.openxmlformats.org/officeDocument/2006/relationships/tags" Target="../tags/tag86.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7.emf"/><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oleObject" Target="../embeddings/oleObject9.bin"/><Relationship Id="rId5" Type="http://schemas.openxmlformats.org/officeDocument/2006/relationships/tags" Target="../tags/tag91.xml"/><Relationship Id="rId10" Type="http://schemas.openxmlformats.org/officeDocument/2006/relationships/slideMaster" Target="../slideMasters/slideMaster1.xml"/><Relationship Id="rId4" Type="http://schemas.openxmlformats.org/officeDocument/2006/relationships/tags" Target="../tags/tag90.xml"/><Relationship Id="rId9" Type="http://schemas.openxmlformats.org/officeDocument/2006/relationships/tags" Target="../tags/tag95.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e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oleObject" Target="../embeddings/oleObject8.bin"/><Relationship Id="rId5" Type="http://schemas.openxmlformats.org/officeDocument/2006/relationships/tags" Target="../tags/tag100.xml"/><Relationship Id="rId10" Type="http://schemas.openxmlformats.org/officeDocument/2006/relationships/slideMaster" Target="../slideMasters/slideMaster1.xml"/><Relationship Id="rId4" Type="http://schemas.openxmlformats.org/officeDocument/2006/relationships/tags" Target="../tags/tag99.xml"/><Relationship Id="rId9" Type="http://schemas.openxmlformats.org/officeDocument/2006/relationships/tags" Target="../tags/tag10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Master" Target="../slideMasters/slideMaster1.xml"/><Relationship Id="rId5" Type="http://schemas.openxmlformats.org/officeDocument/2006/relationships/tags" Target="../tags/tag109.xml"/><Relationship Id="rId4" Type="http://schemas.openxmlformats.org/officeDocument/2006/relationships/tags" Target="../tags/tag10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Master" Target="../slideMasters/slideMaster1.xml"/><Relationship Id="rId4"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116.xml"/><Relationship Id="rId7" Type="http://schemas.openxmlformats.org/officeDocument/2006/relationships/image" Target="../media/image8.sv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3.jpeg"/><Relationship Id="rId5"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oleObject" Target="../embeddings/oleObject12.bin"/><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4.sv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3.jpeg"/><Relationship Id="rId5" Type="http://schemas.openxmlformats.org/officeDocument/2006/relationships/tags" Target="../tags/tag143.xml"/><Relationship Id="rId10" Type="http://schemas.openxmlformats.org/officeDocument/2006/relationships/slideMaster" Target="../slideMasters/slideMaster2.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image" Target="../media/image1.emf"/><Relationship Id="rId4" Type="http://schemas.openxmlformats.org/officeDocument/2006/relationships/tags" Target="../tags/tag151.xml"/><Relationship Id="rId9" Type="http://schemas.openxmlformats.org/officeDocument/2006/relationships/oleObject" Target="../embeddings/oleObject13.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Master" Target="../slideMasters/slideMaster2.xml"/><Relationship Id="rId4" Type="http://schemas.openxmlformats.org/officeDocument/2006/relationships/tags" Target="../tags/tag162.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65.xml"/><Relationship Id="rId7" Type="http://schemas.openxmlformats.org/officeDocument/2006/relationships/slideMaster" Target="../slideMasters/slideMaster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10" Type="http://schemas.openxmlformats.org/officeDocument/2006/relationships/image" Target="../media/image6.emf"/><Relationship Id="rId4" Type="http://schemas.openxmlformats.org/officeDocument/2006/relationships/tags" Target="../tags/tag172.xml"/><Relationship Id="rId9" Type="http://schemas.openxmlformats.org/officeDocument/2006/relationships/oleObject" Target="../embeddings/oleObject15.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1.e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oleObject" Target="../embeddings/oleObject16.bin"/><Relationship Id="rId5" Type="http://schemas.openxmlformats.org/officeDocument/2006/relationships/tags" Target="../tags/tag180.xml"/><Relationship Id="rId10" Type="http://schemas.openxmlformats.org/officeDocument/2006/relationships/slideMaster" Target="../slideMasters/slideMaster2.xml"/><Relationship Id="rId4" Type="http://schemas.openxmlformats.org/officeDocument/2006/relationships/tags" Target="../tags/tag179.xml"/><Relationship Id="rId9" Type="http://schemas.openxmlformats.org/officeDocument/2006/relationships/tags" Target="../tags/tag184.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oleObject" Target="../embeddings/oleObject17.bin"/><Relationship Id="rId5" Type="http://schemas.openxmlformats.org/officeDocument/2006/relationships/tags" Target="../tags/tag189.xml"/><Relationship Id="rId10" Type="http://schemas.openxmlformats.org/officeDocument/2006/relationships/slideMaster" Target="../slideMasters/slideMaster2.xml"/><Relationship Id="rId4" Type="http://schemas.openxmlformats.org/officeDocument/2006/relationships/tags" Target="../tags/tag188.xml"/><Relationship Id="rId9" Type="http://schemas.openxmlformats.org/officeDocument/2006/relationships/tags" Target="../tags/tag19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0.emf"/><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oleObject" Target="../embeddings/oleObject18.bin"/><Relationship Id="rId5" Type="http://schemas.openxmlformats.org/officeDocument/2006/relationships/tags" Target="../tags/tag198.xml"/><Relationship Id="rId10" Type="http://schemas.openxmlformats.org/officeDocument/2006/relationships/slideMaster" Target="../slideMasters/slideMaster2.xml"/><Relationship Id="rId4" Type="http://schemas.openxmlformats.org/officeDocument/2006/relationships/tags" Target="../tags/tag197.xml"/><Relationship Id="rId9" Type="http://schemas.openxmlformats.org/officeDocument/2006/relationships/tags" Target="../tags/tag20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19.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0.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0.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10.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1.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2.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1.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3.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Master" Target="../slideMasters/slideMaster2.xml"/><Relationship Id="rId5" Type="http://schemas.openxmlformats.org/officeDocument/2006/relationships/tags" Target="../tags/tag252.xml"/><Relationship Id="rId4" Type="http://schemas.openxmlformats.org/officeDocument/2006/relationships/tags" Target="../tags/tag25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slideMaster" Target="../slideMasters/slideMaster2.xml"/><Relationship Id="rId4" Type="http://schemas.openxmlformats.org/officeDocument/2006/relationships/tags" Target="../tags/tag256.xml"/></Relationships>
</file>

<file path=ppt/slideLayouts/_rels/slideLayout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259.xml"/><Relationship Id="rId7" Type="http://schemas.openxmlformats.org/officeDocument/2006/relationships/image" Target="../media/image8.sv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image" Target="../media/image3.jpeg"/><Relationship Id="rId5" Type="http://schemas.openxmlformats.org/officeDocument/2006/relationships/slideMaster" Target="../slideMasters/slideMaster2.xml"/><Relationship Id="rId4" Type="http://schemas.openxmlformats.org/officeDocument/2006/relationships/tags" Target="../tags/tag260.xml"/><Relationship Id="rId9"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FB5CAFB0-12DB-3ECB-96AD-62B18CAF3BA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2026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5" name="Partnership">
            <a:extLst>
              <a:ext uri="{FF2B5EF4-FFF2-40B4-BE49-F238E27FC236}">
                <a16:creationId xmlns:a16="http://schemas.microsoft.com/office/drawing/2014/main" id="{90886F1E-7A28-AA11-3C3E-8B020F3D98D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6" name="Partnership">
            <a:extLst>
              <a:ext uri="{FF2B5EF4-FFF2-40B4-BE49-F238E27FC236}">
                <a16:creationId xmlns:a16="http://schemas.microsoft.com/office/drawing/2014/main" id="{A820C1EA-1C46-FBE2-06AE-01690E3DC46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2026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62BD8777-62CB-D677-D858-25EAEF1734E7}"/>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897050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39" Type="http://schemas.openxmlformats.org/officeDocument/2006/relationships/image" Target="../media/image2.svg"/><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theme" Target="../theme/theme2.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42" Type="http://schemas.openxmlformats.org/officeDocument/2006/relationships/image" Target="../media/image9.sv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ags" Target="../tags/tag119.xml"/><Relationship Id="rId29" Type="http://schemas.openxmlformats.org/officeDocument/2006/relationships/tags" Target="../tags/tag128.xml"/><Relationship Id="rId41" Type="http://schemas.openxmlformats.org/officeDocument/2006/relationships/image" Target="../media/image5.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oleObject" Target="../embeddings/oleObject11.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10" Type="http://schemas.openxmlformats.org/officeDocument/2006/relationships/slideLayout" Target="../slideLayouts/slideLayout24.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1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1"/>
            </p:custDataLst>
          </p:nvPr>
        </p:nvPicPr>
        <p:blipFill>
          <a:blip>
            <a:extLst>
              <a:ext uri="{96DAC541-7B7A-43D3-8B79-37D633B846F1}">
                <asvg:svgBlip xmlns:asvg="http://schemas.microsoft.com/office/drawing/2016/SVG/main" r:embed="rId39"/>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263.xml"/><Relationship Id="rId7" Type="http://schemas.openxmlformats.org/officeDocument/2006/relationships/image" Target="../media/image7.emf"/><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oleObject" Target="../embeddings/oleObject25.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tags" Target="../tags/tag266.xml"/><Relationship Id="rId7" Type="http://schemas.openxmlformats.org/officeDocument/2006/relationships/tags" Target="../tags/tag270.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5" Type="http://schemas.openxmlformats.org/officeDocument/2006/relationships/tags" Target="../tags/tag268.xml"/><Relationship Id="rId10" Type="http://schemas.openxmlformats.org/officeDocument/2006/relationships/image" Target="../media/image11.emf"/><Relationship Id="rId4" Type="http://schemas.openxmlformats.org/officeDocument/2006/relationships/tags" Target="../tags/tag267.xml"/><Relationship Id="rId9" Type="http://schemas.openxmlformats.org/officeDocument/2006/relationships/oleObject" Target="../embeddings/oleObject26.bin"/></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273.xml"/><Relationship Id="rId7" Type="http://schemas.openxmlformats.org/officeDocument/2006/relationships/slideLayout" Target="../slideLayouts/slideLayout11.xml"/><Relationship Id="rId2" Type="http://schemas.openxmlformats.org/officeDocument/2006/relationships/tags" Target="../tags/tag272.xml"/><Relationship Id="rId1" Type="http://schemas.openxmlformats.org/officeDocument/2006/relationships/tags" Target="../tags/tag271.xml"/><Relationship Id="rId6" Type="http://schemas.openxmlformats.org/officeDocument/2006/relationships/tags" Target="../tags/tag276.xml"/><Relationship Id="rId5" Type="http://schemas.openxmlformats.org/officeDocument/2006/relationships/tags" Target="../tags/tag275.xml"/><Relationship Id="rId10" Type="http://schemas.openxmlformats.org/officeDocument/2006/relationships/image" Target="../media/image12.emf"/><Relationship Id="rId4" Type="http://schemas.openxmlformats.org/officeDocument/2006/relationships/tags" Target="../tags/tag274.xml"/><Relationship Id="rId9" Type="http://schemas.openxmlformats.org/officeDocument/2006/relationships/oleObject" Target="../embeddings/oleObject27.bin"/></Relationships>
</file>

<file path=ppt/slides/_rels/slide4.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image" Target="../media/image14.svg"/><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image" Target="../media/image13.svg"/><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image" Target="../media/image6.emf"/><Relationship Id="rId5" Type="http://schemas.openxmlformats.org/officeDocument/2006/relationships/tags" Target="../tags/tag281.xml"/><Relationship Id="rId10" Type="http://schemas.openxmlformats.org/officeDocument/2006/relationships/oleObject" Target="../embeddings/oleObject28.bin"/><Relationship Id="rId4" Type="http://schemas.openxmlformats.org/officeDocument/2006/relationships/tags" Target="../tags/tag280.xml"/><Relationship Id="rId9"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tags" Target="../tags/tag292.xml"/><Relationship Id="rId13" Type="http://schemas.openxmlformats.org/officeDocument/2006/relationships/tags" Target="../tags/tag297.xml"/><Relationship Id="rId18" Type="http://schemas.openxmlformats.org/officeDocument/2006/relationships/tags" Target="../tags/tag302.xml"/><Relationship Id="rId26" Type="http://schemas.openxmlformats.org/officeDocument/2006/relationships/image" Target="../media/image13.svg"/><Relationship Id="rId3" Type="http://schemas.openxmlformats.org/officeDocument/2006/relationships/tags" Target="../tags/tag287.xml"/><Relationship Id="rId21" Type="http://schemas.openxmlformats.org/officeDocument/2006/relationships/tags" Target="../tags/tag305.xml"/><Relationship Id="rId7" Type="http://schemas.openxmlformats.org/officeDocument/2006/relationships/tags" Target="../tags/tag291.xml"/><Relationship Id="rId12" Type="http://schemas.openxmlformats.org/officeDocument/2006/relationships/tags" Target="../tags/tag296.xml"/><Relationship Id="rId17" Type="http://schemas.openxmlformats.org/officeDocument/2006/relationships/tags" Target="../tags/tag301.xml"/><Relationship Id="rId25" Type="http://schemas.openxmlformats.org/officeDocument/2006/relationships/image" Target="../media/image10.emf"/><Relationship Id="rId2" Type="http://schemas.openxmlformats.org/officeDocument/2006/relationships/tags" Target="../tags/tag286.xml"/><Relationship Id="rId16" Type="http://schemas.openxmlformats.org/officeDocument/2006/relationships/tags" Target="../tags/tag300.xml"/><Relationship Id="rId20" Type="http://schemas.openxmlformats.org/officeDocument/2006/relationships/tags" Target="../tags/tag304.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tags" Target="../tags/tag295.xml"/><Relationship Id="rId24" Type="http://schemas.openxmlformats.org/officeDocument/2006/relationships/oleObject" Target="../embeddings/oleObject29.bin"/><Relationship Id="rId5" Type="http://schemas.openxmlformats.org/officeDocument/2006/relationships/tags" Target="../tags/tag289.xml"/><Relationship Id="rId15" Type="http://schemas.openxmlformats.org/officeDocument/2006/relationships/tags" Target="../tags/tag299.xml"/><Relationship Id="rId23" Type="http://schemas.openxmlformats.org/officeDocument/2006/relationships/slideLayout" Target="../slideLayouts/slideLayout2.xml"/><Relationship Id="rId10" Type="http://schemas.openxmlformats.org/officeDocument/2006/relationships/tags" Target="../tags/tag294.xml"/><Relationship Id="rId19" Type="http://schemas.openxmlformats.org/officeDocument/2006/relationships/tags" Target="../tags/tag303.xml"/><Relationship Id="rId4" Type="http://schemas.openxmlformats.org/officeDocument/2006/relationships/tags" Target="../tags/tag288.xml"/><Relationship Id="rId9" Type="http://schemas.openxmlformats.org/officeDocument/2006/relationships/tags" Target="../tags/tag293.xml"/><Relationship Id="rId14" Type="http://schemas.openxmlformats.org/officeDocument/2006/relationships/tags" Target="../tags/tag298.xml"/><Relationship Id="rId22" Type="http://schemas.openxmlformats.org/officeDocument/2006/relationships/tags" Target="../tags/tag306.xml"/><Relationship Id="rId27"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oleObject" Target="../embeddings/oleObject30.bin"/><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slideLayout" Target="../slideLayouts/slideLayout11.xml"/><Relationship Id="rId2" Type="http://schemas.openxmlformats.org/officeDocument/2006/relationships/tags" Target="../tags/tag308.xml"/><Relationship Id="rId16" Type="http://schemas.openxmlformats.org/officeDocument/2006/relationships/tags" Target="../tags/tag322.xml"/><Relationship Id="rId20" Type="http://schemas.openxmlformats.org/officeDocument/2006/relationships/image" Target="../media/image16.svg"/><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5" Type="http://schemas.openxmlformats.org/officeDocument/2006/relationships/tags" Target="../tags/tag311.xml"/><Relationship Id="rId15" Type="http://schemas.openxmlformats.org/officeDocument/2006/relationships/tags" Target="../tags/tag321.xml"/><Relationship Id="rId10" Type="http://schemas.openxmlformats.org/officeDocument/2006/relationships/tags" Target="../tags/tag316.xml"/><Relationship Id="rId19" Type="http://schemas.openxmlformats.org/officeDocument/2006/relationships/image" Target="../media/image11.emf"/><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325.xml"/><Relationship Id="rId7" Type="http://schemas.openxmlformats.org/officeDocument/2006/relationships/oleObject" Target="../embeddings/oleObject31.bin"/><Relationship Id="rId2" Type="http://schemas.openxmlformats.org/officeDocument/2006/relationships/tags" Target="../tags/tag324.xml"/><Relationship Id="rId1" Type="http://schemas.openxmlformats.org/officeDocument/2006/relationships/tags" Target="../tags/tag323.xml"/><Relationship Id="rId6" Type="http://schemas.openxmlformats.org/officeDocument/2006/relationships/slideLayout" Target="../slideLayouts/slideLayout2.xml"/><Relationship Id="rId5" Type="http://schemas.openxmlformats.org/officeDocument/2006/relationships/tags" Target="../tags/tag327.xml"/><Relationship Id="rId10" Type="http://schemas.openxmlformats.org/officeDocument/2006/relationships/hyperlink" Target="mailto:alfonso_pulido@mckinsey.com" TargetMode="External"/><Relationship Id="rId4" Type="http://schemas.openxmlformats.org/officeDocument/2006/relationships/tags" Target="../tags/tag326.xml"/><Relationship Id="rId9"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9.xml"/><Relationship Id="rId1" Type="http://schemas.openxmlformats.org/officeDocument/2006/relationships/tags" Target="../tags/tag328.xml"/><Relationship Id="rId5" Type="http://schemas.openxmlformats.org/officeDocument/2006/relationships/image" Target="../media/image11.emf"/><Relationship Id="rId4" Type="http://schemas.openxmlformats.org/officeDocument/2006/relationships/oleObject" Target="../embeddings/oleObject32.bin"/></Relationships>
</file>

<file path=ppt/slides/_rels/slide9.xml.rels><?xml version="1.0" encoding="UTF-8" standalone="yes"?>
<Relationships xmlns="http://schemas.openxmlformats.org/package/2006/relationships"><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image" Target="../media/image11.emf"/><Relationship Id="rId5" Type="http://schemas.openxmlformats.org/officeDocument/2006/relationships/oleObject" Target="../embeddings/oleObject33.bin"/><Relationship Id="rId4"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20.svg"/><Relationship Id="rId3" Type="http://schemas.openxmlformats.org/officeDocument/2006/relationships/tags" Target="../tags/tag335.xml"/><Relationship Id="rId7" Type="http://schemas.openxmlformats.org/officeDocument/2006/relationships/tags" Target="../tags/tag339.xml"/><Relationship Id="rId12" Type="http://schemas.openxmlformats.org/officeDocument/2006/relationships/image" Target="../media/image19.svg"/><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tags" Target="../tags/tag338.xml"/><Relationship Id="rId11" Type="http://schemas.openxmlformats.org/officeDocument/2006/relationships/image" Target="../media/image18.svg"/><Relationship Id="rId5" Type="http://schemas.openxmlformats.org/officeDocument/2006/relationships/tags" Target="../tags/tag337.xml"/><Relationship Id="rId10" Type="http://schemas.openxmlformats.org/officeDocument/2006/relationships/image" Target="../media/image10.emf"/><Relationship Id="rId4" Type="http://schemas.openxmlformats.org/officeDocument/2006/relationships/tags" Target="../tags/tag336.xml"/><Relationship Id="rId9" Type="http://schemas.openxmlformats.org/officeDocument/2006/relationships/oleObject" Target="../embeddings/oleObject34.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2.png"/><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image" Target="../media/image21.png"/><Relationship Id="rId5" Type="http://schemas.openxmlformats.org/officeDocument/2006/relationships/image" Target="../media/image11.emf"/><Relationship Id="rId4" Type="http://schemas.openxmlformats.org/officeDocument/2006/relationships/oleObject" Target="../embeddings/oleObject3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1"/>
            </p:custDataLst>
            <p:extLst>
              <p:ext uri="{D42A27DB-BD31-4B8C-83A1-F6EECF244321}">
                <p14:modId xmlns:p14="http://schemas.microsoft.com/office/powerpoint/2010/main" val="6331734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72" imgH="588" progId="TCLayout.ActiveDocument.1">
                  <p:embed/>
                </p:oleObj>
              </mc:Choice>
              <mc:Fallback>
                <p:oleObj name="think-cell Slide" r:id="rId6" imgW="572" imgH="588" progId="TCLayout.ActiveDocument.1">
                  <p:embed/>
                  <p:pic>
                    <p:nvPicPr>
                      <p:cNvPr id="3" name="Object 8" hidden="1">
                        <a:extLst>
                          <a:ext uri="{FF2B5EF4-FFF2-40B4-BE49-F238E27FC236}">
                            <a16:creationId xmlns:a16="http://schemas.microsoft.com/office/drawing/2014/main" id="{DFC82A3A-0A2D-4C91-9164-E53833C359F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108DE052-9238-470A-B7A3-D8EB461E3CEB}"/>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4400" b="1" err="1">
              <a:solidFill>
                <a:schemeClr val="bg1"/>
              </a:solidFill>
              <a:latin typeface="Georgia" panose="02040502050405020303" pitchFamily="18" charset="0"/>
              <a:ea typeface="+mj-ea"/>
              <a:cs typeface="+mj-cs"/>
              <a:sym typeface="Georgia" panose="02040502050405020303" pitchFamily="18" charset="0"/>
            </a:endParaRPr>
          </a:p>
        </p:txBody>
      </p:sp>
      <p:sp>
        <p:nvSpPr>
          <p:cNvPr id="14" name="Text Placeholder 13">
            <a:extLst>
              <a:ext uri="{FF2B5EF4-FFF2-40B4-BE49-F238E27FC236}">
                <a16:creationId xmlns:a16="http://schemas.microsoft.com/office/drawing/2014/main" id="{7835DA42-CBF3-4299-9CD7-2662B8C52E8E}"/>
              </a:ext>
            </a:extLst>
          </p:cNvPr>
          <p:cNvSpPr>
            <a:spLocks noGrp="1"/>
          </p:cNvSpPr>
          <p:nvPr>
            <p:ph type="body" sz="quarter" idx="13"/>
          </p:nvPr>
        </p:nvSpPr>
        <p:spPr/>
        <p:txBody>
          <a:bodyPr/>
          <a:lstStyle/>
          <a:p>
            <a:r>
              <a:rPr lang="en-US"/>
              <a:t>June 3, 2026</a:t>
            </a:r>
          </a:p>
        </p:txBody>
      </p:sp>
      <p:sp>
        <p:nvSpPr>
          <p:cNvPr id="13" name="Subtitle 12">
            <a:extLst>
              <a:ext uri="{FF2B5EF4-FFF2-40B4-BE49-F238E27FC236}">
                <a16:creationId xmlns:a16="http://schemas.microsoft.com/office/drawing/2014/main" id="{507EE703-C870-469C-8AF6-3299EC835F50}"/>
              </a:ext>
            </a:extLst>
          </p:cNvPr>
          <p:cNvSpPr>
            <a:spLocks noGrp="1"/>
          </p:cNvSpPr>
          <p:nvPr>
            <p:ph type="subTitle" idx="1"/>
          </p:nvPr>
        </p:nvSpPr>
        <p:spPr/>
        <p:txBody>
          <a:bodyPr/>
          <a:lstStyle/>
          <a:p>
            <a:r>
              <a:rPr lang="en-US"/>
              <a:t>Blue Currency &amp; Client funding request</a:t>
            </a:r>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3"/>
            </p:custDataLst>
          </p:nvPr>
        </p:nvSpPr>
        <p:spPr/>
        <p:txBody>
          <a:bodyPr vert="horz"/>
          <a:lstStyle/>
          <a:p>
            <a:r>
              <a:rPr lang="en-US"/>
              <a:t>Accelerating value creation through AI</a:t>
            </a:r>
          </a:p>
        </p:txBody>
      </p:sp>
    </p:spTree>
    <p:extLst>
      <p:ext uri="{BB962C8B-B14F-4D97-AF65-F5344CB8AC3E}">
        <p14:creationId xmlns:p14="http://schemas.microsoft.com/office/powerpoint/2010/main" val="3095890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BB3E1CF-9619-53F5-7009-81CD95DA792A}"/>
              </a:ext>
            </a:extLst>
          </p:cNvPr>
          <p:cNvGraphicFramePr>
            <a:graphicFrameLocks noChangeAspect="1"/>
          </p:cNvGraphicFramePr>
          <p:nvPr>
            <p:custDataLst>
              <p:tags r:id="rId1"/>
            </p:custDataLst>
            <p:extLst>
              <p:ext uri="{D42A27DB-BD31-4B8C-83A1-F6EECF244321}">
                <p14:modId xmlns:p14="http://schemas.microsoft.com/office/powerpoint/2010/main" val="24686105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8" name="think-cell data - do not delete" hidden="1">
                        <a:extLst>
                          <a:ext uri="{FF2B5EF4-FFF2-40B4-BE49-F238E27FC236}">
                            <a16:creationId xmlns:a16="http://schemas.microsoft.com/office/drawing/2014/main" id="{7BB3E1CF-9619-53F5-7009-81CD95DA792A}"/>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62A20BC3-DCB4-F769-C75C-D852810BE0B5}"/>
              </a:ext>
            </a:extLst>
          </p:cNvPr>
          <p:cNvSpPr>
            <a:spLocks noGrp="1"/>
          </p:cNvSpPr>
          <p:nvPr>
            <p:ph type="title"/>
          </p:nvPr>
        </p:nvSpPr>
        <p:spPr>
          <a:xfrm>
            <a:off x="595644" y="100988"/>
            <a:ext cx="6967728" cy="731520"/>
          </a:xfrm>
        </p:spPr>
        <p:txBody>
          <a:bodyPr vert="horz"/>
          <a:lstStyle/>
          <a:p>
            <a:r>
              <a:rPr lang="en-US"/>
              <a:t>Context &amp; Objectives</a:t>
            </a:r>
          </a:p>
        </p:txBody>
      </p:sp>
      <p:sp>
        <p:nvSpPr>
          <p:cNvPr id="10" name="ACET">
            <a:extLst>
              <a:ext uri="{FF2B5EF4-FFF2-40B4-BE49-F238E27FC236}">
                <a16:creationId xmlns:a16="http://schemas.microsoft.com/office/drawing/2014/main" id="{44C2D9A7-E3CF-F947-6910-5B9A793E32F7}"/>
              </a:ext>
            </a:extLst>
          </p:cNvPr>
          <p:cNvSpPr txBox="1"/>
          <p:nvPr>
            <p:custDataLst>
              <p:tags r:id="rId2"/>
            </p:custDataLst>
          </p:nvPr>
        </p:nvSpPr>
        <p:spPr>
          <a:xfrm>
            <a:off x="595645" y="1184007"/>
            <a:ext cx="3049253"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600"/>
              </a:spcAft>
            </a:pPr>
            <a:r>
              <a:rPr lang="en-US" b="1"/>
              <a:t>Context</a:t>
            </a:r>
            <a:endParaRPr lang="en-US" sz="1400"/>
          </a:p>
        </p:txBody>
      </p:sp>
      <p:sp>
        <p:nvSpPr>
          <p:cNvPr id="11" name="ACET">
            <a:extLst>
              <a:ext uri="{FF2B5EF4-FFF2-40B4-BE49-F238E27FC236}">
                <a16:creationId xmlns:a16="http://schemas.microsoft.com/office/drawing/2014/main" id="{EB7028F0-5A85-D616-EA19-40A5EA092130}"/>
              </a:ext>
            </a:extLst>
          </p:cNvPr>
          <p:cNvSpPr txBox="1"/>
          <p:nvPr>
            <p:custDataLst>
              <p:tags r:id="rId3"/>
            </p:custDataLst>
          </p:nvPr>
        </p:nvSpPr>
        <p:spPr>
          <a:xfrm>
            <a:off x="8211231" y="1184007"/>
            <a:ext cx="3049253"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600"/>
              </a:spcAft>
            </a:pPr>
            <a:r>
              <a:rPr lang="en-US" b="1"/>
              <a:t>Objectives of this document</a:t>
            </a:r>
            <a:endParaRPr lang="en-US" sz="1400"/>
          </a:p>
        </p:txBody>
      </p:sp>
      <p:sp>
        <p:nvSpPr>
          <p:cNvPr id="12" name="TrackerNumBlue 12">
            <a:extLst>
              <a:ext uri="{FF2B5EF4-FFF2-40B4-BE49-F238E27FC236}">
                <a16:creationId xmlns:a16="http://schemas.microsoft.com/office/drawing/2014/main" id="{233FCEC0-7A03-544E-21FF-DA7B126DB727}"/>
              </a:ext>
            </a:extLst>
          </p:cNvPr>
          <p:cNvSpPr/>
          <p:nvPr>
            <p:custDataLst>
              <p:tags r:id="rId4"/>
            </p:custDataLst>
          </p:nvPr>
        </p:nvSpPr>
        <p:spPr>
          <a:xfrm>
            <a:off x="8170323" y="1867622"/>
            <a:ext cx="279340" cy="27934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1</a:t>
            </a:r>
            <a:endParaRPr lang="en-US" sz="1400" err="1">
              <a:solidFill>
                <a:schemeClr val="bg1"/>
              </a:solidFill>
            </a:endParaRPr>
          </a:p>
        </p:txBody>
      </p:sp>
      <p:sp>
        <p:nvSpPr>
          <p:cNvPr id="15" name="TrackerNumBlue 12">
            <a:extLst>
              <a:ext uri="{FF2B5EF4-FFF2-40B4-BE49-F238E27FC236}">
                <a16:creationId xmlns:a16="http://schemas.microsoft.com/office/drawing/2014/main" id="{A9315CFA-51A4-A0D6-5268-890F5639DC26}"/>
              </a:ext>
            </a:extLst>
          </p:cNvPr>
          <p:cNvSpPr/>
          <p:nvPr>
            <p:custDataLst>
              <p:tags r:id="rId5"/>
            </p:custDataLst>
          </p:nvPr>
        </p:nvSpPr>
        <p:spPr>
          <a:xfrm>
            <a:off x="8170323" y="4456945"/>
            <a:ext cx="279340" cy="27934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3</a:t>
            </a:r>
          </a:p>
        </p:txBody>
      </p:sp>
      <p:sp>
        <p:nvSpPr>
          <p:cNvPr id="16" name="TextBox 15">
            <a:extLst>
              <a:ext uri="{FF2B5EF4-FFF2-40B4-BE49-F238E27FC236}">
                <a16:creationId xmlns:a16="http://schemas.microsoft.com/office/drawing/2014/main" id="{CB44E9AC-61A6-0965-8131-7BF7C56373E5}"/>
              </a:ext>
            </a:extLst>
          </p:cNvPr>
          <p:cNvSpPr txBox="1"/>
          <p:nvPr/>
        </p:nvSpPr>
        <p:spPr>
          <a:xfrm>
            <a:off x="8744856" y="1871571"/>
            <a:ext cx="287756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Delineating </a:t>
            </a:r>
            <a:r>
              <a:rPr lang="en-US" b="1"/>
              <a:t>our plan to productize the approach and why this is important</a:t>
            </a:r>
          </a:p>
        </p:txBody>
      </p:sp>
      <p:sp>
        <p:nvSpPr>
          <p:cNvPr id="18" name="TrackerNumBlue 12">
            <a:extLst>
              <a:ext uri="{FF2B5EF4-FFF2-40B4-BE49-F238E27FC236}">
                <a16:creationId xmlns:a16="http://schemas.microsoft.com/office/drawing/2014/main" id="{38A7E879-1238-BF1C-7BD4-9ADE6861CD0B}"/>
              </a:ext>
            </a:extLst>
          </p:cNvPr>
          <p:cNvSpPr/>
          <p:nvPr>
            <p:custDataLst>
              <p:tags r:id="rId6"/>
            </p:custDataLst>
          </p:nvPr>
        </p:nvSpPr>
        <p:spPr>
          <a:xfrm>
            <a:off x="8170323" y="3047629"/>
            <a:ext cx="279340" cy="27934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2</a:t>
            </a:r>
          </a:p>
        </p:txBody>
      </p:sp>
      <p:sp>
        <p:nvSpPr>
          <p:cNvPr id="19" name="TextBox 18">
            <a:extLst>
              <a:ext uri="{FF2B5EF4-FFF2-40B4-BE49-F238E27FC236}">
                <a16:creationId xmlns:a16="http://schemas.microsoft.com/office/drawing/2014/main" id="{04FA1890-7B84-32D0-79F1-2E8AE6C787DA}"/>
              </a:ext>
            </a:extLst>
          </p:cNvPr>
          <p:cNvSpPr txBox="1"/>
          <p:nvPr/>
        </p:nvSpPr>
        <p:spPr>
          <a:xfrm>
            <a:off x="8744856" y="3047629"/>
            <a:ext cx="3049253" cy="98488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Summarizing our approach and deliverables </a:t>
            </a:r>
            <a:r>
              <a:rPr lang="en-US"/>
              <a:t>– how we are going to re-define how we run the engagement</a:t>
            </a:r>
          </a:p>
        </p:txBody>
      </p:sp>
      <p:sp>
        <p:nvSpPr>
          <p:cNvPr id="20" name="TextBox 19">
            <a:extLst>
              <a:ext uri="{FF2B5EF4-FFF2-40B4-BE49-F238E27FC236}">
                <a16:creationId xmlns:a16="http://schemas.microsoft.com/office/drawing/2014/main" id="{00D12DA7-EE14-1FC3-CADC-F1065003D6B1}"/>
              </a:ext>
            </a:extLst>
          </p:cNvPr>
          <p:cNvSpPr txBox="1"/>
          <p:nvPr/>
        </p:nvSpPr>
        <p:spPr>
          <a:xfrm>
            <a:off x="8744856" y="4456945"/>
            <a:ext cx="2877568" cy="81560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Confirming </a:t>
            </a:r>
            <a:r>
              <a:rPr lang="en-US" b="1"/>
              <a:t>what we need to get started</a:t>
            </a:r>
          </a:p>
          <a:p>
            <a:endParaRPr lang="en-US"/>
          </a:p>
        </p:txBody>
      </p:sp>
      <p:sp>
        <p:nvSpPr>
          <p:cNvPr id="31" name="TextBox 30">
            <a:extLst>
              <a:ext uri="{FF2B5EF4-FFF2-40B4-BE49-F238E27FC236}">
                <a16:creationId xmlns:a16="http://schemas.microsoft.com/office/drawing/2014/main" id="{3808A83B-F533-5DE4-3DD1-1E0C4D965344}"/>
              </a:ext>
            </a:extLst>
          </p:cNvPr>
          <p:cNvSpPr txBox="1"/>
          <p:nvPr/>
        </p:nvSpPr>
        <p:spPr>
          <a:xfrm>
            <a:off x="595644" y="1709665"/>
            <a:ext cx="6967728" cy="43396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We </a:t>
            </a:r>
            <a:r>
              <a:rPr lang="en-US" b="1"/>
              <a:t>recently completed a 7-week diagnostic &amp; design effort</a:t>
            </a:r>
            <a:r>
              <a:rPr lang="en-US" b="1" baseline="30000"/>
              <a:t>1</a:t>
            </a:r>
            <a:r>
              <a:rPr lang="en-US" b="1"/>
              <a:t> at Varsity Brands (KKR’s portco) </a:t>
            </a:r>
            <a:r>
              <a:rPr lang="en-US"/>
              <a:t>focused on </a:t>
            </a:r>
            <a:r>
              <a:rPr lang="en-US" b="1"/>
              <a:t>redesigning and automating core sales support workflows </a:t>
            </a:r>
            <a:r>
              <a:rPr lang="en-US"/>
              <a:t>(e.g., order intake &amp; tracking). The effort mapped E2E processes, identified pain points, prioritized critical workflows, defined improvement initiatives, and detailed the requirements for agent-based solutions to streamline / automate work.</a:t>
            </a:r>
          </a:p>
          <a:p>
            <a:pPr>
              <a:buNone/>
            </a:pPr>
            <a:r>
              <a:rPr lang="en-US"/>
              <a:t>Our assessment surfaced material </a:t>
            </a:r>
            <a:r>
              <a:rPr lang="en-US" b="1"/>
              <a:t>opportunity to “</a:t>
            </a:r>
            <a:r>
              <a:rPr lang="en-US" b="1" err="1"/>
              <a:t>agentify</a:t>
            </a:r>
            <a:r>
              <a:rPr lang="en-US" b="1"/>
              <a:t>” these types of processes, with ~60%+ productivity upside at scale</a:t>
            </a:r>
            <a:r>
              <a:rPr lang="en-US"/>
              <a:t>. However, </a:t>
            </a:r>
            <a:r>
              <a:rPr lang="en-US" b="1"/>
              <a:t>our current / typical op model </a:t>
            </a:r>
            <a:r>
              <a:rPr lang="en-US"/>
              <a:t>to run diagnostic  and design work is </a:t>
            </a:r>
            <a:r>
              <a:rPr lang="en-US" b="1"/>
              <a:t>highly manual and time/resource-intensive, making it difficult to scale</a:t>
            </a:r>
            <a:r>
              <a:rPr lang="en-US"/>
              <a:t>. We believe </a:t>
            </a:r>
            <a:r>
              <a:rPr lang="en-US" b="1"/>
              <a:t>we can use AI to compress and productize our approach into a faster, repeatable 3-week sprint – we would love to test this out with another KKR portco </a:t>
            </a:r>
            <a:r>
              <a:rPr lang="en-US"/>
              <a:t>before scaling more broadly.</a:t>
            </a:r>
          </a:p>
          <a:p>
            <a:r>
              <a:rPr lang="en-US"/>
              <a:t>If successful, this effort creates a </a:t>
            </a:r>
            <a:r>
              <a:rPr lang="en-US" b="1"/>
              <a:t>repeatable, lower-cost way to identify and capture agentic opportunities in PE, </a:t>
            </a:r>
            <a:r>
              <a:rPr lang="en-US"/>
              <a:t>positioning us to secure KKR commitment to expand to their additional </a:t>
            </a:r>
            <a:r>
              <a:rPr lang="en-US" err="1"/>
              <a:t>portcos</a:t>
            </a:r>
            <a:r>
              <a:rPr lang="en-US"/>
              <a:t> (and ultimately, scale this beyond KKR to other PE firms). </a:t>
            </a:r>
          </a:p>
        </p:txBody>
      </p:sp>
      <p:sp>
        <p:nvSpPr>
          <p:cNvPr id="2" name="4. Footnote">
            <a:extLst>
              <a:ext uri="{FF2B5EF4-FFF2-40B4-BE49-F238E27FC236}">
                <a16:creationId xmlns:a16="http://schemas.microsoft.com/office/drawing/2014/main" id="{1B31FE41-4B79-D1B7-B3E9-4C9FC4B8CF7A}"/>
              </a:ext>
            </a:extLst>
          </p:cNvPr>
          <p:cNvSpPr txBox="1"/>
          <p:nvPr>
            <p:custDataLst>
              <p:tags r:id="rId7"/>
            </p:custDataLst>
          </p:nvPr>
        </p:nvSpPr>
        <p:spPr>
          <a:xfrm>
            <a:off x="595644" y="6513417"/>
            <a:ext cx="7278624"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1.	Plus 4 weeks of invested pre-work ahead of Kick-off</a:t>
            </a:r>
          </a:p>
        </p:txBody>
      </p:sp>
    </p:spTree>
    <p:extLst>
      <p:ext uri="{BB962C8B-B14F-4D97-AF65-F5344CB8AC3E}">
        <p14:creationId xmlns:p14="http://schemas.microsoft.com/office/powerpoint/2010/main" val="2428774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17632C-4F03-4FE8-BAE2-961F485EB3E3}"/>
              </a:ext>
            </a:extLst>
          </p:cNvPr>
          <p:cNvGraphicFramePr>
            <a:graphicFrameLocks noChangeAspect="1"/>
          </p:cNvGraphicFramePr>
          <p:nvPr>
            <p:custDataLst>
              <p:tags r:id="rId1"/>
            </p:custDataLst>
            <p:extLst>
              <p:ext uri="{D42A27DB-BD31-4B8C-83A1-F6EECF244321}">
                <p14:modId xmlns:p14="http://schemas.microsoft.com/office/powerpoint/2010/main" val="199496710"/>
              </p:ext>
            </p:extLst>
          </p:nvPr>
        </p:nvGraphicFramePr>
        <p:xfrm>
          <a:off x="1678" y="1639"/>
          <a:ext cx="1588" cy="1588"/>
        </p:xfrm>
        <a:graphic>
          <a:graphicData uri="http://schemas.openxmlformats.org/presentationml/2006/ole">
            <mc:AlternateContent xmlns:mc="http://schemas.openxmlformats.org/markup-compatibility/2006">
              <mc:Choice xmlns:v="urn:schemas-microsoft-com:vml" Requires="v">
                <p:oleObj name="think-cell Slide" r:id="rId9" imgW="526" imgH="526" progId="TCLayout.ActiveDocument.1">
                  <p:embed/>
                </p:oleObj>
              </mc:Choice>
              <mc:Fallback>
                <p:oleObj name="think-cell Slide" r:id="rId9" imgW="526" imgH="526" progId="TCLayout.ActiveDocument.1">
                  <p:embed/>
                  <p:pic>
                    <p:nvPicPr>
                      <p:cNvPr id="3" name="Object 2" hidden="1">
                        <a:extLst>
                          <a:ext uri="{FF2B5EF4-FFF2-40B4-BE49-F238E27FC236}">
                            <a16:creationId xmlns:a16="http://schemas.microsoft.com/office/drawing/2014/main" id="{D817632C-4F03-4FE8-BAE2-961F485EB3E3}"/>
                          </a:ext>
                        </a:extLst>
                      </p:cNvPr>
                      <p:cNvPicPr/>
                      <p:nvPr/>
                    </p:nvPicPr>
                    <p:blipFill>
                      <a:blip r:embed="rId10"/>
                      <a:stretch>
                        <a:fillRect/>
                      </a:stretch>
                    </p:blipFill>
                    <p:spPr>
                      <a:xfrm>
                        <a:off x="1678" y="1639"/>
                        <a:ext cx="1588" cy="1588"/>
                      </a:xfrm>
                      <a:prstGeom prst="rect">
                        <a:avLst/>
                      </a:prstGeom>
                    </p:spPr>
                  </p:pic>
                </p:oleObj>
              </mc:Fallback>
            </mc:AlternateContent>
          </a:graphicData>
        </a:graphic>
      </p:graphicFrame>
      <p:sp>
        <p:nvSpPr>
          <p:cNvPr id="89" name="Rectangle 88">
            <a:extLst>
              <a:ext uri="{FF2B5EF4-FFF2-40B4-BE49-F238E27FC236}">
                <a16:creationId xmlns:a16="http://schemas.microsoft.com/office/drawing/2014/main" id="{27CB1666-9952-00F3-1690-77168A1B849A}"/>
              </a:ext>
            </a:extLst>
          </p:cNvPr>
          <p:cNvSpPr/>
          <p:nvPr/>
        </p:nvSpPr>
        <p:spPr>
          <a:xfrm>
            <a:off x="1810536" y="2128611"/>
            <a:ext cx="3387650" cy="3540850"/>
          </a:xfrm>
          <a:prstGeom prst="rect">
            <a:avLst/>
          </a:prstGeom>
          <a:solidFill>
            <a:schemeClr val="accent6">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CA" sz="1600" err="1">
              <a:solidFill>
                <a:schemeClr val="bg1"/>
              </a:solidFill>
            </a:endParaRPr>
          </a:p>
        </p:txBody>
      </p:sp>
      <p:sp>
        <p:nvSpPr>
          <p:cNvPr id="4" name="Rectangle 3" hidden="1">
            <a:extLst>
              <a:ext uri="{FF2B5EF4-FFF2-40B4-BE49-F238E27FC236}">
                <a16:creationId xmlns:a16="http://schemas.microsoft.com/office/drawing/2014/main" id="{32D918B0-0B4C-454D-AD67-9777563BA291}"/>
              </a:ext>
            </a:extLst>
          </p:cNvPr>
          <p:cNvSpPr/>
          <p:nvPr>
            <p:custDataLst>
              <p:tags r:id="rId2"/>
            </p:custDataLst>
          </p:nvPr>
        </p:nvSpPr>
        <p:spPr>
          <a:xfrm>
            <a:off x="91" y="51"/>
            <a:ext cx="158747" cy="15874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41"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A7213E51-A1AC-4E8B-9800-A39AEE3C8735}"/>
              </a:ext>
            </a:extLst>
          </p:cNvPr>
          <p:cNvSpPr>
            <a:spLocks noGrp="1"/>
          </p:cNvSpPr>
          <p:nvPr>
            <p:ph type="title"/>
          </p:nvPr>
        </p:nvSpPr>
        <p:spPr bwMode="auto">
          <a:xfrm>
            <a:off x="554736" y="198311"/>
            <a:ext cx="8157464" cy="715581"/>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lIns="0" tIns="0" rIns="0" bIns="0" numCol="1" rtlCol="0" anchor="b" anchorCtr="0" compatLnSpc="1">
            <a:prstTxWarp prst="textNoShape">
              <a:avLst/>
            </a:prstTxWarp>
            <a:spAutoFit/>
          </a:bodyPr>
          <a:lstStyle/>
          <a:p>
            <a:r>
              <a:rPr lang="en-US"/>
              <a:t>1. The plan to productize our methodology, replicate with KKR, and scale to other PE funds</a:t>
            </a:r>
          </a:p>
        </p:txBody>
      </p:sp>
      <p:cxnSp>
        <p:nvCxnSpPr>
          <p:cNvPr id="37" name="Straight Connector 36">
            <a:extLst>
              <a:ext uri="{FF2B5EF4-FFF2-40B4-BE49-F238E27FC236}">
                <a16:creationId xmlns:a16="http://schemas.microsoft.com/office/drawing/2014/main" id="{75510890-36F8-481E-B38D-6D542E49E7D2}"/>
              </a:ext>
            </a:extLst>
          </p:cNvPr>
          <p:cNvCxnSpPr>
            <a:cxnSpLocks/>
          </p:cNvCxnSpPr>
          <p:nvPr/>
        </p:nvCxnSpPr>
        <p:spPr>
          <a:xfrm flipH="1">
            <a:off x="554737" y="3995518"/>
            <a:ext cx="7918704"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372938E6-A77D-442B-A7B8-261FBD4A9D59}"/>
              </a:ext>
            </a:extLst>
          </p:cNvPr>
          <p:cNvSpPr txBox="1">
            <a:spLocks/>
          </p:cNvSpPr>
          <p:nvPr/>
        </p:nvSpPr>
        <p:spPr>
          <a:xfrm>
            <a:off x="554735" y="4038348"/>
            <a:ext cx="917603" cy="215444"/>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CA" sz="1400" b="1">
                <a:solidFill>
                  <a:srgbClr val="000000"/>
                </a:solidFill>
                <a:latin typeface="Arial"/>
              </a:rPr>
              <a:t>Objectives</a:t>
            </a:r>
            <a:endParaRPr kumimoji="0" lang="en-CA" sz="14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8" name="TextBox 87">
            <a:extLst>
              <a:ext uri="{FF2B5EF4-FFF2-40B4-BE49-F238E27FC236}">
                <a16:creationId xmlns:a16="http://schemas.microsoft.com/office/drawing/2014/main" id="{B47B802B-3A07-44AE-A7D5-EAD5FE0D002D}"/>
              </a:ext>
            </a:extLst>
          </p:cNvPr>
          <p:cNvSpPr txBox="1">
            <a:spLocks/>
          </p:cNvSpPr>
          <p:nvPr/>
        </p:nvSpPr>
        <p:spPr>
          <a:xfrm>
            <a:off x="554736" y="2567027"/>
            <a:ext cx="861310" cy="215444"/>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Timing</a:t>
            </a:r>
          </a:p>
        </p:txBody>
      </p:sp>
      <p:sp>
        <p:nvSpPr>
          <p:cNvPr id="12" name="Rectangle 11">
            <a:extLst>
              <a:ext uri="{FF2B5EF4-FFF2-40B4-BE49-F238E27FC236}">
                <a16:creationId xmlns:a16="http://schemas.microsoft.com/office/drawing/2014/main" id="{81FFFA05-2C4D-45D2-82E2-9437CC1E77D6}"/>
              </a:ext>
            </a:extLst>
          </p:cNvPr>
          <p:cNvSpPr>
            <a:spLocks/>
          </p:cNvSpPr>
          <p:nvPr/>
        </p:nvSpPr>
        <p:spPr>
          <a:xfrm>
            <a:off x="4618501" y="1784593"/>
            <a:ext cx="3854940" cy="29945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
                <a:srgbClr val="FFFFFF"/>
              </a:buClr>
              <a:buSzTx/>
              <a:buFontTx/>
              <a:buNone/>
              <a:tabLst/>
              <a:defRPr/>
            </a:pPr>
            <a:r>
              <a:rPr lang="en-US" sz="1400" b="1">
                <a:solidFill>
                  <a:srgbClr val="FFFFFF"/>
                </a:solidFill>
                <a:latin typeface="Arial"/>
              </a:rPr>
              <a:t>Deployment with PE funds </a:t>
            </a:r>
            <a:r>
              <a:rPr lang="en-US" sz="1400">
                <a:solidFill>
                  <a:srgbClr val="FFFFFF"/>
                </a:solidFill>
                <a:latin typeface="Arial"/>
              </a:rPr>
              <a:t>(e.g., KKR)</a:t>
            </a:r>
            <a:endParaRPr kumimoji="0" lang="en-US" sz="1400" i="0" u="none" strike="noStrike" kern="1200" cap="none" spc="0" normalizeH="0" baseline="0" noProof="0">
              <a:ln>
                <a:noFill/>
              </a:ln>
              <a:solidFill>
                <a:srgbClr val="FFFFFF"/>
              </a:solidFill>
              <a:effectLst/>
              <a:uLnTx/>
              <a:uFillTx/>
              <a:latin typeface="Arial"/>
              <a:ea typeface="+mn-ea"/>
              <a:cs typeface="+mn-cs"/>
            </a:endParaRPr>
          </a:p>
        </p:txBody>
      </p:sp>
      <p:sp>
        <p:nvSpPr>
          <p:cNvPr id="76" name="TextBox 75">
            <a:extLst>
              <a:ext uri="{FF2B5EF4-FFF2-40B4-BE49-F238E27FC236}">
                <a16:creationId xmlns:a16="http://schemas.microsoft.com/office/drawing/2014/main" id="{A347C500-E854-430F-9A2A-7A31C118DCA7}"/>
              </a:ext>
            </a:extLst>
          </p:cNvPr>
          <p:cNvSpPr txBox="1">
            <a:spLocks/>
          </p:cNvSpPr>
          <p:nvPr/>
        </p:nvSpPr>
        <p:spPr>
          <a:xfrm>
            <a:off x="1982854" y="4081180"/>
            <a:ext cx="3187089" cy="15927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Building agentic capabilities and tooling needed</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CA"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Demonstrate feasibility of achieving results comparable to traditional methodology</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US" sz="1200">
                <a:solidFill>
                  <a:srgbClr val="000000"/>
                </a:solidFill>
                <a:latin typeface="Arial"/>
              </a:rPr>
              <a:t>Adjust way of working to include Cursor-embedded workflows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US" sz="1200">
                <a:solidFill>
                  <a:srgbClr val="000000"/>
                </a:solidFill>
                <a:latin typeface="Arial"/>
              </a:rPr>
              <a:t>Synthesize AI-driven value creation approach into a scalable product / playbook </a:t>
            </a:r>
          </a:p>
        </p:txBody>
      </p:sp>
      <p:sp>
        <p:nvSpPr>
          <p:cNvPr id="66" name="TextBox 65">
            <a:extLst>
              <a:ext uri="{FF2B5EF4-FFF2-40B4-BE49-F238E27FC236}">
                <a16:creationId xmlns:a16="http://schemas.microsoft.com/office/drawing/2014/main" id="{AD7B67CD-97EC-448C-BE66-B1118133CACD}"/>
              </a:ext>
            </a:extLst>
          </p:cNvPr>
          <p:cNvSpPr txBox="1">
            <a:spLocks/>
          </p:cNvSpPr>
          <p:nvPr/>
        </p:nvSpPr>
        <p:spPr>
          <a:xfrm>
            <a:off x="5326048" y="2569718"/>
            <a:ext cx="2849361"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None/>
              <a:tabLst/>
              <a:defRPr/>
            </a:pPr>
            <a:r>
              <a:rPr kumimoji="0" lang="en-CA"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 week </a:t>
            </a:r>
            <a:r>
              <a:rPr kumimoji="0" lang="en-CA" sz="12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Jul 13-31</a:t>
            </a:r>
          </a:p>
        </p:txBody>
      </p:sp>
      <p:sp>
        <p:nvSpPr>
          <p:cNvPr id="70" name="TextBox 69">
            <a:extLst>
              <a:ext uri="{FF2B5EF4-FFF2-40B4-BE49-F238E27FC236}">
                <a16:creationId xmlns:a16="http://schemas.microsoft.com/office/drawing/2014/main" id="{A7A853F0-F5E3-43D4-BED4-F0871463095D}"/>
              </a:ext>
            </a:extLst>
          </p:cNvPr>
          <p:cNvSpPr txBox="1">
            <a:spLocks/>
          </p:cNvSpPr>
          <p:nvPr/>
        </p:nvSpPr>
        <p:spPr>
          <a:xfrm>
            <a:off x="1982854" y="2569718"/>
            <a:ext cx="2849361"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None/>
              <a:tabLst/>
              <a:defRPr/>
            </a:pPr>
            <a:r>
              <a:rPr kumimoji="0" lang="en-CA"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 weeks </a:t>
            </a:r>
            <a:r>
              <a:rPr kumimoji="0" lang="en-CA" sz="12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Jun 8-26</a:t>
            </a:r>
          </a:p>
        </p:txBody>
      </p:sp>
      <p:sp>
        <p:nvSpPr>
          <p:cNvPr id="11" name="Rectangle 10">
            <a:extLst>
              <a:ext uri="{FF2B5EF4-FFF2-40B4-BE49-F238E27FC236}">
                <a16:creationId xmlns:a16="http://schemas.microsoft.com/office/drawing/2014/main" id="{350E1DAF-8B8D-40D9-A1B3-26AF9454FECC}"/>
              </a:ext>
            </a:extLst>
          </p:cNvPr>
          <p:cNvSpPr>
            <a:spLocks/>
          </p:cNvSpPr>
          <p:nvPr/>
        </p:nvSpPr>
        <p:spPr>
          <a:xfrm>
            <a:off x="1946367" y="2154466"/>
            <a:ext cx="3352151" cy="29945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
                <a:srgbClr val="FFFFFF"/>
              </a:buClr>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Internal build </a:t>
            </a:r>
            <a:r>
              <a:rPr kumimoji="0" lang="en-US" sz="1400" i="0" u="none" strike="noStrike" kern="1200" cap="none" spc="0" normalizeH="0" baseline="0" noProof="0">
                <a:ln>
                  <a:noFill/>
                </a:ln>
                <a:solidFill>
                  <a:srgbClr val="FFFFFF"/>
                </a:solidFill>
                <a:effectLst/>
                <a:uLnTx/>
                <a:uFillTx/>
                <a:latin typeface="Arial"/>
                <a:ea typeface="+mn-ea"/>
                <a:cs typeface="+mn-cs"/>
              </a:rPr>
              <a:t>(Blue Currency)</a:t>
            </a:r>
          </a:p>
        </p:txBody>
      </p:sp>
      <p:sp>
        <p:nvSpPr>
          <p:cNvPr id="20" name="Parallelogram 19">
            <a:extLst>
              <a:ext uri="{FF2B5EF4-FFF2-40B4-BE49-F238E27FC236}">
                <a16:creationId xmlns:a16="http://schemas.microsoft.com/office/drawing/2014/main" id="{9D0FA83C-0A07-2176-6B0F-BFE11BBEF971}"/>
              </a:ext>
            </a:extLst>
          </p:cNvPr>
          <p:cNvSpPr/>
          <p:nvPr/>
        </p:nvSpPr>
        <p:spPr>
          <a:xfrm flipH="1">
            <a:off x="4618501" y="2084050"/>
            <a:ext cx="680017" cy="70416"/>
          </a:xfrm>
          <a:prstGeom prst="parallelogram">
            <a:avLst>
              <a:gd name="adj" fmla="val 159592"/>
            </a:avLst>
          </a:prstGeom>
          <a:solidFill>
            <a:srgbClr val="B3B3B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5" name="TrackerNumWhite 15">
            <a:extLst>
              <a:ext uri="{FF2B5EF4-FFF2-40B4-BE49-F238E27FC236}">
                <a16:creationId xmlns:a16="http://schemas.microsoft.com/office/drawing/2014/main" id="{7C7B7D8D-F3AC-30C5-860B-83F90C44453B}"/>
              </a:ext>
            </a:extLst>
          </p:cNvPr>
          <p:cNvSpPr/>
          <p:nvPr>
            <p:custDataLst>
              <p:tags r:id="rId3"/>
            </p:custDataLst>
          </p:nvPr>
        </p:nvSpPr>
        <p:spPr>
          <a:xfrm>
            <a:off x="2111429" y="2190945"/>
            <a:ext cx="210336" cy="21033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CA" sz="1100">
                <a:solidFill>
                  <a:schemeClr val="accent1"/>
                </a:solidFill>
              </a:rPr>
              <a:t>1</a:t>
            </a:r>
            <a:endParaRPr lang="en-CA" sz="1100" err="1">
              <a:solidFill>
                <a:schemeClr val="accent1"/>
              </a:solidFill>
            </a:endParaRPr>
          </a:p>
        </p:txBody>
      </p:sp>
      <p:sp>
        <p:nvSpPr>
          <p:cNvPr id="18" name="TrackerNumWhite 15">
            <a:extLst>
              <a:ext uri="{FF2B5EF4-FFF2-40B4-BE49-F238E27FC236}">
                <a16:creationId xmlns:a16="http://schemas.microsoft.com/office/drawing/2014/main" id="{4BDAF9E9-F200-DB63-1876-04255610AAD3}"/>
              </a:ext>
            </a:extLst>
          </p:cNvPr>
          <p:cNvSpPr/>
          <p:nvPr>
            <p:custDataLst>
              <p:tags r:id="rId4"/>
            </p:custDataLst>
          </p:nvPr>
        </p:nvSpPr>
        <p:spPr>
          <a:xfrm>
            <a:off x="4678432" y="1829153"/>
            <a:ext cx="210336" cy="21033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CA" sz="1100">
                <a:solidFill>
                  <a:schemeClr val="accent1"/>
                </a:solidFill>
              </a:rPr>
              <a:t>2</a:t>
            </a:r>
          </a:p>
        </p:txBody>
      </p:sp>
      <p:cxnSp>
        <p:nvCxnSpPr>
          <p:cNvPr id="26" name="Straight Arrow Connector 25">
            <a:extLst>
              <a:ext uri="{FF2B5EF4-FFF2-40B4-BE49-F238E27FC236}">
                <a16:creationId xmlns:a16="http://schemas.microsoft.com/office/drawing/2014/main" id="{C1556293-6607-531A-DF72-73C3AA5A0EF8}"/>
              </a:ext>
            </a:extLst>
          </p:cNvPr>
          <p:cNvCxnSpPr>
            <a:cxnSpLocks/>
          </p:cNvCxnSpPr>
          <p:nvPr/>
        </p:nvCxnSpPr>
        <p:spPr>
          <a:xfrm flipV="1">
            <a:off x="1982854" y="6157588"/>
            <a:ext cx="6490586" cy="86923"/>
          </a:xfrm>
          <a:prstGeom prst="straightConnector1">
            <a:avLst/>
          </a:prstGeom>
          <a:ln w="190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BigStat 23">
            <a:extLst>
              <a:ext uri="{FF2B5EF4-FFF2-40B4-BE49-F238E27FC236}">
                <a16:creationId xmlns:a16="http://schemas.microsoft.com/office/drawing/2014/main" id="{F73ACE8A-B73F-2B17-873C-4FC2AD928571}"/>
              </a:ext>
            </a:extLst>
          </p:cNvPr>
          <p:cNvSpPr txBox="1"/>
          <p:nvPr>
            <p:custDataLst>
              <p:tags r:id="rId5"/>
            </p:custDataLst>
          </p:nvPr>
        </p:nvSpPr>
        <p:spPr>
          <a:xfrm>
            <a:off x="3620757" y="5723874"/>
            <a:ext cx="2859797" cy="935813"/>
          </a:xfrm>
          <a:prstGeom prst="rect">
            <a:avLst/>
          </a:prstGeom>
          <a:solidFill>
            <a:schemeClr val="bg2"/>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Aft>
                <a:spcPts val="600"/>
              </a:spcAft>
            </a:pPr>
            <a:r>
              <a:rPr lang="en-CA" sz="4000" b="1">
                <a:solidFill>
                  <a:schemeClr val="accent3"/>
                </a:solidFill>
                <a:latin typeface="+mj-lt"/>
              </a:rPr>
              <a:t>$925k</a:t>
            </a:r>
          </a:p>
          <a:p>
            <a:pPr algn="ctr">
              <a:spcAft>
                <a:spcPts val="600"/>
              </a:spcAft>
            </a:pPr>
            <a:r>
              <a:rPr lang="en-US" sz="1200"/>
              <a:t>Across BC and client (KKR) efforts</a:t>
            </a:r>
            <a:endParaRPr lang="en-CA" sz="1200"/>
          </a:p>
        </p:txBody>
      </p:sp>
      <p:sp>
        <p:nvSpPr>
          <p:cNvPr id="29" name="TextBox 28">
            <a:extLst>
              <a:ext uri="{FF2B5EF4-FFF2-40B4-BE49-F238E27FC236}">
                <a16:creationId xmlns:a16="http://schemas.microsoft.com/office/drawing/2014/main" id="{26C75233-80B1-3003-E64B-A0F93A49E51D}"/>
              </a:ext>
            </a:extLst>
          </p:cNvPr>
          <p:cNvSpPr txBox="1"/>
          <p:nvPr/>
        </p:nvSpPr>
        <p:spPr>
          <a:xfrm>
            <a:off x="9109513" y="1731834"/>
            <a:ext cx="2699821" cy="28777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CA" sz="1400"/>
              <a:t>This investment request is informed by our learnings from the </a:t>
            </a:r>
            <a:r>
              <a:rPr lang="en-CA" sz="1400" b="1"/>
              <a:t>successful AI-driven value creation effort with KKR’s portfolio company Varsity Brands</a:t>
            </a:r>
          </a:p>
          <a:p>
            <a:r>
              <a:rPr lang="en-CA" sz="1400" b="1"/>
              <a:t>Running a Blue Currency study will ensure all new tools, capabilities, and ways of working are in place </a:t>
            </a:r>
            <a:r>
              <a:rPr lang="en-CA" sz="1400"/>
              <a:t>to successfully re-wire our way of working and deliver the next phase of work on AI with KKR</a:t>
            </a:r>
          </a:p>
        </p:txBody>
      </p:sp>
      <p:sp>
        <p:nvSpPr>
          <p:cNvPr id="64" name="3. Subtitle">
            <a:extLst>
              <a:ext uri="{FF2B5EF4-FFF2-40B4-BE49-F238E27FC236}">
                <a16:creationId xmlns:a16="http://schemas.microsoft.com/office/drawing/2014/main" id="{A3B0CF82-8F50-93CD-6994-9FD3F5682B63}"/>
              </a:ext>
            </a:extLst>
          </p:cNvPr>
          <p:cNvSpPr>
            <a:spLocks noGrp="1"/>
          </p:cNvSpPr>
          <p:nvPr>
            <p:ph type="subTitle" idx="1"/>
            <p:custDataLst>
              <p:tags r:id="rId6"/>
            </p:custDataLst>
          </p:nvPr>
        </p:nvSpPr>
        <p:spPr>
          <a:noFill/>
          <a:ln/>
          <a:extLst>
            <a:ext uri="{909E8E84-426E-40DD-AFC4-6F175D3DCCD1}">
              <a14:hiddenFill xmlns:a14="http://schemas.microsoft.com/office/drawing/2010/main">
                <a:solidFill>
                  <a:srgbClr val="FFFFFF"/>
                </a:solidFill>
              </a14:hiddenFill>
            </a:ext>
          </a:extLst>
        </p:spPr>
        <p:txBody>
          <a:bodyPr/>
          <a:lstStyle/>
          <a:p>
            <a:pPr>
              <a:buNone/>
            </a:pPr>
            <a:r>
              <a:rPr lang="en-CA"/>
              <a:t>2 phases of investment to re-wire our way of working and to scale AI impact in PE</a:t>
            </a:r>
          </a:p>
        </p:txBody>
      </p:sp>
      <p:cxnSp>
        <p:nvCxnSpPr>
          <p:cNvPr id="67" name="Straight Connector 66">
            <a:extLst>
              <a:ext uri="{FF2B5EF4-FFF2-40B4-BE49-F238E27FC236}">
                <a16:creationId xmlns:a16="http://schemas.microsoft.com/office/drawing/2014/main" id="{A9005255-56D8-84F0-2EAF-809CF5A309E5}"/>
              </a:ext>
            </a:extLst>
          </p:cNvPr>
          <p:cNvCxnSpPr>
            <a:cxnSpLocks/>
          </p:cNvCxnSpPr>
          <p:nvPr/>
        </p:nvCxnSpPr>
        <p:spPr>
          <a:xfrm flipH="1">
            <a:off x="554737" y="2912551"/>
            <a:ext cx="7918704"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8273EB70-D25B-B535-D2EA-6DCF8F7EA924}"/>
              </a:ext>
            </a:extLst>
          </p:cNvPr>
          <p:cNvSpPr txBox="1">
            <a:spLocks/>
          </p:cNvSpPr>
          <p:nvPr/>
        </p:nvSpPr>
        <p:spPr>
          <a:xfrm>
            <a:off x="554735" y="2955246"/>
            <a:ext cx="1045465" cy="215444"/>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CA" sz="1400" b="1">
                <a:solidFill>
                  <a:srgbClr val="000000"/>
                </a:solidFill>
                <a:latin typeface="Arial"/>
              </a:rPr>
              <a:t>Description</a:t>
            </a:r>
            <a:endParaRPr kumimoji="0" lang="en-CA" sz="14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1" name="TextBox 70">
            <a:extLst>
              <a:ext uri="{FF2B5EF4-FFF2-40B4-BE49-F238E27FC236}">
                <a16:creationId xmlns:a16="http://schemas.microsoft.com/office/drawing/2014/main" id="{84467DB0-0F10-54C6-EA5F-DF4B0B8A32D6}"/>
              </a:ext>
            </a:extLst>
          </p:cNvPr>
          <p:cNvSpPr txBox="1">
            <a:spLocks/>
          </p:cNvSpPr>
          <p:nvPr/>
        </p:nvSpPr>
        <p:spPr>
          <a:xfrm>
            <a:off x="1982854" y="2982967"/>
            <a:ext cx="2849361"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None/>
              <a:tabLst/>
              <a:defRPr/>
            </a:pPr>
            <a:r>
              <a:rPr lang="en-US" sz="1200">
                <a:solidFill>
                  <a:srgbClr val="000000"/>
                </a:solidFill>
                <a:latin typeface="Arial"/>
              </a:rPr>
              <a:t>Re-running the previous value creation effort with Varsity Brands in ~3 week (vs previous 7-10 weeks) by leveraging AI</a:t>
            </a:r>
          </a:p>
        </p:txBody>
      </p:sp>
      <p:sp>
        <p:nvSpPr>
          <p:cNvPr id="73" name="TextBox 72">
            <a:extLst>
              <a:ext uri="{FF2B5EF4-FFF2-40B4-BE49-F238E27FC236}">
                <a16:creationId xmlns:a16="http://schemas.microsoft.com/office/drawing/2014/main" id="{0ED24E9E-80B3-F7A2-93B5-99198B355D64}"/>
              </a:ext>
            </a:extLst>
          </p:cNvPr>
          <p:cNvSpPr txBox="1">
            <a:spLocks/>
          </p:cNvSpPr>
          <p:nvPr/>
        </p:nvSpPr>
        <p:spPr>
          <a:xfrm>
            <a:off x="5326048" y="2982966"/>
            <a:ext cx="3147392"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None/>
              <a:tabLst/>
              <a:defRPr/>
            </a:pPr>
            <a:r>
              <a:rPr lang="en-US" sz="1200">
                <a:solidFill>
                  <a:srgbClr val="000000"/>
                </a:solidFill>
                <a:latin typeface="Arial"/>
              </a:rPr>
              <a:t>Run new diagnostic and design effort for another KKR portfolio company in ~3 weeks by leveraging the playbook and tools developed through the Blue Currency</a:t>
            </a:r>
          </a:p>
        </p:txBody>
      </p:sp>
      <p:sp>
        <p:nvSpPr>
          <p:cNvPr id="87" name="TextBox 86">
            <a:extLst>
              <a:ext uri="{FF2B5EF4-FFF2-40B4-BE49-F238E27FC236}">
                <a16:creationId xmlns:a16="http://schemas.microsoft.com/office/drawing/2014/main" id="{AD0C4D3A-0BF0-DCBC-6B97-11DA8BF967AB}"/>
              </a:ext>
            </a:extLst>
          </p:cNvPr>
          <p:cNvSpPr txBox="1">
            <a:spLocks/>
          </p:cNvSpPr>
          <p:nvPr/>
        </p:nvSpPr>
        <p:spPr>
          <a:xfrm>
            <a:off x="5326048" y="4081179"/>
            <a:ext cx="3147392" cy="155427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Enable broad scalability of AI-driven value creation playbook across </a:t>
            </a:r>
            <a:r>
              <a:rPr kumimoji="0" lang="en-US" sz="12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PortCos</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of KKR (and later other PE funds)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Drive efficiency in the Diagnostic &amp; Design process to rapidly launch the Build phase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lang="en-US" sz="1200">
                <a:solidFill>
                  <a:srgbClr val="000000"/>
                </a:solidFill>
                <a:latin typeface="Arial"/>
              </a:rPr>
              <a:t>Build credibility behind McKinsey stance as state-of-the-art consultancy on using AI to deliver new ways of working</a:t>
            </a:r>
          </a:p>
        </p:txBody>
      </p:sp>
      <p:cxnSp>
        <p:nvCxnSpPr>
          <p:cNvPr id="38" name="Straight Connector 37">
            <a:extLst>
              <a:ext uri="{FF2B5EF4-FFF2-40B4-BE49-F238E27FC236}">
                <a16:creationId xmlns:a16="http://schemas.microsoft.com/office/drawing/2014/main" id="{C09A6B07-73FA-4B1F-9AC3-78DF827576AC}"/>
              </a:ext>
            </a:extLst>
          </p:cNvPr>
          <p:cNvCxnSpPr>
            <a:cxnSpLocks/>
          </p:cNvCxnSpPr>
          <p:nvPr/>
        </p:nvCxnSpPr>
        <p:spPr>
          <a:xfrm flipH="1">
            <a:off x="554737" y="5669460"/>
            <a:ext cx="7918704"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92AA7DBE-1F93-4B60-B1C7-9918FB505334}"/>
              </a:ext>
            </a:extLst>
          </p:cNvPr>
          <p:cNvSpPr txBox="1">
            <a:spLocks/>
          </p:cNvSpPr>
          <p:nvPr/>
        </p:nvSpPr>
        <p:spPr>
          <a:xfrm>
            <a:off x="554735" y="5755124"/>
            <a:ext cx="1212592" cy="430887"/>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Budget needed</a:t>
            </a:r>
          </a:p>
        </p:txBody>
      </p:sp>
      <p:sp>
        <p:nvSpPr>
          <p:cNvPr id="91" name="Rectangle 90">
            <a:extLst>
              <a:ext uri="{FF2B5EF4-FFF2-40B4-BE49-F238E27FC236}">
                <a16:creationId xmlns:a16="http://schemas.microsoft.com/office/drawing/2014/main" id="{FEB7DAF7-D01D-8B0E-2ED8-8AFA5F3E1BA3}"/>
              </a:ext>
            </a:extLst>
          </p:cNvPr>
          <p:cNvSpPr/>
          <p:nvPr/>
        </p:nvSpPr>
        <p:spPr>
          <a:xfrm>
            <a:off x="7161225" y="1373971"/>
            <a:ext cx="176162" cy="156111"/>
          </a:xfrm>
          <a:prstGeom prst="rect">
            <a:avLst/>
          </a:prstGeom>
          <a:solidFill>
            <a:schemeClr val="accent6">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CA" sz="1600" err="1">
              <a:solidFill>
                <a:schemeClr val="bg1"/>
              </a:solidFill>
            </a:endParaRPr>
          </a:p>
        </p:txBody>
      </p:sp>
      <p:sp>
        <p:nvSpPr>
          <p:cNvPr id="92" name="TextBox 91">
            <a:extLst>
              <a:ext uri="{FF2B5EF4-FFF2-40B4-BE49-F238E27FC236}">
                <a16:creationId xmlns:a16="http://schemas.microsoft.com/office/drawing/2014/main" id="{540EBCAA-5C1A-EE80-3392-3FAC5A0629C0}"/>
              </a:ext>
            </a:extLst>
          </p:cNvPr>
          <p:cNvSpPr txBox="1">
            <a:spLocks/>
          </p:cNvSpPr>
          <p:nvPr/>
        </p:nvSpPr>
        <p:spPr>
          <a:xfrm>
            <a:off x="7427975" y="1372445"/>
            <a:ext cx="1045465" cy="153888"/>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CA" sz="1000">
                <a:solidFill>
                  <a:srgbClr val="000000"/>
                </a:solidFill>
                <a:latin typeface="Arial"/>
              </a:rPr>
              <a:t>Details to follow</a:t>
            </a:r>
            <a:endParaRPr kumimoji="0" lang="en-CA" sz="100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40494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Object 2" hidden="1">
            <a:extLst>
              <a:ext uri="{FF2B5EF4-FFF2-40B4-BE49-F238E27FC236}">
                <a16:creationId xmlns:a16="http://schemas.microsoft.com/office/drawing/2014/main" id="{4B695F8D-5F02-4724-BBAE-88182DF0EB51}"/>
              </a:ext>
            </a:extLst>
          </p:cNvPr>
          <p:cNvGraphicFramePr>
            <a:graphicFrameLocks noChangeAspect="1"/>
          </p:cNvGraphicFramePr>
          <p:nvPr>
            <p:custDataLst>
              <p:tags r:id="rId1"/>
            </p:custDataLst>
            <p:extLst>
              <p:ext uri="{D42A27DB-BD31-4B8C-83A1-F6EECF244321}">
                <p14:modId xmlns:p14="http://schemas.microsoft.com/office/powerpoint/2010/main" val="4280182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6" progId="TCLayout.ActiveDocument.1">
                  <p:embed/>
                </p:oleObj>
              </mc:Choice>
              <mc:Fallback>
                <p:oleObj name="think-cell Slide" r:id="rId10" imgW="473" imgH="476" progId="TCLayout.ActiveDocument.1">
                  <p:embed/>
                  <p:pic>
                    <p:nvPicPr>
                      <p:cNvPr id="25" name="Object 2" hidden="1">
                        <a:extLst>
                          <a:ext uri="{FF2B5EF4-FFF2-40B4-BE49-F238E27FC236}">
                            <a16:creationId xmlns:a16="http://schemas.microsoft.com/office/drawing/2014/main" id="{4B695F8D-5F02-4724-BBAE-88182DF0EB51}"/>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cxnSp>
        <p:nvCxnSpPr>
          <p:cNvPr id="30" name="Straight Connector 29">
            <a:extLst>
              <a:ext uri="{FF2B5EF4-FFF2-40B4-BE49-F238E27FC236}">
                <a16:creationId xmlns:a16="http://schemas.microsoft.com/office/drawing/2014/main" id="{0EB9A359-CAEC-49DE-9271-40D82AA429CF}"/>
              </a:ext>
            </a:extLst>
          </p:cNvPr>
          <p:cNvCxnSpPr>
            <a:cxnSpLocks/>
          </p:cNvCxnSpPr>
          <p:nvPr/>
        </p:nvCxnSpPr>
        <p:spPr>
          <a:xfrm>
            <a:off x="3489158" y="1705986"/>
            <a:ext cx="1420091" cy="0"/>
          </a:xfrm>
          <a:prstGeom prst="line">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2" name="TrackerNumBlue 52">
            <a:extLst>
              <a:ext uri="{FF2B5EF4-FFF2-40B4-BE49-F238E27FC236}">
                <a16:creationId xmlns:a16="http://schemas.microsoft.com/office/drawing/2014/main" id="{98A50B1B-F51F-4816-B307-30636E825225}"/>
              </a:ext>
            </a:extLst>
          </p:cNvPr>
          <p:cNvSpPr>
            <a:spLocks/>
          </p:cNvSpPr>
          <p:nvPr>
            <p:custDataLst>
              <p:tags r:id="rId2"/>
            </p:custDataLst>
          </p:nvPr>
        </p:nvSpPr>
        <p:spPr>
          <a:xfrm>
            <a:off x="5109051" y="1563019"/>
            <a:ext cx="285934" cy="285934"/>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NZ" sz="1400">
                <a:solidFill>
                  <a:schemeClr val="bg1"/>
                </a:solidFill>
              </a:rPr>
              <a:t>1</a:t>
            </a:r>
          </a:p>
        </p:txBody>
      </p:sp>
      <p:sp>
        <p:nvSpPr>
          <p:cNvPr id="39" name="TextBox 38">
            <a:extLst>
              <a:ext uri="{FF2B5EF4-FFF2-40B4-BE49-F238E27FC236}">
                <a16:creationId xmlns:a16="http://schemas.microsoft.com/office/drawing/2014/main" id="{19658E20-79E7-42E6-A6A9-E38BF2385976}"/>
              </a:ext>
            </a:extLst>
          </p:cNvPr>
          <p:cNvSpPr txBox="1"/>
          <p:nvPr/>
        </p:nvSpPr>
        <p:spPr>
          <a:xfrm>
            <a:off x="5490896" y="1563019"/>
            <a:ext cx="2982544"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400" b="1">
                <a:solidFill>
                  <a:schemeClr val="accent2"/>
                </a:solidFill>
              </a:rPr>
              <a:t>FROM:</a:t>
            </a:r>
            <a:r>
              <a:rPr lang="en-US" sz="1400" b="1"/>
              <a:t> 7–10-week traditional study</a:t>
            </a:r>
            <a:endParaRPr lang="en-NZ" sz="1400"/>
          </a:p>
        </p:txBody>
      </p:sp>
      <p:sp>
        <p:nvSpPr>
          <p:cNvPr id="40" name="TextBox 39">
            <a:extLst>
              <a:ext uri="{FF2B5EF4-FFF2-40B4-BE49-F238E27FC236}">
                <a16:creationId xmlns:a16="http://schemas.microsoft.com/office/drawing/2014/main" id="{6726EC3B-13A9-4873-8ED0-07D61D590A99}"/>
              </a:ext>
            </a:extLst>
          </p:cNvPr>
          <p:cNvSpPr txBox="1"/>
          <p:nvPr/>
        </p:nvSpPr>
        <p:spPr>
          <a:xfrm>
            <a:off x="5490895" y="1793851"/>
            <a:ext cx="3141827"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a:t>Two phases of work (Diagnostic to identify issues with current workflows and Design to define initiatives to addresses these issues) by leveraging traditional ENS, client interviews, McKinsey expert PS, PPT, Excel, etc.</a:t>
            </a:r>
            <a:endParaRPr lang="en-NZ" sz="1050"/>
          </a:p>
        </p:txBody>
      </p:sp>
      <p:cxnSp>
        <p:nvCxnSpPr>
          <p:cNvPr id="45" name="Straight Connector 44">
            <a:extLst>
              <a:ext uri="{FF2B5EF4-FFF2-40B4-BE49-F238E27FC236}">
                <a16:creationId xmlns:a16="http://schemas.microsoft.com/office/drawing/2014/main" id="{92F4C947-D08D-4457-A00F-F8C1E9DEAFAE}"/>
              </a:ext>
            </a:extLst>
          </p:cNvPr>
          <p:cNvCxnSpPr>
            <a:cxnSpLocks/>
          </p:cNvCxnSpPr>
          <p:nvPr/>
        </p:nvCxnSpPr>
        <p:spPr>
          <a:xfrm flipV="1">
            <a:off x="3379601" y="3940402"/>
            <a:ext cx="1529648" cy="0"/>
          </a:xfrm>
          <a:prstGeom prst="line">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1" name="TrackerNumBlue 52">
            <a:extLst>
              <a:ext uri="{FF2B5EF4-FFF2-40B4-BE49-F238E27FC236}">
                <a16:creationId xmlns:a16="http://schemas.microsoft.com/office/drawing/2014/main" id="{07C710A4-DE24-49EE-86AC-E55121DFD36E}"/>
              </a:ext>
            </a:extLst>
          </p:cNvPr>
          <p:cNvSpPr>
            <a:spLocks/>
          </p:cNvSpPr>
          <p:nvPr>
            <p:custDataLst>
              <p:tags r:id="rId3"/>
            </p:custDataLst>
          </p:nvPr>
        </p:nvSpPr>
        <p:spPr>
          <a:xfrm>
            <a:off x="5109051" y="3797435"/>
            <a:ext cx="285934" cy="285934"/>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NZ" sz="1400">
                <a:solidFill>
                  <a:schemeClr val="bg1"/>
                </a:solidFill>
              </a:rPr>
              <a:t>2</a:t>
            </a:r>
          </a:p>
        </p:txBody>
      </p:sp>
      <p:sp>
        <p:nvSpPr>
          <p:cNvPr id="42" name="TextBox 41">
            <a:extLst>
              <a:ext uri="{FF2B5EF4-FFF2-40B4-BE49-F238E27FC236}">
                <a16:creationId xmlns:a16="http://schemas.microsoft.com/office/drawing/2014/main" id="{D82F4F9D-96D8-4B63-B10E-4A3093984C90}"/>
              </a:ext>
            </a:extLst>
          </p:cNvPr>
          <p:cNvSpPr txBox="1"/>
          <p:nvPr/>
        </p:nvSpPr>
        <p:spPr>
          <a:xfrm>
            <a:off x="5490896" y="3785624"/>
            <a:ext cx="3141826"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solidFill>
                  <a:schemeClr val="accent2"/>
                </a:solidFill>
              </a:rPr>
              <a:t>TO:</a:t>
            </a:r>
            <a:r>
              <a:rPr lang="en-US" sz="1400" b="1"/>
              <a:t> 3-week AI-enabled study</a:t>
            </a:r>
            <a:endParaRPr lang="en-NZ" sz="1400"/>
          </a:p>
        </p:txBody>
      </p:sp>
      <p:sp>
        <p:nvSpPr>
          <p:cNvPr id="43" name="TextBox 42">
            <a:extLst>
              <a:ext uri="{FF2B5EF4-FFF2-40B4-BE49-F238E27FC236}">
                <a16:creationId xmlns:a16="http://schemas.microsoft.com/office/drawing/2014/main" id="{70CFF3F4-FA13-439B-8053-8494BC745400}"/>
              </a:ext>
            </a:extLst>
          </p:cNvPr>
          <p:cNvSpPr txBox="1"/>
          <p:nvPr/>
        </p:nvSpPr>
        <p:spPr>
          <a:xfrm>
            <a:off x="5490895" y="4028267"/>
            <a:ext cx="3141827"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a:t>Leveraging latest AI tools (e.g., Cursor, </a:t>
            </a:r>
            <a:r>
              <a:rPr lang="en-US" sz="1050" err="1"/>
              <a:t>Cleansheet</a:t>
            </a:r>
            <a:r>
              <a:rPr lang="en-US" sz="1050"/>
              <a:t> AI, </a:t>
            </a:r>
            <a:r>
              <a:rPr lang="en-US" sz="1050" err="1"/>
              <a:t>IndexAI</a:t>
            </a:r>
            <a:r>
              <a:rPr lang="en-US" sz="1050"/>
              <a:t>, etc.) to replicate Diagnostic and Design phases in a very compressed timeframe – allowing scaling of study deployment across multiple </a:t>
            </a:r>
            <a:r>
              <a:rPr lang="en-US" sz="1050" err="1"/>
              <a:t>PortCos</a:t>
            </a:r>
            <a:r>
              <a:rPr lang="en-US" sz="1050"/>
              <a:t> as well as across multiple PE funds</a:t>
            </a:r>
            <a:endParaRPr lang="en-NZ" sz="1050"/>
          </a:p>
        </p:txBody>
      </p:sp>
      <p:sp>
        <p:nvSpPr>
          <p:cNvPr id="7" name="Text Placeholder 6">
            <a:extLst>
              <a:ext uri="{FF2B5EF4-FFF2-40B4-BE49-F238E27FC236}">
                <a16:creationId xmlns:a16="http://schemas.microsoft.com/office/drawing/2014/main" id="{1AE48E67-CAD6-D461-4544-B48A2F5F0A97}"/>
              </a:ext>
            </a:extLst>
          </p:cNvPr>
          <p:cNvSpPr>
            <a:spLocks noGrp="1"/>
          </p:cNvSpPr>
          <p:nvPr>
            <p:ph type="body" sz="quarter" idx="17"/>
          </p:nvPr>
        </p:nvSpPr>
        <p:spPr/>
        <p:txBody>
          <a:bodyPr/>
          <a:lstStyle/>
          <a:p>
            <a:endParaRPr lang="en-NZ"/>
          </a:p>
        </p:txBody>
      </p:sp>
      <p:sp>
        <p:nvSpPr>
          <p:cNvPr id="2" name="2. Slide Title">
            <a:extLst>
              <a:ext uri="{FF2B5EF4-FFF2-40B4-BE49-F238E27FC236}">
                <a16:creationId xmlns:a16="http://schemas.microsoft.com/office/drawing/2014/main" id="{824B55A9-3726-4F34-8784-1DD3ECA689AE}"/>
              </a:ext>
            </a:extLst>
          </p:cNvPr>
          <p:cNvSpPr>
            <a:spLocks noGrp="1"/>
          </p:cNvSpPr>
          <p:nvPr>
            <p:ph type="title"/>
            <p:custDataLst>
              <p:tags r:id="rId4"/>
            </p:custDataLst>
          </p:nvPr>
        </p:nvSpPr>
        <p:spPr>
          <a:xfrm>
            <a:off x="554736" y="556102"/>
            <a:ext cx="7918704"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1. What we are trying to achieve with the BC</a:t>
            </a:r>
            <a:endParaRPr lang="en-NZ"/>
          </a:p>
        </p:txBody>
      </p:sp>
      <p:grpSp>
        <p:nvGrpSpPr>
          <p:cNvPr id="29" name="Group 28">
            <a:extLst>
              <a:ext uri="{FF2B5EF4-FFF2-40B4-BE49-F238E27FC236}">
                <a16:creationId xmlns:a16="http://schemas.microsoft.com/office/drawing/2014/main" id="{0CA84435-674F-4B11-9438-6A3EAD2F80F0}"/>
              </a:ext>
            </a:extLst>
          </p:cNvPr>
          <p:cNvGrpSpPr/>
          <p:nvPr/>
        </p:nvGrpSpPr>
        <p:grpSpPr>
          <a:xfrm>
            <a:off x="554736" y="1446363"/>
            <a:ext cx="4127796" cy="2182023"/>
            <a:chOff x="554736" y="1711323"/>
            <a:chExt cx="4127796" cy="2182023"/>
          </a:xfrm>
        </p:grpSpPr>
        <p:sp>
          <p:nvSpPr>
            <p:cNvPr id="16" name="Freeform 98">
              <a:extLst>
                <a:ext uri="{FF2B5EF4-FFF2-40B4-BE49-F238E27FC236}">
                  <a16:creationId xmlns:a16="http://schemas.microsoft.com/office/drawing/2014/main" id="{8101D2B0-EDAA-472A-9620-BA7C59D1B166}"/>
                </a:ext>
              </a:extLst>
            </p:cNvPr>
            <p:cNvSpPr>
              <a:spLocks/>
            </p:cNvSpPr>
            <p:nvPr/>
          </p:nvSpPr>
          <p:spPr bwMode="auto">
            <a:xfrm flipV="1">
              <a:off x="554736" y="1711323"/>
              <a:ext cx="4101546" cy="2182023"/>
            </a:xfrm>
            <a:custGeom>
              <a:avLst/>
              <a:gdLst>
                <a:gd name="T0" fmla="*/ 1044 w 1250"/>
                <a:gd name="T1" fmla="*/ 136 h 665"/>
                <a:gd name="T2" fmla="*/ 625 w 1250"/>
                <a:gd name="T3" fmla="*/ 0 h 665"/>
                <a:gd name="T4" fmla="*/ 205 w 1250"/>
                <a:gd name="T5" fmla="*/ 136 h 665"/>
                <a:gd name="T6" fmla="*/ 0 w 1250"/>
                <a:gd name="T7" fmla="*/ 460 h 665"/>
                <a:gd name="T8" fmla="*/ 625 w 1250"/>
                <a:gd name="T9" fmla="*/ 665 h 665"/>
                <a:gd name="T10" fmla="*/ 1250 w 1250"/>
                <a:gd name="T11" fmla="*/ 452 h 665"/>
                <a:gd name="T12" fmla="*/ 1044 w 1250"/>
                <a:gd name="T13" fmla="*/ 136 h 665"/>
              </a:gdLst>
              <a:ahLst/>
              <a:cxnLst>
                <a:cxn ang="0">
                  <a:pos x="T0" y="T1"/>
                </a:cxn>
                <a:cxn ang="0">
                  <a:pos x="T2" y="T3"/>
                </a:cxn>
                <a:cxn ang="0">
                  <a:pos x="T4" y="T5"/>
                </a:cxn>
                <a:cxn ang="0">
                  <a:pos x="T6" y="T7"/>
                </a:cxn>
                <a:cxn ang="0">
                  <a:pos x="T8" y="T9"/>
                </a:cxn>
                <a:cxn ang="0">
                  <a:pos x="T10" y="T11"/>
                </a:cxn>
                <a:cxn ang="0">
                  <a:pos x="T12" y="T13"/>
                </a:cxn>
              </a:cxnLst>
              <a:rect l="0" t="0" r="r" b="b"/>
              <a:pathLst>
                <a:path w="1250" h="665">
                  <a:moveTo>
                    <a:pt x="1044" y="136"/>
                  </a:moveTo>
                  <a:lnTo>
                    <a:pt x="625" y="0"/>
                  </a:lnTo>
                  <a:lnTo>
                    <a:pt x="205" y="136"/>
                  </a:lnTo>
                  <a:lnTo>
                    <a:pt x="0" y="460"/>
                  </a:lnTo>
                  <a:lnTo>
                    <a:pt x="625" y="665"/>
                  </a:lnTo>
                  <a:lnTo>
                    <a:pt x="1250" y="452"/>
                  </a:lnTo>
                  <a:lnTo>
                    <a:pt x="1044" y="136"/>
                  </a:lnTo>
                  <a:close/>
                </a:path>
              </a:pathLst>
            </a:custGeom>
            <a:solidFill>
              <a:srgbClr val="B3B3B3"/>
            </a:solidFill>
            <a:ln>
              <a:noFill/>
            </a:ln>
          </p:spPr>
          <p:txBody>
            <a:bodyPr vert="horz" wrap="square" lIns="91440" tIns="45720" rIns="91440" bIns="45720" numCol="1" anchor="t" anchorCtr="0" compatLnSpc="1">
              <a:prstTxWarp prst="textNoShape">
                <a:avLst/>
              </a:prstTxWarp>
            </a:bodyPr>
            <a:lstStyle/>
            <a:p>
              <a:endParaRPr lang="en-NZ"/>
            </a:p>
          </p:txBody>
        </p:sp>
        <p:sp>
          <p:nvSpPr>
            <p:cNvPr id="17" name="Freeform 99">
              <a:extLst>
                <a:ext uri="{FF2B5EF4-FFF2-40B4-BE49-F238E27FC236}">
                  <a16:creationId xmlns:a16="http://schemas.microsoft.com/office/drawing/2014/main" id="{A5EC8CB2-2192-4CC9-8A52-EA691965840A}"/>
                </a:ext>
              </a:extLst>
            </p:cNvPr>
            <p:cNvSpPr>
              <a:spLocks/>
            </p:cNvSpPr>
            <p:nvPr/>
          </p:nvSpPr>
          <p:spPr bwMode="auto">
            <a:xfrm flipV="1">
              <a:off x="554736" y="1711323"/>
              <a:ext cx="4127796" cy="1735775"/>
            </a:xfrm>
            <a:custGeom>
              <a:avLst/>
              <a:gdLst>
                <a:gd name="T0" fmla="*/ 1044 w 1258"/>
                <a:gd name="T1" fmla="*/ 0 h 529"/>
                <a:gd name="T2" fmla="*/ 625 w 1258"/>
                <a:gd name="T3" fmla="*/ 137 h 529"/>
                <a:gd name="T4" fmla="*/ 205 w 1258"/>
                <a:gd name="T5" fmla="*/ 0 h 529"/>
                <a:gd name="T6" fmla="*/ 0 w 1258"/>
                <a:gd name="T7" fmla="*/ 324 h 529"/>
                <a:gd name="T8" fmla="*/ 625 w 1258"/>
                <a:gd name="T9" fmla="*/ 529 h 529"/>
                <a:gd name="T10" fmla="*/ 1258 w 1258"/>
                <a:gd name="T11" fmla="*/ 324 h 529"/>
                <a:gd name="T12" fmla="*/ 1044 w 1258"/>
                <a:gd name="T13" fmla="*/ 0 h 529"/>
              </a:gdLst>
              <a:ahLst/>
              <a:cxnLst>
                <a:cxn ang="0">
                  <a:pos x="T0" y="T1"/>
                </a:cxn>
                <a:cxn ang="0">
                  <a:pos x="T2" y="T3"/>
                </a:cxn>
                <a:cxn ang="0">
                  <a:pos x="T4" y="T5"/>
                </a:cxn>
                <a:cxn ang="0">
                  <a:pos x="T6" y="T7"/>
                </a:cxn>
                <a:cxn ang="0">
                  <a:pos x="T8" y="T9"/>
                </a:cxn>
                <a:cxn ang="0">
                  <a:pos x="T10" y="T11"/>
                </a:cxn>
                <a:cxn ang="0">
                  <a:pos x="T12" y="T13"/>
                </a:cxn>
              </a:cxnLst>
              <a:rect l="0" t="0" r="r" b="b"/>
              <a:pathLst>
                <a:path w="1258" h="529">
                  <a:moveTo>
                    <a:pt x="1044" y="0"/>
                  </a:moveTo>
                  <a:lnTo>
                    <a:pt x="625" y="137"/>
                  </a:lnTo>
                  <a:lnTo>
                    <a:pt x="205" y="0"/>
                  </a:lnTo>
                  <a:lnTo>
                    <a:pt x="0" y="324"/>
                  </a:lnTo>
                  <a:lnTo>
                    <a:pt x="625" y="529"/>
                  </a:lnTo>
                  <a:lnTo>
                    <a:pt x="1258" y="324"/>
                  </a:lnTo>
                  <a:lnTo>
                    <a:pt x="1044" y="0"/>
                  </a:lnTo>
                  <a:close/>
                </a:path>
              </a:pathLst>
            </a:custGeom>
            <a:solidFill>
              <a:srgbClr val="E6E6E6"/>
            </a:solidFill>
            <a:ln>
              <a:noFill/>
            </a:ln>
          </p:spPr>
          <p:txBody>
            <a:bodyPr vert="horz" wrap="square" lIns="91440" tIns="45720" rIns="91440" bIns="45720" numCol="1" anchor="t" anchorCtr="0" compatLnSpc="1">
              <a:prstTxWarp prst="textNoShape">
                <a:avLst/>
              </a:prstTxWarp>
            </a:bodyPr>
            <a:lstStyle/>
            <a:p>
              <a:endParaRPr lang="en-NZ"/>
            </a:p>
          </p:txBody>
        </p:sp>
        <p:sp>
          <p:nvSpPr>
            <p:cNvPr id="18" name="Freeform 100">
              <a:extLst>
                <a:ext uri="{FF2B5EF4-FFF2-40B4-BE49-F238E27FC236}">
                  <a16:creationId xmlns:a16="http://schemas.microsoft.com/office/drawing/2014/main" id="{59A44ED8-E1FA-4973-A4B6-714409200FA4}"/>
                </a:ext>
              </a:extLst>
            </p:cNvPr>
            <p:cNvSpPr>
              <a:spLocks/>
            </p:cNvSpPr>
            <p:nvPr/>
          </p:nvSpPr>
          <p:spPr bwMode="auto">
            <a:xfrm flipV="1">
              <a:off x="2605508" y="1711323"/>
              <a:ext cx="2077024" cy="1735775"/>
            </a:xfrm>
            <a:custGeom>
              <a:avLst/>
              <a:gdLst>
                <a:gd name="T0" fmla="*/ 419 w 633"/>
                <a:gd name="T1" fmla="*/ 0 h 529"/>
                <a:gd name="T2" fmla="*/ 0 w 633"/>
                <a:gd name="T3" fmla="*/ 137 h 529"/>
                <a:gd name="T4" fmla="*/ 0 w 633"/>
                <a:gd name="T5" fmla="*/ 529 h 529"/>
                <a:gd name="T6" fmla="*/ 633 w 633"/>
                <a:gd name="T7" fmla="*/ 324 h 529"/>
                <a:gd name="T8" fmla="*/ 419 w 633"/>
                <a:gd name="T9" fmla="*/ 0 h 529"/>
              </a:gdLst>
              <a:ahLst/>
              <a:cxnLst>
                <a:cxn ang="0">
                  <a:pos x="T0" y="T1"/>
                </a:cxn>
                <a:cxn ang="0">
                  <a:pos x="T2" y="T3"/>
                </a:cxn>
                <a:cxn ang="0">
                  <a:pos x="T4" y="T5"/>
                </a:cxn>
                <a:cxn ang="0">
                  <a:pos x="T6" y="T7"/>
                </a:cxn>
                <a:cxn ang="0">
                  <a:pos x="T8" y="T9"/>
                </a:cxn>
              </a:cxnLst>
              <a:rect l="0" t="0" r="r" b="b"/>
              <a:pathLst>
                <a:path w="633" h="529">
                  <a:moveTo>
                    <a:pt x="419" y="0"/>
                  </a:moveTo>
                  <a:lnTo>
                    <a:pt x="0" y="137"/>
                  </a:lnTo>
                  <a:lnTo>
                    <a:pt x="0" y="529"/>
                  </a:lnTo>
                  <a:lnTo>
                    <a:pt x="633" y="324"/>
                  </a:lnTo>
                  <a:lnTo>
                    <a:pt x="419" y="0"/>
                  </a:lnTo>
                  <a:close/>
                </a:path>
              </a:pathLst>
            </a:custGeom>
            <a:solidFill>
              <a:srgbClr val="D0D0D0"/>
            </a:solidFill>
            <a:ln>
              <a:noFill/>
            </a:ln>
          </p:spPr>
          <p:txBody>
            <a:bodyPr vert="horz" wrap="square" lIns="91440" tIns="45720" rIns="91440" bIns="45720" numCol="1" anchor="t" anchorCtr="0" compatLnSpc="1">
              <a:prstTxWarp prst="textNoShape">
                <a:avLst/>
              </a:prstTxWarp>
            </a:bodyPr>
            <a:lstStyle/>
            <a:p>
              <a:endParaRPr lang="en-NZ"/>
            </a:p>
          </p:txBody>
        </p:sp>
      </p:grpSp>
      <p:grpSp>
        <p:nvGrpSpPr>
          <p:cNvPr id="28" name="Group 27">
            <a:extLst>
              <a:ext uri="{FF2B5EF4-FFF2-40B4-BE49-F238E27FC236}">
                <a16:creationId xmlns:a16="http://schemas.microsoft.com/office/drawing/2014/main" id="{FC2CE69A-CCE8-4D76-9BCA-12B89DD1B788}"/>
              </a:ext>
            </a:extLst>
          </p:cNvPr>
          <p:cNvGrpSpPr/>
          <p:nvPr/>
        </p:nvGrpSpPr>
        <p:grpSpPr>
          <a:xfrm>
            <a:off x="1256921" y="3371016"/>
            <a:ext cx="2727415" cy="1732493"/>
            <a:chOff x="1256921" y="3335536"/>
            <a:chExt cx="2727415" cy="1732493"/>
          </a:xfrm>
        </p:grpSpPr>
        <p:sp>
          <p:nvSpPr>
            <p:cNvPr id="19" name="Freeform 101">
              <a:extLst>
                <a:ext uri="{FF2B5EF4-FFF2-40B4-BE49-F238E27FC236}">
                  <a16:creationId xmlns:a16="http://schemas.microsoft.com/office/drawing/2014/main" id="{724B47F3-6AC9-42B4-9F5B-40E905064E37}"/>
                </a:ext>
              </a:extLst>
            </p:cNvPr>
            <p:cNvSpPr>
              <a:spLocks/>
            </p:cNvSpPr>
            <p:nvPr/>
          </p:nvSpPr>
          <p:spPr bwMode="auto">
            <a:xfrm flipV="1">
              <a:off x="1929573" y="3558660"/>
              <a:ext cx="1378119" cy="1509369"/>
            </a:xfrm>
            <a:custGeom>
              <a:avLst/>
              <a:gdLst>
                <a:gd name="T0" fmla="*/ 206 w 420"/>
                <a:gd name="T1" fmla="*/ 0 h 460"/>
                <a:gd name="T2" fmla="*/ 0 w 420"/>
                <a:gd name="T3" fmla="*/ 76 h 460"/>
                <a:gd name="T4" fmla="*/ 0 w 420"/>
                <a:gd name="T5" fmla="*/ 460 h 460"/>
                <a:gd name="T6" fmla="*/ 420 w 420"/>
                <a:gd name="T7" fmla="*/ 76 h 460"/>
                <a:gd name="T8" fmla="*/ 206 w 420"/>
                <a:gd name="T9" fmla="*/ 0 h 460"/>
              </a:gdLst>
              <a:ahLst/>
              <a:cxnLst>
                <a:cxn ang="0">
                  <a:pos x="T0" y="T1"/>
                </a:cxn>
                <a:cxn ang="0">
                  <a:pos x="T2" y="T3"/>
                </a:cxn>
                <a:cxn ang="0">
                  <a:pos x="T4" y="T5"/>
                </a:cxn>
                <a:cxn ang="0">
                  <a:pos x="T6" y="T7"/>
                </a:cxn>
                <a:cxn ang="0">
                  <a:pos x="T8" y="T9"/>
                </a:cxn>
              </a:cxnLst>
              <a:rect l="0" t="0" r="r" b="b"/>
              <a:pathLst>
                <a:path w="420" h="460">
                  <a:moveTo>
                    <a:pt x="206" y="0"/>
                  </a:moveTo>
                  <a:lnTo>
                    <a:pt x="0" y="76"/>
                  </a:lnTo>
                  <a:lnTo>
                    <a:pt x="0" y="460"/>
                  </a:lnTo>
                  <a:lnTo>
                    <a:pt x="420" y="76"/>
                  </a:lnTo>
                  <a:lnTo>
                    <a:pt x="206" y="0"/>
                  </a:lnTo>
                  <a:close/>
                </a:path>
              </a:pathLst>
            </a:custGeom>
            <a:solidFill>
              <a:srgbClr val="B3B3B3"/>
            </a:solidFill>
            <a:ln>
              <a:noFill/>
            </a:ln>
          </p:spPr>
          <p:txBody>
            <a:bodyPr vert="horz" wrap="square" lIns="91440" tIns="45720" rIns="91440" bIns="45720" numCol="1" anchor="t" anchorCtr="0" compatLnSpc="1">
              <a:prstTxWarp prst="textNoShape">
                <a:avLst/>
              </a:prstTxWarp>
            </a:bodyPr>
            <a:lstStyle/>
            <a:p>
              <a:endParaRPr lang="en-NZ"/>
            </a:p>
          </p:txBody>
        </p:sp>
        <p:sp>
          <p:nvSpPr>
            <p:cNvPr id="20" name="Freeform 102">
              <a:extLst>
                <a:ext uri="{FF2B5EF4-FFF2-40B4-BE49-F238E27FC236}">
                  <a16:creationId xmlns:a16="http://schemas.microsoft.com/office/drawing/2014/main" id="{27F064FC-76EE-48A8-927B-4D41EBC68567}"/>
                </a:ext>
              </a:extLst>
            </p:cNvPr>
            <p:cNvSpPr>
              <a:spLocks/>
            </p:cNvSpPr>
            <p:nvPr/>
          </p:nvSpPr>
          <p:spPr bwMode="auto">
            <a:xfrm flipV="1">
              <a:off x="1256921" y="3335536"/>
              <a:ext cx="2697177" cy="1483119"/>
            </a:xfrm>
            <a:custGeom>
              <a:avLst/>
              <a:gdLst>
                <a:gd name="T0" fmla="*/ 608 w 822"/>
                <a:gd name="T1" fmla="*/ 17 h 452"/>
                <a:gd name="T2" fmla="*/ 411 w 822"/>
                <a:gd name="T3" fmla="*/ 69 h 452"/>
                <a:gd name="T4" fmla="*/ 205 w 822"/>
                <a:gd name="T5" fmla="*/ 0 h 452"/>
                <a:gd name="T6" fmla="*/ 0 w 822"/>
                <a:gd name="T7" fmla="*/ 316 h 452"/>
                <a:gd name="T8" fmla="*/ 411 w 822"/>
                <a:gd name="T9" fmla="*/ 452 h 452"/>
                <a:gd name="T10" fmla="*/ 822 w 822"/>
                <a:gd name="T11" fmla="*/ 324 h 452"/>
                <a:gd name="T12" fmla="*/ 608 w 822"/>
                <a:gd name="T13" fmla="*/ 17 h 452"/>
              </a:gdLst>
              <a:ahLst/>
              <a:cxnLst>
                <a:cxn ang="0">
                  <a:pos x="T0" y="T1"/>
                </a:cxn>
                <a:cxn ang="0">
                  <a:pos x="T2" y="T3"/>
                </a:cxn>
                <a:cxn ang="0">
                  <a:pos x="T4" y="T5"/>
                </a:cxn>
                <a:cxn ang="0">
                  <a:pos x="T6" y="T7"/>
                </a:cxn>
                <a:cxn ang="0">
                  <a:pos x="T8" y="T9"/>
                </a:cxn>
                <a:cxn ang="0">
                  <a:pos x="T10" y="T11"/>
                </a:cxn>
                <a:cxn ang="0">
                  <a:pos x="T12" y="T13"/>
                </a:cxn>
              </a:cxnLst>
              <a:rect l="0" t="0" r="r" b="b"/>
              <a:pathLst>
                <a:path w="822" h="452">
                  <a:moveTo>
                    <a:pt x="608" y="17"/>
                  </a:moveTo>
                  <a:lnTo>
                    <a:pt x="411" y="69"/>
                  </a:lnTo>
                  <a:lnTo>
                    <a:pt x="205" y="0"/>
                  </a:lnTo>
                  <a:lnTo>
                    <a:pt x="0" y="316"/>
                  </a:lnTo>
                  <a:lnTo>
                    <a:pt x="411" y="452"/>
                  </a:lnTo>
                  <a:lnTo>
                    <a:pt x="822" y="324"/>
                  </a:lnTo>
                  <a:lnTo>
                    <a:pt x="608" y="17"/>
                  </a:lnTo>
                  <a:close/>
                </a:path>
              </a:pathLst>
            </a:custGeom>
            <a:solidFill>
              <a:srgbClr val="E6E6E6"/>
            </a:solidFill>
            <a:ln>
              <a:noFill/>
            </a:ln>
          </p:spPr>
          <p:txBody>
            <a:bodyPr vert="horz" wrap="square" lIns="91440" tIns="45720" rIns="91440" bIns="45720" numCol="1" anchor="t" anchorCtr="0" compatLnSpc="1">
              <a:prstTxWarp prst="textNoShape">
                <a:avLst/>
              </a:prstTxWarp>
            </a:bodyPr>
            <a:lstStyle/>
            <a:p>
              <a:endParaRPr lang="en-NZ"/>
            </a:p>
          </p:txBody>
        </p:sp>
        <p:sp>
          <p:nvSpPr>
            <p:cNvPr id="21" name="Freeform 103">
              <a:extLst>
                <a:ext uri="{FF2B5EF4-FFF2-40B4-BE49-F238E27FC236}">
                  <a16:creationId xmlns:a16="http://schemas.microsoft.com/office/drawing/2014/main" id="{77AB56F7-A8FF-4D09-9D19-70B71CE03DDD}"/>
                </a:ext>
              </a:extLst>
            </p:cNvPr>
            <p:cNvSpPr>
              <a:spLocks/>
            </p:cNvSpPr>
            <p:nvPr/>
          </p:nvSpPr>
          <p:spPr bwMode="auto">
            <a:xfrm flipV="1">
              <a:off x="2605510" y="3335536"/>
              <a:ext cx="1378826" cy="1483119"/>
            </a:xfrm>
            <a:custGeom>
              <a:avLst/>
              <a:gdLst>
                <a:gd name="T0" fmla="*/ 214 w 419"/>
                <a:gd name="T1" fmla="*/ 0 h 452"/>
                <a:gd name="T2" fmla="*/ 0 w 419"/>
                <a:gd name="T3" fmla="*/ 69 h 452"/>
                <a:gd name="T4" fmla="*/ 0 w 419"/>
                <a:gd name="T5" fmla="*/ 452 h 452"/>
                <a:gd name="T6" fmla="*/ 419 w 419"/>
                <a:gd name="T7" fmla="*/ 316 h 452"/>
                <a:gd name="T8" fmla="*/ 214 w 419"/>
                <a:gd name="T9" fmla="*/ 0 h 452"/>
                <a:gd name="connsiteX0" fmla="*/ 5107 w 10029"/>
                <a:gd name="connsiteY0" fmla="*/ 0 h 10000"/>
                <a:gd name="connsiteX1" fmla="*/ 0 w 10029"/>
                <a:gd name="connsiteY1" fmla="*/ 1527 h 10000"/>
                <a:gd name="connsiteX2" fmla="*/ 0 w 10029"/>
                <a:gd name="connsiteY2" fmla="*/ 10000 h 10000"/>
                <a:gd name="connsiteX3" fmla="*/ 10029 w 10029"/>
                <a:gd name="connsiteY3" fmla="*/ 7044 h 10000"/>
                <a:gd name="connsiteX4" fmla="*/ 5107 w 1002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9" h="10000">
                  <a:moveTo>
                    <a:pt x="5107" y="0"/>
                  </a:moveTo>
                  <a:lnTo>
                    <a:pt x="0" y="1527"/>
                  </a:lnTo>
                  <a:lnTo>
                    <a:pt x="0" y="10000"/>
                  </a:lnTo>
                  <a:lnTo>
                    <a:pt x="10029" y="7044"/>
                  </a:lnTo>
                  <a:lnTo>
                    <a:pt x="5107" y="0"/>
                  </a:lnTo>
                  <a:close/>
                </a:path>
              </a:pathLst>
            </a:custGeom>
            <a:solidFill>
              <a:srgbClr val="D0D0D0"/>
            </a:solidFill>
            <a:ln>
              <a:noFill/>
            </a:ln>
          </p:spPr>
          <p:txBody>
            <a:bodyPr vert="horz" wrap="square" lIns="91440" tIns="45720" rIns="91440" bIns="45720" numCol="1" anchor="t" anchorCtr="0" compatLnSpc="1">
              <a:prstTxWarp prst="textNoShape">
                <a:avLst/>
              </a:prstTxWarp>
            </a:bodyPr>
            <a:lstStyle/>
            <a:p>
              <a:endParaRPr lang="en-NZ"/>
            </a:p>
          </p:txBody>
        </p:sp>
      </p:grpSp>
      <p:sp>
        <p:nvSpPr>
          <p:cNvPr id="10" name="Rectangle 9">
            <a:extLst>
              <a:ext uri="{FF2B5EF4-FFF2-40B4-BE49-F238E27FC236}">
                <a16:creationId xmlns:a16="http://schemas.microsoft.com/office/drawing/2014/main" id="{94D8D036-58EE-08B8-D7E9-9472226DAEDA}"/>
              </a:ext>
            </a:extLst>
          </p:cNvPr>
          <p:cNvSpPr>
            <a:spLocks/>
          </p:cNvSpPr>
          <p:nvPr/>
        </p:nvSpPr>
        <p:spPr>
          <a:xfrm>
            <a:off x="554736" y="5793443"/>
            <a:ext cx="7918704" cy="461665"/>
          </a:xfrm>
          <a:prstGeom prst="rect">
            <a:avLst/>
          </a:prstGeom>
          <a:solidFill>
            <a:srgbClr val="99C4FF">
              <a:alpha val="60000"/>
            </a:srgbClr>
          </a:solidFill>
          <a:ln w="19050" cap="flat">
            <a:solidFill>
              <a:schemeClr val="accent2"/>
            </a:solidFill>
            <a:prstDash val="solid"/>
            <a:miter/>
          </a:ln>
        </p:spPr>
        <p:txBody>
          <a:bodyPr wrap="square" rtlCol="0" anchor="ctr">
            <a:spAutoFit/>
          </a:bodyPr>
          <a:lstStyle/>
          <a:p>
            <a:pPr algn="ctr"/>
            <a:r>
              <a:rPr lang="en-US" sz="1200"/>
              <a:t>We aim at </a:t>
            </a:r>
            <a:r>
              <a:rPr lang="en-US" sz="1200" b="1"/>
              <a:t>synthesizing the AI-driven value creation approach into a Playbook </a:t>
            </a:r>
            <a:r>
              <a:rPr lang="en-US" sz="1200"/>
              <a:t>to efficiently and effectively scale effort across PE funds and their portfolio companies</a:t>
            </a:r>
          </a:p>
        </p:txBody>
      </p:sp>
      <p:sp>
        <p:nvSpPr>
          <p:cNvPr id="14" name="TextBox 13">
            <a:extLst>
              <a:ext uri="{FF2B5EF4-FFF2-40B4-BE49-F238E27FC236}">
                <a16:creationId xmlns:a16="http://schemas.microsoft.com/office/drawing/2014/main" id="{AF150AA9-0CD3-EBF0-CEAE-56EDFF755E54}"/>
              </a:ext>
            </a:extLst>
          </p:cNvPr>
          <p:cNvSpPr txBox="1"/>
          <p:nvPr/>
        </p:nvSpPr>
        <p:spPr>
          <a:xfrm>
            <a:off x="5904733" y="2874060"/>
            <a:ext cx="2540662"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Nova" panose="020B0504020202020204" pitchFamily="34" charset="0"/>
                <a:cs typeface="Arial" panose="020B0604020202020204" pitchFamily="34" charset="0"/>
                <a:sym typeface="Arial Nova" panose="020B05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Nova" panose="020B0504020202020204" pitchFamily="34" charset="0"/>
                <a:sym typeface="Arial Nova" panose="020B05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Nova" panose="020B0504020202020204" pitchFamily="34" charset="0"/>
                <a:sym typeface="Arial Nova" panose="020B05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Nova" panose="020B0504020202020204" pitchFamily="34" charset="0"/>
                <a:sym typeface="Arial Nova" panose="020B05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Nova" panose="020B0504020202020204" pitchFamily="34" charset="0"/>
                <a:sym typeface="Arial Nova" panose="020B05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Manual / traditional approach</a:t>
            </a:r>
          </a:p>
        </p:txBody>
      </p:sp>
      <p:sp>
        <p:nvSpPr>
          <p:cNvPr id="15" name="TextBox 14">
            <a:extLst>
              <a:ext uri="{FF2B5EF4-FFF2-40B4-BE49-F238E27FC236}">
                <a16:creationId xmlns:a16="http://schemas.microsoft.com/office/drawing/2014/main" id="{28AB1908-69B5-46F6-8DFB-47EAE8FA3827}"/>
              </a:ext>
            </a:extLst>
          </p:cNvPr>
          <p:cNvSpPr txBox="1"/>
          <p:nvPr/>
        </p:nvSpPr>
        <p:spPr>
          <a:xfrm>
            <a:off x="5939621" y="5141763"/>
            <a:ext cx="2034280" cy="138499"/>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900" i="1">
                <a:solidFill>
                  <a:schemeClr val="accent1"/>
                </a:solidFill>
                <a:latin typeface="Arial Nova" panose="020B0504020202020204" pitchFamily="34" charset="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latin typeface="Arial Nova" panose="020B05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atin typeface="Arial Nova" panose="020B05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atin typeface="Arial Nova" panose="020B05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atin typeface="Arial Nova" panose="020B05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chemeClr val="tx1"/>
                </a:solidFill>
              </a:rPr>
              <a:t>AI/Agentic-led approach</a:t>
            </a:r>
          </a:p>
        </p:txBody>
      </p:sp>
      <p:pic>
        <p:nvPicPr>
          <p:cNvPr id="22" name="CustomIcon">
            <a:extLst>
              <a:ext uri="{FF2B5EF4-FFF2-40B4-BE49-F238E27FC236}">
                <a16:creationId xmlns:a16="http://schemas.microsoft.com/office/drawing/2014/main" id="{9FC6E0C4-33AE-B420-4798-EC334C9E9411}"/>
              </a:ext>
            </a:extLst>
          </p:cNvPr>
          <p:cNvPicPr>
            <a:picLocks noChangeAspect="1"/>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5496439" y="4945012"/>
            <a:ext cx="360520" cy="360520"/>
          </a:xfrm>
          <a:prstGeom prst="rect">
            <a:avLst/>
          </a:prstGeom>
        </p:spPr>
      </p:pic>
      <p:cxnSp>
        <p:nvCxnSpPr>
          <p:cNvPr id="23" name="GreyLineSeparatorStrong 23">
            <a:extLst>
              <a:ext uri="{FF2B5EF4-FFF2-40B4-BE49-F238E27FC236}">
                <a16:creationId xmlns:a16="http://schemas.microsoft.com/office/drawing/2014/main" id="{E91D27B6-A185-1A15-446C-2269578A0FCA}"/>
              </a:ext>
            </a:extLst>
          </p:cNvPr>
          <p:cNvCxnSpPr>
            <a:cxnSpLocks/>
          </p:cNvCxnSpPr>
          <p:nvPr>
            <p:custDataLst>
              <p:tags r:id="rId6"/>
            </p:custDataLst>
          </p:nvPr>
        </p:nvCxnSpPr>
        <p:spPr>
          <a:xfrm>
            <a:off x="3954098" y="3509879"/>
            <a:ext cx="4491297" cy="0"/>
          </a:xfrm>
          <a:prstGeom prst="straightConnector1">
            <a:avLst/>
          </a:prstGeom>
          <a:ln w="6350" cap="flat">
            <a:solidFill>
              <a:srgbClr val="E6E6E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Arrow: Right 4">
            <a:extLst>
              <a:ext uri="{FF2B5EF4-FFF2-40B4-BE49-F238E27FC236}">
                <a16:creationId xmlns:a16="http://schemas.microsoft.com/office/drawing/2014/main" id="{0B6E281F-4F8B-BD8F-6C80-7C314B9D410E}"/>
              </a:ext>
            </a:extLst>
          </p:cNvPr>
          <p:cNvSpPr/>
          <p:nvPr/>
        </p:nvSpPr>
        <p:spPr>
          <a:xfrm rot="5400000">
            <a:off x="6388342" y="3067106"/>
            <a:ext cx="474864" cy="872068"/>
          </a:xfrm>
          <a:prstGeom prs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3" name="TextBox 32">
            <a:extLst>
              <a:ext uri="{FF2B5EF4-FFF2-40B4-BE49-F238E27FC236}">
                <a16:creationId xmlns:a16="http://schemas.microsoft.com/office/drawing/2014/main" id="{0E43A95D-E8FE-ADD8-A0CD-ABBC87CBD674}"/>
              </a:ext>
            </a:extLst>
          </p:cNvPr>
          <p:cNvSpPr txBox="1"/>
          <p:nvPr/>
        </p:nvSpPr>
        <p:spPr>
          <a:xfrm>
            <a:off x="9116813" y="1264434"/>
            <a:ext cx="2809490"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t>Why is this important?</a:t>
            </a:r>
          </a:p>
        </p:txBody>
      </p:sp>
      <p:sp>
        <p:nvSpPr>
          <p:cNvPr id="34" name="TextBox 33">
            <a:extLst>
              <a:ext uri="{FF2B5EF4-FFF2-40B4-BE49-F238E27FC236}">
                <a16:creationId xmlns:a16="http://schemas.microsoft.com/office/drawing/2014/main" id="{B3CF8841-A3B5-2C73-2BCE-0DC54DA25D43}"/>
              </a:ext>
            </a:extLst>
          </p:cNvPr>
          <p:cNvSpPr txBox="1"/>
          <p:nvPr/>
        </p:nvSpPr>
        <p:spPr>
          <a:xfrm>
            <a:off x="9116813" y="1896102"/>
            <a:ext cx="2809490" cy="136960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Potential to </a:t>
            </a:r>
            <a:r>
              <a:rPr lang="en-US" sz="1400" b="1"/>
              <a:t>replicate this value creation effort with most of KKR’s 50+ portfolio companies in Americas </a:t>
            </a:r>
          </a:p>
          <a:p>
            <a:r>
              <a:rPr lang="en-US" sz="1400"/>
              <a:t>Also, the </a:t>
            </a:r>
            <a:r>
              <a:rPr lang="en-US" sz="1400" b="1"/>
              <a:t>Playbook can be expanded to other PE funds</a:t>
            </a:r>
          </a:p>
        </p:txBody>
      </p:sp>
      <p:cxnSp>
        <p:nvCxnSpPr>
          <p:cNvPr id="35" name="LineBasicDefault 43">
            <a:extLst>
              <a:ext uri="{FF2B5EF4-FFF2-40B4-BE49-F238E27FC236}">
                <a16:creationId xmlns:a16="http://schemas.microsoft.com/office/drawing/2014/main" id="{C17B43B1-4EE6-35F9-B326-17D6E6E4E523}"/>
              </a:ext>
            </a:extLst>
          </p:cNvPr>
          <p:cNvCxnSpPr>
            <a:cxnSpLocks/>
          </p:cNvCxnSpPr>
          <p:nvPr>
            <p:custDataLst>
              <p:tags r:id="rId7"/>
            </p:custDataLst>
          </p:nvPr>
        </p:nvCxnSpPr>
        <p:spPr>
          <a:xfrm>
            <a:off x="9115810" y="1563019"/>
            <a:ext cx="2676140" cy="0"/>
          </a:xfrm>
          <a:prstGeom prst="straightConnector1">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57" name="CustomIcon">
            <a:extLst>
              <a:ext uri="{FF2B5EF4-FFF2-40B4-BE49-F238E27FC236}">
                <a16:creationId xmlns:a16="http://schemas.microsoft.com/office/drawing/2014/main" id="{F142B577-2C22-D1BB-A1AD-C1C2969A6080}"/>
              </a:ext>
            </a:extLst>
          </p:cNvPr>
          <p:cNvPicPr>
            <a:picLocks noChangeAspect="1"/>
          </p:cNvPicPr>
          <p:nvPr>
            <p:custDataLst>
              <p:tags r:id="rId8"/>
            </p:custDataLst>
          </p:nvPr>
        </p:nvPicPr>
        <p:blipFill>
          <a:blip>
            <a:extLst>
              <a:ext uri="{96DAC541-7B7A-43D3-8B79-37D633B846F1}">
                <asvg:svgBlip xmlns:asvg="http://schemas.microsoft.com/office/drawing/2016/SVG/main" r:embed="rId13"/>
              </a:ext>
            </a:extLst>
          </a:blip>
          <a:stretch>
            <a:fillRect/>
          </a:stretch>
        </p:blipFill>
        <p:spPr>
          <a:xfrm>
            <a:off x="5498494" y="2708694"/>
            <a:ext cx="358465" cy="358465"/>
          </a:xfrm>
          <a:prstGeom prst="rect">
            <a:avLst/>
          </a:prstGeom>
        </p:spPr>
      </p:pic>
    </p:spTree>
    <p:extLst>
      <p:ext uri="{BB962C8B-B14F-4D97-AF65-F5344CB8AC3E}">
        <p14:creationId xmlns:p14="http://schemas.microsoft.com/office/powerpoint/2010/main" val="3525875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hidden="1">
            <a:extLst>
              <a:ext uri="{FF2B5EF4-FFF2-40B4-BE49-F238E27FC236}">
                <a16:creationId xmlns:a16="http://schemas.microsoft.com/office/drawing/2014/main" id="{E7164A9B-25B1-43D7-B9DD-7AC277CDD88D}"/>
              </a:ext>
            </a:extLst>
          </p:cNvPr>
          <p:cNvGraphicFramePr>
            <a:graphicFrameLocks noChangeAspect="1"/>
          </p:cNvGraphicFramePr>
          <p:nvPr>
            <p:custDataLst>
              <p:tags r:id="rId1"/>
            </p:custDataLst>
            <p:extLst>
              <p:ext uri="{D42A27DB-BD31-4B8C-83A1-F6EECF244321}">
                <p14:modId xmlns:p14="http://schemas.microsoft.com/office/powerpoint/2010/main" val="3424079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592" imgH="591" progId="TCLayout.ActiveDocument.1">
                  <p:embed/>
                </p:oleObj>
              </mc:Choice>
              <mc:Fallback>
                <p:oleObj name="think-cell Slide" r:id="rId24" imgW="592" imgH="591" progId="TCLayout.ActiveDocument.1">
                  <p:embed/>
                  <p:pic>
                    <p:nvPicPr>
                      <p:cNvPr id="7" name="Object 2" hidden="1">
                        <a:extLst>
                          <a:ext uri="{FF2B5EF4-FFF2-40B4-BE49-F238E27FC236}">
                            <a16:creationId xmlns:a16="http://schemas.microsoft.com/office/drawing/2014/main" id="{E7164A9B-25B1-43D7-B9DD-7AC277CDD88D}"/>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EC45AECE-2E53-414B-9D2D-EE7DF52DA3F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en-US" sz="2500" b="1" err="1">
              <a:solidFill>
                <a:schemeClr val="bg1"/>
              </a:solidFill>
              <a:latin typeface="Georgia" panose="02040502050405020303" pitchFamily="18" charset="0"/>
              <a:ea typeface="+mj-ea"/>
              <a:cs typeface="+mj-cs"/>
              <a:sym typeface="Georgia" panose="02040502050405020303" pitchFamily="18" charset="0"/>
            </a:endParaRPr>
          </a:p>
        </p:txBody>
      </p:sp>
      <p:sp>
        <p:nvSpPr>
          <p:cNvPr id="6" name="2. Slide Title">
            <a:extLst>
              <a:ext uri="{FF2B5EF4-FFF2-40B4-BE49-F238E27FC236}">
                <a16:creationId xmlns:a16="http://schemas.microsoft.com/office/drawing/2014/main" id="{015E69FB-49E9-4802-8601-954D7DA0143E}"/>
              </a:ext>
            </a:extLst>
          </p:cNvPr>
          <p:cNvSpPr>
            <a:spLocks noGrp="1"/>
          </p:cNvSpPr>
          <p:nvPr>
            <p:ph type="title"/>
            <p:custDataLst>
              <p:tags r:id="rId3"/>
            </p:custDataLst>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NZ"/>
              <a:t>1. Our hypothesis on new capabilities we will build / further develop</a:t>
            </a:r>
            <a:endParaRPr lang="en-US"/>
          </a:p>
        </p:txBody>
      </p:sp>
      <p:sp>
        <p:nvSpPr>
          <p:cNvPr id="126" name="TextBox 125">
            <a:extLst>
              <a:ext uri="{FF2B5EF4-FFF2-40B4-BE49-F238E27FC236}">
                <a16:creationId xmlns:a16="http://schemas.microsoft.com/office/drawing/2014/main" id="{F50B7D15-F5D4-4C2F-A769-5F0DCE06837B}"/>
              </a:ext>
            </a:extLst>
          </p:cNvPr>
          <p:cNvSpPr txBox="1"/>
          <p:nvPr/>
        </p:nvSpPr>
        <p:spPr>
          <a:xfrm>
            <a:off x="554736" y="2423903"/>
            <a:ext cx="1729719" cy="240579"/>
          </a:xfrm>
          <a:prstGeom prst="rect">
            <a:avLst/>
          </a:prstGeom>
          <a:ln w="6350">
            <a:noFill/>
            <a:miter lim="800000"/>
          </a:ln>
        </p:spPr>
        <p:txBody>
          <a:bodyPr vert="horz" wrap="square" lIns="0" tIns="0" rIns="0" bIns="0" rtlCol="0">
            <a:spAutoFit/>
          </a:bodyPr>
          <a:lstStyle/>
          <a:p>
            <a:pPr defTabSz="914354">
              <a:lnSpc>
                <a:spcPct val="105000"/>
              </a:lnSpc>
              <a:spcBef>
                <a:spcPts val="300"/>
              </a:spcBef>
              <a:spcAft>
                <a:spcPts val="600"/>
              </a:spcAft>
              <a:defRPr/>
            </a:pPr>
            <a:r>
              <a:rPr lang="en-US" sz="1600" b="1">
                <a:cs typeface="Arial" panose="020B0604020202020204" pitchFamily="34" charset="0"/>
              </a:rPr>
              <a:t>What Agents do</a:t>
            </a:r>
          </a:p>
        </p:txBody>
      </p:sp>
      <p:sp>
        <p:nvSpPr>
          <p:cNvPr id="11" name="TextBox 10">
            <a:extLst>
              <a:ext uri="{FF2B5EF4-FFF2-40B4-BE49-F238E27FC236}">
                <a16:creationId xmlns:a16="http://schemas.microsoft.com/office/drawing/2014/main" id="{5E512F0E-A045-54AF-E1A0-5751E9612CF4}"/>
              </a:ext>
            </a:extLst>
          </p:cNvPr>
          <p:cNvSpPr txBox="1"/>
          <p:nvPr/>
        </p:nvSpPr>
        <p:spPr>
          <a:xfrm>
            <a:off x="554736" y="4718858"/>
            <a:ext cx="1729719" cy="499111"/>
          </a:xfrm>
          <a:prstGeom prst="rect">
            <a:avLst/>
          </a:prstGeom>
          <a:ln w="6350">
            <a:noFill/>
            <a:miter lim="800000"/>
          </a:ln>
        </p:spPr>
        <p:txBody>
          <a:bodyPr vert="horz" wrap="square" lIns="0" tIns="0" rIns="0" bIns="0" rtlCol="0">
            <a:spAutoFit/>
          </a:bodyPr>
          <a:lstStyle/>
          <a:p>
            <a:pPr defTabSz="914354">
              <a:lnSpc>
                <a:spcPct val="105000"/>
              </a:lnSpc>
              <a:spcBef>
                <a:spcPts val="300"/>
              </a:spcBef>
              <a:spcAft>
                <a:spcPts val="600"/>
              </a:spcAft>
              <a:defRPr/>
            </a:pPr>
            <a:r>
              <a:rPr lang="en-US" sz="1600" b="1">
                <a:cs typeface="Arial" panose="020B0604020202020204" pitchFamily="34" charset="0"/>
              </a:rPr>
              <a:t>What team members do</a:t>
            </a:r>
          </a:p>
        </p:txBody>
      </p:sp>
      <p:cxnSp>
        <p:nvCxnSpPr>
          <p:cNvPr id="12" name="GreyLineSeparatorStrong 12">
            <a:extLst>
              <a:ext uri="{FF2B5EF4-FFF2-40B4-BE49-F238E27FC236}">
                <a16:creationId xmlns:a16="http://schemas.microsoft.com/office/drawing/2014/main" id="{F1F8BEC4-6DED-6F40-B260-1C866096FABA}"/>
              </a:ext>
            </a:extLst>
          </p:cNvPr>
          <p:cNvCxnSpPr/>
          <p:nvPr>
            <p:custDataLst>
              <p:tags r:id="rId4"/>
            </p:custDataLst>
          </p:nvPr>
        </p:nvCxnSpPr>
        <p:spPr>
          <a:xfrm>
            <a:off x="554736" y="4650697"/>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7" name="CustomIcon">
            <a:extLst>
              <a:ext uri="{FF2B5EF4-FFF2-40B4-BE49-F238E27FC236}">
                <a16:creationId xmlns:a16="http://schemas.microsoft.com/office/drawing/2014/main" id="{DF4E0A15-D528-ABA6-A173-54F786D742BC}"/>
              </a:ext>
            </a:extLst>
          </p:cNvPr>
          <p:cNvGrpSpPr>
            <a:grpSpLocks noChangeAspect="1"/>
          </p:cNvGrpSpPr>
          <p:nvPr>
            <p:custDataLst>
              <p:tags r:id="rId5"/>
            </p:custDataLst>
          </p:nvPr>
        </p:nvGrpSpPr>
        <p:grpSpPr>
          <a:xfrm>
            <a:off x="554736" y="2782406"/>
            <a:ext cx="697842" cy="697842"/>
            <a:chOff x="-205105" y="-205105"/>
            <a:chExt cx="1019810" cy="1019810"/>
          </a:xfrm>
        </p:grpSpPr>
        <p:sp>
          <p:nvSpPr>
            <p:cNvPr id="14" name="Oval 13">
              <a:extLst>
                <a:ext uri="{FF2B5EF4-FFF2-40B4-BE49-F238E27FC236}">
                  <a16:creationId xmlns:a16="http://schemas.microsoft.com/office/drawing/2014/main" id="{CA4FC32D-EB97-54B2-5B38-630752B760BC}"/>
                </a:ext>
              </a:extLst>
            </p:cNvPr>
            <p:cNvSpPr>
              <a:spLocks noChangeAspect="1"/>
            </p:cNvSpPr>
            <p:nvPr/>
          </p:nvSpPr>
          <p:spPr>
            <a:xfrm>
              <a:off x="-205105" y="-205105"/>
              <a:ext cx="1019810" cy="101981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6" name="Graphic 15">
              <a:extLst>
                <a:ext uri="{FF2B5EF4-FFF2-40B4-BE49-F238E27FC236}">
                  <a16:creationId xmlns:a16="http://schemas.microsoft.com/office/drawing/2014/main" id="{3B5D6C4C-EAE0-2E60-B926-293B55EF1F9E}"/>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 y="7417"/>
              <a:ext cx="609600" cy="609600"/>
            </a:xfrm>
            <a:prstGeom prst="rect">
              <a:avLst/>
            </a:prstGeom>
          </p:spPr>
        </p:pic>
      </p:grpSp>
      <p:grpSp>
        <p:nvGrpSpPr>
          <p:cNvPr id="23" name="CustomIcon">
            <a:extLst>
              <a:ext uri="{FF2B5EF4-FFF2-40B4-BE49-F238E27FC236}">
                <a16:creationId xmlns:a16="http://schemas.microsoft.com/office/drawing/2014/main" id="{5D66C06D-567D-26D0-9DB3-C12D6AB0575F}"/>
              </a:ext>
            </a:extLst>
          </p:cNvPr>
          <p:cNvGrpSpPr>
            <a:grpSpLocks noChangeAspect="1"/>
          </p:cNvGrpSpPr>
          <p:nvPr>
            <p:custDataLst>
              <p:tags r:id="rId6"/>
            </p:custDataLst>
          </p:nvPr>
        </p:nvGrpSpPr>
        <p:grpSpPr>
          <a:xfrm>
            <a:off x="493395" y="5286129"/>
            <a:ext cx="697842" cy="697842"/>
            <a:chOff x="-205105" y="-205105"/>
            <a:chExt cx="1019810" cy="1019810"/>
          </a:xfrm>
        </p:grpSpPr>
        <p:sp>
          <p:nvSpPr>
            <p:cNvPr id="18" name="Oval 17">
              <a:extLst>
                <a:ext uri="{FF2B5EF4-FFF2-40B4-BE49-F238E27FC236}">
                  <a16:creationId xmlns:a16="http://schemas.microsoft.com/office/drawing/2014/main" id="{08DE7E88-831D-0467-E081-7D8D71E513A6}"/>
                </a:ext>
              </a:extLst>
            </p:cNvPr>
            <p:cNvSpPr>
              <a:spLocks noChangeAspect="1"/>
            </p:cNvSpPr>
            <p:nvPr/>
          </p:nvSpPr>
          <p:spPr>
            <a:xfrm>
              <a:off x="-205105" y="-205105"/>
              <a:ext cx="1019810" cy="101981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0" name="Graphic 19">
              <a:extLst>
                <a:ext uri="{FF2B5EF4-FFF2-40B4-BE49-F238E27FC236}">
                  <a16:creationId xmlns:a16="http://schemas.microsoft.com/office/drawing/2014/main" id="{1D123BD1-108D-1909-70BC-BFAA4D65AB9A}"/>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 y="-36746"/>
              <a:ext cx="609600" cy="609600"/>
            </a:xfrm>
            <a:prstGeom prst="rect">
              <a:avLst/>
            </a:prstGeom>
          </p:spPr>
        </p:pic>
      </p:grpSp>
      <p:sp>
        <p:nvSpPr>
          <p:cNvPr id="27" name="3. Subtitle">
            <a:extLst>
              <a:ext uri="{FF2B5EF4-FFF2-40B4-BE49-F238E27FC236}">
                <a16:creationId xmlns:a16="http://schemas.microsoft.com/office/drawing/2014/main" id="{DE71F50C-2692-2875-E940-65D77FDEDADA}"/>
              </a:ext>
            </a:extLst>
          </p:cNvPr>
          <p:cNvSpPr>
            <a:spLocks noGrp="1"/>
          </p:cNvSpPr>
          <p:nvPr>
            <p:ph type="subTitle" idx="1"/>
            <p:custDataLst>
              <p:tags r:id="rId7"/>
            </p:custDataLst>
          </p:nvPr>
        </p:nvSpPr>
        <p:spPr>
          <a:xfrm>
            <a:off x="554736" y="903861"/>
            <a:ext cx="11082528" cy="246221"/>
          </a:xfrm>
        </p:spPr>
        <p:txBody>
          <a:bodyPr/>
          <a:lstStyle/>
          <a:p>
            <a:r>
              <a:rPr lang="en-NZ"/>
              <a:t>High-level overview of AI Agents and human team member responsibilities across Diagnostic and Design phases</a:t>
            </a:r>
          </a:p>
        </p:txBody>
      </p:sp>
      <p:grpSp>
        <p:nvGrpSpPr>
          <p:cNvPr id="30" name="Group 29">
            <a:extLst>
              <a:ext uri="{FF2B5EF4-FFF2-40B4-BE49-F238E27FC236}">
                <a16:creationId xmlns:a16="http://schemas.microsoft.com/office/drawing/2014/main" id="{A1AC673D-2601-0D46-FDBD-D01D5DC4B6BD}"/>
              </a:ext>
            </a:extLst>
          </p:cNvPr>
          <p:cNvGrpSpPr/>
          <p:nvPr/>
        </p:nvGrpSpPr>
        <p:grpSpPr>
          <a:xfrm>
            <a:off x="2529333" y="1883943"/>
            <a:ext cx="9107931" cy="438921"/>
            <a:chOff x="2529333" y="1498936"/>
            <a:chExt cx="10146428" cy="438921"/>
          </a:xfrm>
        </p:grpSpPr>
        <p:sp>
          <p:nvSpPr>
            <p:cNvPr id="2" name="Arrow: Pentagon 1">
              <a:extLst>
                <a:ext uri="{FF2B5EF4-FFF2-40B4-BE49-F238E27FC236}">
                  <a16:creationId xmlns:a16="http://schemas.microsoft.com/office/drawing/2014/main" id="{F10F25DA-5AD7-604B-45A9-3CE3BB8D0D7F}"/>
                </a:ext>
              </a:extLst>
            </p:cNvPr>
            <p:cNvSpPr/>
            <p:nvPr/>
          </p:nvSpPr>
          <p:spPr>
            <a:xfrm>
              <a:off x="2529333" y="1501629"/>
              <a:ext cx="2621507" cy="436228"/>
            </a:xfrm>
            <a:prstGeom prst="homePlat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Current-state workflow &amp; pain points</a:t>
              </a:r>
            </a:p>
          </p:txBody>
        </p:sp>
        <p:sp>
          <p:nvSpPr>
            <p:cNvPr id="3" name="Arrow: Chevron 2">
              <a:extLst>
                <a:ext uri="{FF2B5EF4-FFF2-40B4-BE49-F238E27FC236}">
                  <a16:creationId xmlns:a16="http://schemas.microsoft.com/office/drawing/2014/main" id="{7F34B7AC-BCDB-2A10-7BAE-F7AF8A9CD268}"/>
                </a:ext>
              </a:extLst>
            </p:cNvPr>
            <p:cNvSpPr/>
            <p:nvPr/>
          </p:nvSpPr>
          <p:spPr>
            <a:xfrm>
              <a:off x="5037640" y="1498936"/>
              <a:ext cx="2621507" cy="436228"/>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Improvement levers identification</a:t>
              </a:r>
            </a:p>
          </p:txBody>
        </p:sp>
        <p:sp>
          <p:nvSpPr>
            <p:cNvPr id="28" name="Arrow: Chevron 27">
              <a:extLst>
                <a:ext uri="{FF2B5EF4-FFF2-40B4-BE49-F238E27FC236}">
                  <a16:creationId xmlns:a16="http://schemas.microsoft.com/office/drawing/2014/main" id="{B1321D80-CC42-369F-C79A-B0AAA4D1861F}"/>
                </a:ext>
              </a:extLst>
            </p:cNvPr>
            <p:cNvSpPr/>
            <p:nvPr/>
          </p:nvSpPr>
          <p:spPr>
            <a:xfrm>
              <a:off x="7545947" y="1498936"/>
              <a:ext cx="2621507" cy="436228"/>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Value estimation and initiative prioritization</a:t>
              </a:r>
            </a:p>
          </p:txBody>
        </p:sp>
        <p:sp>
          <p:nvSpPr>
            <p:cNvPr id="29" name="Arrow: Chevron 28">
              <a:extLst>
                <a:ext uri="{FF2B5EF4-FFF2-40B4-BE49-F238E27FC236}">
                  <a16:creationId xmlns:a16="http://schemas.microsoft.com/office/drawing/2014/main" id="{3FDEBCA7-5F12-FBFA-C9DA-DE4CDAB2A51F}"/>
                </a:ext>
              </a:extLst>
            </p:cNvPr>
            <p:cNvSpPr/>
            <p:nvPr/>
          </p:nvSpPr>
          <p:spPr>
            <a:xfrm>
              <a:off x="10054254" y="1498936"/>
              <a:ext cx="2621507" cy="436228"/>
            </a:xfrm>
            <a:prstGeom prst="chevron">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Business Requirements definition</a:t>
              </a:r>
            </a:p>
          </p:txBody>
        </p:sp>
      </p:grpSp>
      <p:sp>
        <p:nvSpPr>
          <p:cNvPr id="39" name="Rectangle: Rounded Corners 38">
            <a:extLst>
              <a:ext uri="{FF2B5EF4-FFF2-40B4-BE49-F238E27FC236}">
                <a16:creationId xmlns:a16="http://schemas.microsoft.com/office/drawing/2014/main" id="{41B2BEA5-2EBD-D07A-C553-7C7F760E0C00}"/>
              </a:ext>
            </a:extLst>
          </p:cNvPr>
          <p:cNvSpPr/>
          <p:nvPr/>
        </p:nvSpPr>
        <p:spPr>
          <a:xfrm>
            <a:off x="2529333" y="2515321"/>
            <a:ext cx="2251579"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42" name="TextBox 41">
            <a:extLst>
              <a:ext uri="{FF2B5EF4-FFF2-40B4-BE49-F238E27FC236}">
                <a16:creationId xmlns:a16="http://schemas.microsoft.com/office/drawing/2014/main" id="{00F9A39E-35DB-F8EB-43A9-269C026F08E8}"/>
              </a:ext>
            </a:extLst>
          </p:cNvPr>
          <p:cNvSpPr txBox="1">
            <a:spLocks/>
          </p:cNvSpPr>
          <p:nvPr/>
        </p:nvSpPr>
        <p:spPr>
          <a:xfrm>
            <a:off x="2799958" y="2660907"/>
            <a:ext cx="1766398"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0" cap="none" spc="0" normalizeH="0" baseline="0" noProof="0">
                <a:ln>
                  <a:noFill/>
                </a:ln>
                <a:solidFill>
                  <a:srgbClr val="000000"/>
                </a:solidFill>
                <a:effectLst/>
                <a:uLnTx/>
                <a:uFillTx/>
                <a:cs typeface="Arial" panose="020B0604020202020204" pitchFamily="34" charset="0"/>
              </a:rPr>
              <a:t>GenAI-powered </a:t>
            </a:r>
            <a:r>
              <a:rPr kumimoji="0" lang="en-US" sz="900" b="1" i="0" u="none" strike="noStrike" kern="0" cap="none" spc="0" normalizeH="0" baseline="0" noProof="0">
                <a:ln>
                  <a:noFill/>
                </a:ln>
                <a:solidFill>
                  <a:srgbClr val="000000"/>
                </a:solidFill>
                <a:effectLst/>
                <a:uLnTx/>
                <a:uFillTx/>
                <a:cs typeface="Arial" panose="020B0604020202020204" pitchFamily="34" charset="0"/>
              </a:rPr>
              <a:t>interview guides creation</a:t>
            </a:r>
          </a:p>
        </p:txBody>
      </p:sp>
      <p:sp>
        <p:nvSpPr>
          <p:cNvPr id="43" name="TrackerNumBlue 82">
            <a:extLst>
              <a:ext uri="{FF2B5EF4-FFF2-40B4-BE49-F238E27FC236}">
                <a16:creationId xmlns:a16="http://schemas.microsoft.com/office/drawing/2014/main" id="{D4863E1D-4817-F3D9-0673-5A93E50F0E8C}"/>
              </a:ext>
            </a:extLst>
          </p:cNvPr>
          <p:cNvSpPr>
            <a:spLocks/>
          </p:cNvSpPr>
          <p:nvPr>
            <p:custDataLst>
              <p:tags r:id="rId8"/>
            </p:custDataLst>
          </p:nvPr>
        </p:nvSpPr>
        <p:spPr>
          <a:xfrm>
            <a:off x="2579241" y="2692171"/>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1</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50" name="Rectangle: Rounded Corners 49">
            <a:extLst>
              <a:ext uri="{FF2B5EF4-FFF2-40B4-BE49-F238E27FC236}">
                <a16:creationId xmlns:a16="http://schemas.microsoft.com/office/drawing/2014/main" id="{1D5FA562-F722-6F5A-767C-46A606678084}"/>
              </a:ext>
            </a:extLst>
          </p:cNvPr>
          <p:cNvSpPr/>
          <p:nvPr/>
        </p:nvSpPr>
        <p:spPr>
          <a:xfrm>
            <a:off x="2529333" y="3160539"/>
            <a:ext cx="2251579"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51" name="TextBox 50">
            <a:extLst>
              <a:ext uri="{FF2B5EF4-FFF2-40B4-BE49-F238E27FC236}">
                <a16:creationId xmlns:a16="http://schemas.microsoft.com/office/drawing/2014/main" id="{B3C4DBAD-6121-DC87-66DD-8CECF75BD9C4}"/>
              </a:ext>
            </a:extLst>
          </p:cNvPr>
          <p:cNvSpPr txBox="1">
            <a:spLocks/>
          </p:cNvSpPr>
          <p:nvPr/>
        </p:nvSpPr>
        <p:spPr>
          <a:xfrm>
            <a:off x="2804161" y="3250041"/>
            <a:ext cx="1884518"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00" b="1" kern="0" err="1">
                <a:solidFill>
                  <a:srgbClr val="000000"/>
                </a:solidFill>
              </a:rPr>
              <a:t>ProcessAI</a:t>
            </a:r>
            <a:r>
              <a:rPr lang="en-US" sz="900" b="1" kern="0">
                <a:solidFill>
                  <a:srgbClr val="000000"/>
                </a:solidFill>
              </a:rPr>
              <a:t>-powered</a:t>
            </a:r>
            <a:r>
              <a:rPr kumimoji="0" lang="en-US" sz="900" b="1" i="0" u="none" strike="noStrike" kern="0" cap="none" spc="0" normalizeH="0" baseline="0" noProof="0">
                <a:ln>
                  <a:noFill/>
                </a:ln>
                <a:solidFill>
                  <a:srgbClr val="000000"/>
                </a:solidFill>
                <a:effectLst/>
                <a:uLnTx/>
                <a:uFillTx/>
                <a:cs typeface="Arial" panose="020B0604020202020204" pitchFamily="34" charset="0"/>
              </a:rPr>
              <a:t> conversion of interview notes to workflows </a:t>
            </a:r>
            <a:r>
              <a:rPr kumimoji="0" lang="en-US" sz="900" b="0" i="0" u="none" strike="noStrike" kern="0" cap="none" spc="0" normalizeH="0" baseline="0" noProof="0">
                <a:ln>
                  <a:noFill/>
                </a:ln>
                <a:solidFill>
                  <a:srgbClr val="000000"/>
                </a:solidFill>
                <a:effectLst/>
                <a:uLnTx/>
                <a:uFillTx/>
                <a:cs typeface="Arial" panose="020B0604020202020204" pitchFamily="34" charset="0"/>
              </a:rPr>
              <a:t>(handoffs, pain points, opportunities)</a:t>
            </a:r>
          </a:p>
        </p:txBody>
      </p:sp>
      <p:sp>
        <p:nvSpPr>
          <p:cNvPr id="52" name="TrackerNumBlue 82">
            <a:extLst>
              <a:ext uri="{FF2B5EF4-FFF2-40B4-BE49-F238E27FC236}">
                <a16:creationId xmlns:a16="http://schemas.microsoft.com/office/drawing/2014/main" id="{6A095D6C-90BE-A7BC-08F6-350B9F64CF26}"/>
              </a:ext>
            </a:extLst>
          </p:cNvPr>
          <p:cNvSpPr>
            <a:spLocks/>
          </p:cNvSpPr>
          <p:nvPr>
            <p:custDataLst>
              <p:tags r:id="rId9"/>
            </p:custDataLst>
          </p:nvPr>
        </p:nvSpPr>
        <p:spPr>
          <a:xfrm>
            <a:off x="2579241" y="3337389"/>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ea typeface="+mn-ea"/>
                <a:cs typeface="+mn-cs"/>
              </a:rPr>
              <a:t>2</a:t>
            </a:r>
          </a:p>
        </p:txBody>
      </p:sp>
      <p:sp>
        <p:nvSpPr>
          <p:cNvPr id="56" name="Rectangle: Rounded Corners 55">
            <a:extLst>
              <a:ext uri="{FF2B5EF4-FFF2-40B4-BE49-F238E27FC236}">
                <a16:creationId xmlns:a16="http://schemas.microsoft.com/office/drawing/2014/main" id="{AA693FFF-CA94-E8D3-0E7E-6F8051C60504}"/>
              </a:ext>
            </a:extLst>
          </p:cNvPr>
          <p:cNvSpPr/>
          <p:nvPr/>
        </p:nvSpPr>
        <p:spPr>
          <a:xfrm>
            <a:off x="4890569" y="2515321"/>
            <a:ext cx="2141924"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57" name="TextBox 56">
            <a:extLst>
              <a:ext uri="{FF2B5EF4-FFF2-40B4-BE49-F238E27FC236}">
                <a16:creationId xmlns:a16="http://schemas.microsoft.com/office/drawing/2014/main" id="{391BD594-B3D6-2189-AF19-DD445827B2D5}"/>
              </a:ext>
            </a:extLst>
          </p:cNvPr>
          <p:cNvSpPr txBox="1">
            <a:spLocks/>
          </p:cNvSpPr>
          <p:nvPr/>
        </p:nvSpPr>
        <p:spPr>
          <a:xfrm>
            <a:off x="5275052" y="2616292"/>
            <a:ext cx="1613511"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0" cap="none" spc="0" normalizeH="0" baseline="0" noProof="0">
                <a:ln>
                  <a:noFill/>
                </a:ln>
                <a:solidFill>
                  <a:srgbClr val="000000"/>
                </a:solidFill>
                <a:effectLst/>
                <a:uLnTx/>
                <a:uFillTx/>
                <a:cs typeface="Arial" panose="020B0604020202020204" pitchFamily="34" charset="0"/>
              </a:rPr>
              <a:t>GenAI-driven </a:t>
            </a:r>
            <a:r>
              <a:rPr kumimoji="0" lang="en-US" sz="900" b="1" i="0" u="none" strike="noStrike" kern="0" cap="none" spc="0" normalizeH="0" baseline="0" noProof="0">
                <a:ln>
                  <a:noFill/>
                </a:ln>
                <a:solidFill>
                  <a:srgbClr val="000000"/>
                </a:solidFill>
                <a:effectLst/>
                <a:uLnTx/>
                <a:uFillTx/>
                <a:cs typeface="Arial" panose="020B0604020202020204" pitchFamily="34" charset="0"/>
              </a:rPr>
              <a:t>brainstorming of potential improvement levers / initiatives </a:t>
            </a:r>
          </a:p>
        </p:txBody>
      </p:sp>
      <p:sp>
        <p:nvSpPr>
          <p:cNvPr id="58" name="TrackerNumBlue 82">
            <a:extLst>
              <a:ext uri="{FF2B5EF4-FFF2-40B4-BE49-F238E27FC236}">
                <a16:creationId xmlns:a16="http://schemas.microsoft.com/office/drawing/2014/main" id="{367AD1AC-365E-CE16-9BFA-A3D8FD95E1D1}"/>
              </a:ext>
            </a:extLst>
          </p:cNvPr>
          <p:cNvSpPr>
            <a:spLocks/>
          </p:cNvSpPr>
          <p:nvPr>
            <p:custDataLst>
              <p:tags r:id="rId10"/>
            </p:custDataLst>
          </p:nvPr>
        </p:nvSpPr>
        <p:spPr>
          <a:xfrm>
            <a:off x="4964228" y="2692171"/>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4</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59" name="Rectangle: Rounded Corners 58">
            <a:extLst>
              <a:ext uri="{FF2B5EF4-FFF2-40B4-BE49-F238E27FC236}">
                <a16:creationId xmlns:a16="http://schemas.microsoft.com/office/drawing/2014/main" id="{57A74452-0B8B-63F8-C629-7CA4FC4849F2}"/>
              </a:ext>
            </a:extLst>
          </p:cNvPr>
          <p:cNvSpPr/>
          <p:nvPr/>
        </p:nvSpPr>
        <p:spPr>
          <a:xfrm>
            <a:off x="7142149" y="2515321"/>
            <a:ext cx="2141924"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60" name="TextBox 59">
            <a:extLst>
              <a:ext uri="{FF2B5EF4-FFF2-40B4-BE49-F238E27FC236}">
                <a16:creationId xmlns:a16="http://schemas.microsoft.com/office/drawing/2014/main" id="{396260AD-5957-C1E5-A106-DC35CCD8A979}"/>
              </a:ext>
            </a:extLst>
          </p:cNvPr>
          <p:cNvSpPr txBox="1">
            <a:spLocks/>
          </p:cNvSpPr>
          <p:nvPr/>
        </p:nvSpPr>
        <p:spPr>
          <a:xfrm>
            <a:off x="7526632" y="2616292"/>
            <a:ext cx="1613511"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0" u="none" strike="noStrike" kern="0" cap="none" spc="0" normalizeH="0" baseline="0" noProof="0">
                <a:ln>
                  <a:noFill/>
                </a:ln>
                <a:solidFill>
                  <a:srgbClr val="000000"/>
                </a:solidFill>
                <a:effectLst/>
                <a:uLnTx/>
                <a:uFillTx/>
                <a:cs typeface="Arial" panose="020B0604020202020204" pitchFamily="34" charset="0"/>
              </a:rPr>
              <a:t>Agentic value estimation </a:t>
            </a:r>
            <a:r>
              <a:rPr kumimoji="0" lang="en-US" sz="900" b="0" i="0" u="none" strike="noStrike" kern="0" cap="none" spc="0" normalizeH="0" baseline="0" noProof="0">
                <a:ln>
                  <a:noFill/>
                </a:ln>
                <a:solidFill>
                  <a:srgbClr val="000000"/>
                </a:solidFill>
                <a:effectLst/>
                <a:uLnTx/>
                <a:uFillTx/>
                <a:cs typeface="Arial" panose="020B0604020202020204" pitchFamily="34" charset="0"/>
              </a:rPr>
              <a:t>to size opportunity and create model outputs</a:t>
            </a:r>
          </a:p>
        </p:txBody>
      </p:sp>
      <p:sp>
        <p:nvSpPr>
          <p:cNvPr id="61" name="TrackerNumBlue 82">
            <a:extLst>
              <a:ext uri="{FF2B5EF4-FFF2-40B4-BE49-F238E27FC236}">
                <a16:creationId xmlns:a16="http://schemas.microsoft.com/office/drawing/2014/main" id="{820D922D-82BC-BF0A-0BAF-0D6B5C8011D8}"/>
              </a:ext>
            </a:extLst>
          </p:cNvPr>
          <p:cNvSpPr>
            <a:spLocks/>
          </p:cNvSpPr>
          <p:nvPr>
            <p:custDataLst>
              <p:tags r:id="rId11"/>
            </p:custDataLst>
          </p:nvPr>
        </p:nvSpPr>
        <p:spPr>
          <a:xfrm>
            <a:off x="7215808" y="2692171"/>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ea typeface="+mn-ea"/>
                <a:cs typeface="+mn-cs"/>
              </a:rPr>
              <a:t>6</a:t>
            </a:r>
          </a:p>
        </p:txBody>
      </p:sp>
      <p:sp>
        <p:nvSpPr>
          <p:cNvPr id="62" name="Rectangle: Rounded Corners 61">
            <a:extLst>
              <a:ext uri="{FF2B5EF4-FFF2-40B4-BE49-F238E27FC236}">
                <a16:creationId xmlns:a16="http://schemas.microsoft.com/office/drawing/2014/main" id="{4AB0D5D7-2740-9B0E-67CA-9AA315612ADB}"/>
              </a:ext>
            </a:extLst>
          </p:cNvPr>
          <p:cNvSpPr/>
          <p:nvPr/>
        </p:nvSpPr>
        <p:spPr>
          <a:xfrm>
            <a:off x="7142149" y="3160539"/>
            <a:ext cx="2141924"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63" name="TextBox 62">
            <a:extLst>
              <a:ext uri="{FF2B5EF4-FFF2-40B4-BE49-F238E27FC236}">
                <a16:creationId xmlns:a16="http://schemas.microsoft.com/office/drawing/2014/main" id="{60DB4EA3-70CE-F549-EF49-21E786655121}"/>
              </a:ext>
            </a:extLst>
          </p:cNvPr>
          <p:cNvSpPr txBox="1">
            <a:spLocks/>
          </p:cNvSpPr>
          <p:nvPr/>
        </p:nvSpPr>
        <p:spPr>
          <a:xfrm>
            <a:off x="7526632" y="3261510"/>
            <a:ext cx="1613511"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0" cap="none" spc="0" normalizeH="0" baseline="0" noProof="0">
                <a:ln>
                  <a:noFill/>
                </a:ln>
                <a:solidFill>
                  <a:srgbClr val="000000"/>
                </a:solidFill>
                <a:effectLst/>
                <a:uLnTx/>
                <a:uFillTx/>
                <a:cs typeface="Arial" panose="020B0604020202020204" pitchFamily="34" charset="0"/>
              </a:rPr>
              <a:t>Agent-led </a:t>
            </a:r>
            <a:r>
              <a:rPr kumimoji="0" lang="en-US" sz="900" b="1" i="0" u="none" strike="noStrike" kern="0" cap="none" spc="0" normalizeH="0" baseline="0" noProof="0">
                <a:ln>
                  <a:noFill/>
                </a:ln>
                <a:solidFill>
                  <a:srgbClr val="000000"/>
                </a:solidFill>
                <a:effectLst/>
                <a:uLnTx/>
                <a:uFillTx/>
                <a:cs typeface="Arial" panose="020B0604020202020204" pitchFamily="34" charset="0"/>
              </a:rPr>
              <a:t>prioritization and roadmap drafting</a:t>
            </a:r>
          </a:p>
        </p:txBody>
      </p:sp>
      <p:sp>
        <p:nvSpPr>
          <p:cNvPr id="64" name="TrackerNumBlue 82">
            <a:extLst>
              <a:ext uri="{FF2B5EF4-FFF2-40B4-BE49-F238E27FC236}">
                <a16:creationId xmlns:a16="http://schemas.microsoft.com/office/drawing/2014/main" id="{7CEF4B47-D974-FBA8-66B8-5E63A09BB9D1}"/>
              </a:ext>
            </a:extLst>
          </p:cNvPr>
          <p:cNvSpPr>
            <a:spLocks/>
          </p:cNvSpPr>
          <p:nvPr>
            <p:custDataLst>
              <p:tags r:id="rId12"/>
            </p:custDataLst>
          </p:nvPr>
        </p:nvSpPr>
        <p:spPr>
          <a:xfrm>
            <a:off x="7215808" y="3337389"/>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ea typeface="+mn-ea"/>
                <a:cs typeface="+mn-cs"/>
              </a:rPr>
              <a:t>7</a:t>
            </a:r>
          </a:p>
        </p:txBody>
      </p:sp>
      <p:sp>
        <p:nvSpPr>
          <p:cNvPr id="65" name="Rectangle: Rounded Corners 64">
            <a:extLst>
              <a:ext uri="{FF2B5EF4-FFF2-40B4-BE49-F238E27FC236}">
                <a16:creationId xmlns:a16="http://schemas.microsoft.com/office/drawing/2014/main" id="{82B3B750-C393-C154-817B-5F603E99ECD4}"/>
              </a:ext>
            </a:extLst>
          </p:cNvPr>
          <p:cNvSpPr/>
          <p:nvPr/>
        </p:nvSpPr>
        <p:spPr>
          <a:xfrm>
            <a:off x="4890569" y="3160539"/>
            <a:ext cx="2141924"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66" name="TextBox 65">
            <a:extLst>
              <a:ext uri="{FF2B5EF4-FFF2-40B4-BE49-F238E27FC236}">
                <a16:creationId xmlns:a16="http://schemas.microsoft.com/office/drawing/2014/main" id="{DAACD4EE-A862-575C-2460-F004ACB4E88A}"/>
              </a:ext>
            </a:extLst>
          </p:cNvPr>
          <p:cNvSpPr txBox="1">
            <a:spLocks/>
          </p:cNvSpPr>
          <p:nvPr/>
        </p:nvSpPr>
        <p:spPr>
          <a:xfrm>
            <a:off x="5275052" y="3261510"/>
            <a:ext cx="1613511"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0" cap="none" spc="0" normalizeH="0" baseline="0" noProof="0">
                <a:ln>
                  <a:noFill/>
                </a:ln>
                <a:solidFill>
                  <a:srgbClr val="000000"/>
                </a:solidFill>
                <a:effectLst/>
                <a:uLnTx/>
                <a:uFillTx/>
                <a:cs typeface="Arial" panose="020B0604020202020204" pitchFamily="34" charset="0"/>
              </a:rPr>
              <a:t>Agentic </a:t>
            </a:r>
            <a:r>
              <a:rPr kumimoji="0" lang="en-US" sz="900" b="1" i="0" u="none" strike="noStrike" kern="0" cap="none" spc="0" normalizeH="0" baseline="0" noProof="0">
                <a:ln>
                  <a:noFill/>
                </a:ln>
                <a:solidFill>
                  <a:srgbClr val="000000"/>
                </a:solidFill>
                <a:effectLst/>
                <a:uLnTx/>
                <a:uFillTx/>
                <a:cs typeface="Arial" panose="020B0604020202020204" pitchFamily="34" charset="0"/>
              </a:rPr>
              <a:t>mapping of improvement </a:t>
            </a:r>
            <a:r>
              <a:rPr lang="en-US" sz="900" b="1" kern="0">
                <a:solidFill>
                  <a:srgbClr val="000000"/>
                </a:solidFill>
              </a:rPr>
              <a:t>levers </a:t>
            </a:r>
            <a:r>
              <a:rPr kumimoji="0" lang="en-US" sz="900" b="1" i="0" u="none" strike="noStrike" kern="0" cap="none" spc="0" normalizeH="0" baseline="0" noProof="0">
                <a:ln>
                  <a:noFill/>
                </a:ln>
                <a:solidFill>
                  <a:srgbClr val="000000"/>
                </a:solidFill>
                <a:effectLst/>
                <a:uLnTx/>
                <a:uFillTx/>
                <a:cs typeface="Arial" panose="020B0604020202020204" pitchFamily="34" charset="0"/>
              </a:rPr>
              <a:t>to key pain points</a:t>
            </a:r>
          </a:p>
        </p:txBody>
      </p:sp>
      <p:sp>
        <p:nvSpPr>
          <p:cNvPr id="67" name="TrackerNumBlue 82">
            <a:extLst>
              <a:ext uri="{FF2B5EF4-FFF2-40B4-BE49-F238E27FC236}">
                <a16:creationId xmlns:a16="http://schemas.microsoft.com/office/drawing/2014/main" id="{391BE238-6288-2C60-1F1F-B537E1CC02EB}"/>
              </a:ext>
            </a:extLst>
          </p:cNvPr>
          <p:cNvSpPr>
            <a:spLocks/>
          </p:cNvSpPr>
          <p:nvPr>
            <p:custDataLst>
              <p:tags r:id="rId13"/>
            </p:custDataLst>
          </p:nvPr>
        </p:nvSpPr>
        <p:spPr>
          <a:xfrm>
            <a:off x="4964228" y="3337389"/>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5</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69" name="Rectangle: Rounded Corners 68">
            <a:extLst>
              <a:ext uri="{FF2B5EF4-FFF2-40B4-BE49-F238E27FC236}">
                <a16:creationId xmlns:a16="http://schemas.microsoft.com/office/drawing/2014/main" id="{63A6F907-B3CF-5848-9701-0AAB99FA9360}"/>
              </a:ext>
            </a:extLst>
          </p:cNvPr>
          <p:cNvSpPr/>
          <p:nvPr/>
        </p:nvSpPr>
        <p:spPr>
          <a:xfrm>
            <a:off x="2529333" y="4819753"/>
            <a:ext cx="4503159" cy="562567"/>
          </a:xfrm>
          <a:prstGeom prst="roundRect">
            <a:avLst>
              <a:gd name="adj" fmla="val 50000"/>
            </a:avLst>
          </a:prstGeom>
          <a:solidFill>
            <a:schemeClr val="accent2"/>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70" name="TextBox 69">
            <a:extLst>
              <a:ext uri="{FF2B5EF4-FFF2-40B4-BE49-F238E27FC236}">
                <a16:creationId xmlns:a16="http://schemas.microsoft.com/office/drawing/2014/main" id="{B67B4B62-5C64-2800-24A6-3380A98BA638}"/>
              </a:ext>
            </a:extLst>
          </p:cNvPr>
          <p:cNvSpPr txBox="1">
            <a:spLocks/>
          </p:cNvSpPr>
          <p:nvPr/>
        </p:nvSpPr>
        <p:spPr>
          <a:xfrm>
            <a:off x="2913817" y="4901545"/>
            <a:ext cx="3871994" cy="31332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0" u="none" strike="noStrike" kern="0" cap="none" spc="0" normalizeH="0" baseline="0" noProof="0">
                <a:ln>
                  <a:noFill/>
                </a:ln>
                <a:solidFill>
                  <a:schemeClr val="bg2"/>
                </a:solidFill>
                <a:effectLst/>
                <a:uLnTx/>
                <a:uFillTx/>
                <a:cs typeface="Arial" panose="020B0604020202020204" pitchFamily="34" charset="0"/>
              </a:rPr>
              <a:t>Human-led client follow-up interviews, workshops, and shadowing </a:t>
            </a:r>
            <a:r>
              <a:rPr kumimoji="0" lang="en-US" sz="900" b="0" i="0" u="none" strike="noStrike" kern="0" cap="none" spc="0" normalizeH="0" baseline="0" noProof="0">
                <a:ln>
                  <a:noFill/>
                </a:ln>
                <a:solidFill>
                  <a:schemeClr val="bg2"/>
                </a:solidFill>
                <a:effectLst/>
                <a:uLnTx/>
                <a:uFillTx/>
                <a:cs typeface="Arial" panose="020B0604020202020204" pitchFamily="34" charset="0"/>
              </a:rPr>
              <a:t>to ensure we still capture all the crucial details that are needed – in addition to review of interview agent’s outputs</a:t>
            </a:r>
            <a:endParaRPr kumimoji="0" lang="en-US" sz="900" b="1" i="0" u="none" strike="noStrike" kern="0" cap="none" spc="0" normalizeH="0" baseline="0" noProof="0">
              <a:ln>
                <a:noFill/>
              </a:ln>
              <a:solidFill>
                <a:schemeClr val="bg2"/>
              </a:solidFill>
              <a:effectLst/>
              <a:uLnTx/>
              <a:uFillTx/>
              <a:cs typeface="Arial" panose="020B0604020202020204" pitchFamily="34" charset="0"/>
            </a:endParaRPr>
          </a:p>
        </p:txBody>
      </p:sp>
      <p:sp>
        <p:nvSpPr>
          <p:cNvPr id="71" name="TrackerNumBlue 82">
            <a:extLst>
              <a:ext uri="{FF2B5EF4-FFF2-40B4-BE49-F238E27FC236}">
                <a16:creationId xmlns:a16="http://schemas.microsoft.com/office/drawing/2014/main" id="{4BFD896A-3EB0-BC1C-0410-BF9CD3CECD64}"/>
              </a:ext>
            </a:extLst>
          </p:cNvPr>
          <p:cNvSpPr>
            <a:spLocks/>
          </p:cNvSpPr>
          <p:nvPr>
            <p:custDataLst>
              <p:tags r:id="rId14"/>
            </p:custDataLst>
          </p:nvPr>
        </p:nvSpPr>
        <p:spPr>
          <a:xfrm>
            <a:off x="2602993" y="4994957"/>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1</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cxnSp>
        <p:nvCxnSpPr>
          <p:cNvPr id="72" name="GreyLineSeparatorStrong 12">
            <a:extLst>
              <a:ext uri="{FF2B5EF4-FFF2-40B4-BE49-F238E27FC236}">
                <a16:creationId xmlns:a16="http://schemas.microsoft.com/office/drawing/2014/main" id="{DFD38F83-9E50-A938-7C98-6AA07436A71E}"/>
              </a:ext>
            </a:extLst>
          </p:cNvPr>
          <p:cNvCxnSpPr/>
          <p:nvPr>
            <p:custDataLst>
              <p:tags r:id="rId15"/>
            </p:custDataLst>
          </p:nvPr>
        </p:nvCxnSpPr>
        <p:spPr>
          <a:xfrm>
            <a:off x="554736" y="239502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76" name="sticker">
            <a:extLst>
              <a:ext uri="{FF2B5EF4-FFF2-40B4-BE49-F238E27FC236}">
                <a16:creationId xmlns:a16="http://schemas.microsoft.com/office/drawing/2014/main" id="{776F2831-837D-D9E1-D8A0-FB93F01F9C47}"/>
              </a:ext>
            </a:extLst>
          </p:cNvPr>
          <p:cNvGrpSpPr/>
          <p:nvPr/>
        </p:nvGrpSpPr>
        <p:grpSpPr>
          <a:xfrm>
            <a:off x="558192" y="1289273"/>
            <a:ext cx="666849" cy="156966"/>
            <a:chOff x="558192" y="1289273"/>
            <a:chExt cx="666849" cy="156966"/>
          </a:xfrm>
        </p:grpSpPr>
        <p:sp>
          <p:nvSpPr>
            <p:cNvPr id="74" name="StickerRectangle">
              <a:extLst>
                <a:ext uri="{FF2B5EF4-FFF2-40B4-BE49-F238E27FC236}">
                  <a16:creationId xmlns:a16="http://schemas.microsoft.com/office/drawing/2014/main" id="{41FEF47F-F486-7F41-003B-C67676DA99A5}"/>
                </a:ext>
              </a:extLst>
            </p:cNvPr>
            <p:cNvSpPr>
              <a:spLocks noChangeArrowheads="1"/>
            </p:cNvSpPr>
            <p:nvPr userDrawn="1"/>
          </p:nvSpPr>
          <p:spPr bwMode="gray">
            <a:xfrm>
              <a:off x="558192" y="1289273"/>
              <a:ext cx="66684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Directional</a:t>
              </a:r>
              <a:endParaRPr lang="en-US" sz="800" baseline="0">
                <a:solidFill>
                  <a:schemeClr val="tx1"/>
                </a:solidFill>
                <a:latin typeface="+mn-lt"/>
                <a:ea typeface="+mn-ea"/>
              </a:endParaRPr>
            </a:p>
          </p:txBody>
        </p:sp>
        <p:cxnSp>
          <p:nvCxnSpPr>
            <p:cNvPr id="75" name="StickerUnderline">
              <a:extLst>
                <a:ext uri="{FF2B5EF4-FFF2-40B4-BE49-F238E27FC236}">
                  <a16:creationId xmlns:a16="http://schemas.microsoft.com/office/drawing/2014/main" id="{7DCEAE0B-D1AA-2ECC-DEA0-823756730BA3}"/>
                </a:ext>
              </a:extLst>
            </p:cNvPr>
            <p:cNvCxnSpPr>
              <a:cxnSpLocks noChangeShapeType="1"/>
              <a:stCxn id="74" idx="4"/>
              <a:endCxn id="74" idx="6"/>
            </p:cNvCxnSpPr>
            <p:nvPr/>
          </p:nvCxnSpPr>
          <p:spPr bwMode="gray">
            <a:xfrm>
              <a:off x="558192" y="1446239"/>
              <a:ext cx="66684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77" name="Rectangle: Rounded Corners 76">
            <a:extLst>
              <a:ext uri="{FF2B5EF4-FFF2-40B4-BE49-F238E27FC236}">
                <a16:creationId xmlns:a16="http://schemas.microsoft.com/office/drawing/2014/main" id="{B8397950-DF77-90BB-AFC7-AE1236388906}"/>
              </a:ext>
            </a:extLst>
          </p:cNvPr>
          <p:cNvSpPr/>
          <p:nvPr/>
        </p:nvSpPr>
        <p:spPr>
          <a:xfrm>
            <a:off x="9393729" y="2515321"/>
            <a:ext cx="2141924"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78" name="TextBox 77">
            <a:extLst>
              <a:ext uri="{FF2B5EF4-FFF2-40B4-BE49-F238E27FC236}">
                <a16:creationId xmlns:a16="http://schemas.microsoft.com/office/drawing/2014/main" id="{D30DB6A8-1D5C-7EB4-1F01-2389E865A30D}"/>
              </a:ext>
            </a:extLst>
          </p:cNvPr>
          <p:cNvSpPr txBox="1">
            <a:spLocks/>
          </p:cNvSpPr>
          <p:nvPr/>
        </p:nvSpPr>
        <p:spPr>
          <a:xfrm>
            <a:off x="9778212" y="2616292"/>
            <a:ext cx="1613511"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0" u="none" strike="noStrike" kern="0" cap="none" spc="0" normalizeH="0" baseline="0" noProof="0">
                <a:ln>
                  <a:noFill/>
                </a:ln>
                <a:solidFill>
                  <a:srgbClr val="000000"/>
                </a:solidFill>
                <a:effectLst/>
                <a:uLnTx/>
                <a:uFillTx/>
                <a:cs typeface="Arial" panose="020B0604020202020204" pitchFamily="34" charset="0"/>
              </a:rPr>
              <a:t>GenAI-enabled future state workflow redesign with high level build plans</a:t>
            </a:r>
            <a:endParaRPr kumimoji="0" lang="en-US" sz="900" i="0" u="none" strike="noStrike" kern="0" cap="none" spc="0" normalizeH="0" baseline="0" noProof="0">
              <a:ln>
                <a:noFill/>
              </a:ln>
              <a:solidFill>
                <a:srgbClr val="000000"/>
              </a:solidFill>
              <a:effectLst/>
              <a:uLnTx/>
              <a:uFillTx/>
              <a:cs typeface="Arial" panose="020B0604020202020204" pitchFamily="34" charset="0"/>
            </a:endParaRPr>
          </a:p>
        </p:txBody>
      </p:sp>
      <p:sp>
        <p:nvSpPr>
          <p:cNvPr id="79" name="TrackerNumBlue 82">
            <a:extLst>
              <a:ext uri="{FF2B5EF4-FFF2-40B4-BE49-F238E27FC236}">
                <a16:creationId xmlns:a16="http://schemas.microsoft.com/office/drawing/2014/main" id="{D8A97CD6-D52E-261C-97BA-301D3A020F4C}"/>
              </a:ext>
            </a:extLst>
          </p:cNvPr>
          <p:cNvSpPr>
            <a:spLocks/>
          </p:cNvSpPr>
          <p:nvPr>
            <p:custDataLst>
              <p:tags r:id="rId16"/>
            </p:custDataLst>
          </p:nvPr>
        </p:nvSpPr>
        <p:spPr>
          <a:xfrm>
            <a:off x="9467388" y="2692171"/>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ea typeface="+mn-ea"/>
                <a:cs typeface="+mn-cs"/>
              </a:rPr>
              <a:t>8</a:t>
            </a:r>
          </a:p>
        </p:txBody>
      </p:sp>
      <p:sp>
        <p:nvSpPr>
          <p:cNvPr id="80" name="Rectangle: Rounded Corners 79">
            <a:extLst>
              <a:ext uri="{FF2B5EF4-FFF2-40B4-BE49-F238E27FC236}">
                <a16:creationId xmlns:a16="http://schemas.microsoft.com/office/drawing/2014/main" id="{25EE0E4D-81CA-B989-030E-EA8CEC531324}"/>
              </a:ext>
            </a:extLst>
          </p:cNvPr>
          <p:cNvSpPr/>
          <p:nvPr/>
        </p:nvSpPr>
        <p:spPr>
          <a:xfrm>
            <a:off x="9393730" y="4819753"/>
            <a:ext cx="2141924" cy="562567"/>
          </a:xfrm>
          <a:prstGeom prst="roundRect">
            <a:avLst>
              <a:gd name="adj" fmla="val 50000"/>
            </a:avLst>
          </a:prstGeom>
          <a:solidFill>
            <a:schemeClr val="accent2"/>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82" name="TrackerNumBlue 82">
            <a:extLst>
              <a:ext uri="{FF2B5EF4-FFF2-40B4-BE49-F238E27FC236}">
                <a16:creationId xmlns:a16="http://schemas.microsoft.com/office/drawing/2014/main" id="{FD0B205C-7FD0-0E02-A767-F99F2F995EEF}"/>
              </a:ext>
            </a:extLst>
          </p:cNvPr>
          <p:cNvSpPr>
            <a:spLocks/>
          </p:cNvSpPr>
          <p:nvPr>
            <p:custDataLst>
              <p:tags r:id="rId17"/>
            </p:custDataLst>
          </p:nvPr>
        </p:nvSpPr>
        <p:spPr>
          <a:xfrm>
            <a:off x="9467389" y="4994957"/>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4</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83" name="TextBox 82">
            <a:extLst>
              <a:ext uri="{FF2B5EF4-FFF2-40B4-BE49-F238E27FC236}">
                <a16:creationId xmlns:a16="http://schemas.microsoft.com/office/drawing/2014/main" id="{E968F968-EB9A-4744-E132-8A935E8176C8}"/>
              </a:ext>
            </a:extLst>
          </p:cNvPr>
          <p:cNvSpPr txBox="1">
            <a:spLocks/>
          </p:cNvSpPr>
          <p:nvPr/>
        </p:nvSpPr>
        <p:spPr>
          <a:xfrm>
            <a:off x="9742216" y="4940045"/>
            <a:ext cx="1757440" cy="31332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0" u="none" strike="noStrike" kern="0" cap="none" spc="0" normalizeH="0" baseline="0" noProof="0">
                <a:ln>
                  <a:noFill/>
                </a:ln>
                <a:solidFill>
                  <a:schemeClr val="bg2"/>
                </a:solidFill>
                <a:effectLst/>
                <a:uLnTx/>
                <a:uFillTx/>
                <a:cs typeface="Arial" panose="020B0604020202020204" pitchFamily="34" charset="0"/>
              </a:rPr>
              <a:t>Human-led SMEs interviews </a:t>
            </a:r>
            <a:r>
              <a:rPr kumimoji="0" lang="en-US" sz="900" i="0" u="none" strike="noStrike" kern="0" cap="none" spc="0" normalizeH="0" baseline="0" noProof="0">
                <a:ln>
                  <a:noFill/>
                </a:ln>
                <a:solidFill>
                  <a:schemeClr val="bg2"/>
                </a:solidFill>
                <a:effectLst/>
                <a:uLnTx/>
                <a:uFillTx/>
                <a:cs typeface="Arial" panose="020B0604020202020204" pitchFamily="34" charset="0"/>
              </a:rPr>
              <a:t>to design business requirements</a:t>
            </a:r>
          </a:p>
        </p:txBody>
      </p:sp>
      <p:cxnSp>
        <p:nvCxnSpPr>
          <p:cNvPr id="84" name="GreyLineSeparatorStrong 12">
            <a:extLst>
              <a:ext uri="{FF2B5EF4-FFF2-40B4-BE49-F238E27FC236}">
                <a16:creationId xmlns:a16="http://schemas.microsoft.com/office/drawing/2014/main" id="{8AFAA53A-AAEC-5008-1D17-925AAA4236C6}"/>
              </a:ext>
            </a:extLst>
          </p:cNvPr>
          <p:cNvCxnSpPr>
            <a:cxnSpLocks/>
          </p:cNvCxnSpPr>
          <p:nvPr>
            <p:custDataLst>
              <p:tags r:id="rId18"/>
            </p:custDataLst>
          </p:nvPr>
        </p:nvCxnSpPr>
        <p:spPr>
          <a:xfrm>
            <a:off x="2529333" y="1807887"/>
            <a:ext cx="9107931"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2C1A02B3-D10B-2D83-A714-BBC3CBD70098}"/>
              </a:ext>
            </a:extLst>
          </p:cNvPr>
          <p:cNvSpPr txBox="1"/>
          <p:nvPr/>
        </p:nvSpPr>
        <p:spPr>
          <a:xfrm>
            <a:off x="2529333" y="1594104"/>
            <a:ext cx="1729719" cy="180499"/>
          </a:xfrm>
          <a:prstGeom prst="rect">
            <a:avLst/>
          </a:prstGeom>
          <a:ln w="6350">
            <a:noFill/>
            <a:miter lim="800000"/>
          </a:ln>
        </p:spPr>
        <p:txBody>
          <a:bodyPr vert="horz" wrap="square" lIns="0" tIns="0" rIns="0" bIns="0" rtlCol="0">
            <a:spAutoFit/>
          </a:bodyPr>
          <a:lstStyle/>
          <a:p>
            <a:pPr defTabSz="914354">
              <a:lnSpc>
                <a:spcPct val="105000"/>
              </a:lnSpc>
              <a:spcBef>
                <a:spcPts val="300"/>
              </a:spcBef>
              <a:spcAft>
                <a:spcPts val="600"/>
              </a:spcAft>
              <a:defRPr/>
            </a:pPr>
            <a:r>
              <a:rPr lang="en-US" sz="1200" b="1" i="1">
                <a:cs typeface="Arial" panose="020B0604020202020204" pitchFamily="34" charset="0"/>
              </a:rPr>
              <a:t>Diagnostic</a:t>
            </a:r>
          </a:p>
        </p:txBody>
      </p:sp>
      <p:sp>
        <p:nvSpPr>
          <p:cNvPr id="88" name="TextBox 87">
            <a:extLst>
              <a:ext uri="{FF2B5EF4-FFF2-40B4-BE49-F238E27FC236}">
                <a16:creationId xmlns:a16="http://schemas.microsoft.com/office/drawing/2014/main" id="{CBB0BF35-23CE-94C3-9B71-558BE6194139}"/>
              </a:ext>
            </a:extLst>
          </p:cNvPr>
          <p:cNvSpPr txBox="1"/>
          <p:nvPr/>
        </p:nvSpPr>
        <p:spPr>
          <a:xfrm>
            <a:off x="9284073" y="1594104"/>
            <a:ext cx="1729719" cy="180499"/>
          </a:xfrm>
          <a:prstGeom prst="rect">
            <a:avLst/>
          </a:prstGeom>
          <a:ln w="6350">
            <a:noFill/>
            <a:miter lim="800000"/>
          </a:ln>
        </p:spPr>
        <p:txBody>
          <a:bodyPr vert="horz" wrap="square" lIns="0" tIns="0" rIns="0" bIns="0" rtlCol="0">
            <a:spAutoFit/>
          </a:bodyPr>
          <a:lstStyle/>
          <a:p>
            <a:pPr defTabSz="914354">
              <a:lnSpc>
                <a:spcPct val="105000"/>
              </a:lnSpc>
              <a:spcBef>
                <a:spcPts val="300"/>
              </a:spcBef>
              <a:spcAft>
                <a:spcPts val="600"/>
              </a:spcAft>
              <a:defRPr/>
            </a:pPr>
            <a:r>
              <a:rPr lang="en-US" sz="1200" b="1" i="1">
                <a:cs typeface="Arial" panose="020B0604020202020204" pitchFamily="34" charset="0"/>
              </a:rPr>
              <a:t>Designing</a:t>
            </a:r>
          </a:p>
        </p:txBody>
      </p:sp>
      <p:sp>
        <p:nvSpPr>
          <p:cNvPr id="89" name="Rectangle: Rounded Corners 88">
            <a:extLst>
              <a:ext uri="{FF2B5EF4-FFF2-40B4-BE49-F238E27FC236}">
                <a16:creationId xmlns:a16="http://schemas.microsoft.com/office/drawing/2014/main" id="{B149700E-3923-755E-9433-6F5BDE5214DB}"/>
              </a:ext>
            </a:extLst>
          </p:cNvPr>
          <p:cNvSpPr/>
          <p:nvPr/>
        </p:nvSpPr>
        <p:spPr>
          <a:xfrm>
            <a:off x="7142147" y="4819753"/>
            <a:ext cx="2141924" cy="562567"/>
          </a:xfrm>
          <a:prstGeom prst="roundRect">
            <a:avLst>
              <a:gd name="adj" fmla="val 50000"/>
            </a:avLst>
          </a:prstGeom>
          <a:solidFill>
            <a:schemeClr val="accent2"/>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90" name="TrackerNumBlue 82">
            <a:extLst>
              <a:ext uri="{FF2B5EF4-FFF2-40B4-BE49-F238E27FC236}">
                <a16:creationId xmlns:a16="http://schemas.microsoft.com/office/drawing/2014/main" id="{8F733B00-A54C-862A-B745-65D218C65C78}"/>
              </a:ext>
            </a:extLst>
          </p:cNvPr>
          <p:cNvSpPr>
            <a:spLocks/>
          </p:cNvSpPr>
          <p:nvPr>
            <p:custDataLst>
              <p:tags r:id="rId19"/>
            </p:custDataLst>
          </p:nvPr>
        </p:nvSpPr>
        <p:spPr>
          <a:xfrm>
            <a:off x="7215806" y="4994957"/>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3</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91" name="TextBox 90">
            <a:extLst>
              <a:ext uri="{FF2B5EF4-FFF2-40B4-BE49-F238E27FC236}">
                <a16:creationId xmlns:a16="http://schemas.microsoft.com/office/drawing/2014/main" id="{6D9A8B6C-C034-3223-E6CF-5C9E6F74D787}"/>
              </a:ext>
            </a:extLst>
          </p:cNvPr>
          <p:cNvSpPr txBox="1">
            <a:spLocks/>
          </p:cNvSpPr>
          <p:nvPr/>
        </p:nvSpPr>
        <p:spPr>
          <a:xfrm>
            <a:off x="7490633" y="4888972"/>
            <a:ext cx="1649510" cy="31332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i="0" u="none" strike="noStrike" kern="0" cap="none" spc="0" normalizeH="0" baseline="0" noProof="0">
                <a:ln>
                  <a:noFill/>
                </a:ln>
                <a:solidFill>
                  <a:schemeClr val="bg2"/>
                </a:solidFill>
                <a:effectLst/>
                <a:uLnTx/>
                <a:uFillTx/>
                <a:cs typeface="Arial" panose="020B0604020202020204" pitchFamily="34" charset="0"/>
              </a:rPr>
              <a:t>Problem-solving and interviews to </a:t>
            </a:r>
            <a:r>
              <a:rPr kumimoji="0" lang="en-US" sz="900" b="1" i="0" u="none" strike="noStrike" kern="0" cap="none" spc="0" normalizeH="0" baseline="0" noProof="0">
                <a:ln>
                  <a:noFill/>
                </a:ln>
                <a:solidFill>
                  <a:schemeClr val="bg2"/>
                </a:solidFill>
                <a:effectLst/>
                <a:uLnTx/>
                <a:uFillTx/>
                <a:cs typeface="Arial" panose="020B0604020202020204" pitchFamily="34" charset="0"/>
              </a:rPr>
              <a:t>reflect inflight-initiatives and refine value estimates</a:t>
            </a:r>
            <a:endParaRPr kumimoji="0" lang="en-US" sz="900" i="0" u="none" strike="noStrike" kern="0" cap="none" spc="0" normalizeH="0" baseline="0" noProof="0">
              <a:ln>
                <a:noFill/>
              </a:ln>
              <a:solidFill>
                <a:schemeClr val="bg2"/>
              </a:solidFill>
              <a:effectLst/>
              <a:uLnTx/>
              <a:uFillTx/>
              <a:cs typeface="Arial" panose="020B0604020202020204" pitchFamily="34" charset="0"/>
            </a:endParaRPr>
          </a:p>
        </p:txBody>
      </p:sp>
      <p:sp>
        <p:nvSpPr>
          <p:cNvPr id="92" name="Rectangle: Rounded Corners 91">
            <a:extLst>
              <a:ext uri="{FF2B5EF4-FFF2-40B4-BE49-F238E27FC236}">
                <a16:creationId xmlns:a16="http://schemas.microsoft.com/office/drawing/2014/main" id="{07781098-3966-31D3-EA06-40F28EE3A473}"/>
              </a:ext>
            </a:extLst>
          </p:cNvPr>
          <p:cNvSpPr/>
          <p:nvPr/>
        </p:nvSpPr>
        <p:spPr>
          <a:xfrm>
            <a:off x="9393730" y="5436372"/>
            <a:ext cx="2141924" cy="562567"/>
          </a:xfrm>
          <a:prstGeom prst="roundRect">
            <a:avLst>
              <a:gd name="adj" fmla="val 50000"/>
            </a:avLst>
          </a:prstGeom>
          <a:solidFill>
            <a:schemeClr val="accent2"/>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93" name="TrackerNumBlue 82">
            <a:extLst>
              <a:ext uri="{FF2B5EF4-FFF2-40B4-BE49-F238E27FC236}">
                <a16:creationId xmlns:a16="http://schemas.microsoft.com/office/drawing/2014/main" id="{63364F37-F3B1-80CD-DFBD-DEEA48F9400F}"/>
              </a:ext>
            </a:extLst>
          </p:cNvPr>
          <p:cNvSpPr>
            <a:spLocks/>
          </p:cNvSpPr>
          <p:nvPr>
            <p:custDataLst>
              <p:tags r:id="rId20"/>
            </p:custDataLst>
          </p:nvPr>
        </p:nvSpPr>
        <p:spPr>
          <a:xfrm>
            <a:off x="9467389" y="5611576"/>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5</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94" name="TextBox 93">
            <a:extLst>
              <a:ext uri="{FF2B5EF4-FFF2-40B4-BE49-F238E27FC236}">
                <a16:creationId xmlns:a16="http://schemas.microsoft.com/office/drawing/2014/main" id="{E7FF5CAD-46BA-C34B-27BD-AAE78EA95480}"/>
              </a:ext>
            </a:extLst>
          </p:cNvPr>
          <p:cNvSpPr txBox="1">
            <a:spLocks/>
          </p:cNvSpPr>
          <p:nvPr/>
        </p:nvSpPr>
        <p:spPr>
          <a:xfrm>
            <a:off x="9742216" y="5556664"/>
            <a:ext cx="1757440" cy="31332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00" b="1" kern="0">
                <a:solidFill>
                  <a:schemeClr val="bg2"/>
                </a:solidFill>
              </a:rPr>
              <a:t>Business rules and edge cases </a:t>
            </a:r>
            <a:r>
              <a:rPr lang="en-US" sz="900" kern="0">
                <a:solidFill>
                  <a:schemeClr val="bg2"/>
                </a:solidFill>
              </a:rPr>
              <a:t>definition and incorporation into BRD </a:t>
            </a:r>
            <a:endParaRPr kumimoji="0" lang="en-US" sz="900" i="0" u="none" strike="noStrike" kern="0" cap="none" spc="0" normalizeH="0" baseline="0" noProof="0">
              <a:ln>
                <a:noFill/>
              </a:ln>
              <a:solidFill>
                <a:schemeClr val="bg2"/>
              </a:solidFill>
              <a:effectLst/>
              <a:uLnTx/>
              <a:uFillTx/>
              <a:cs typeface="Arial" panose="020B0604020202020204" pitchFamily="34" charset="0"/>
            </a:endParaRPr>
          </a:p>
        </p:txBody>
      </p:sp>
      <p:sp>
        <p:nvSpPr>
          <p:cNvPr id="98" name="Rectangle: Rounded Corners 97">
            <a:extLst>
              <a:ext uri="{FF2B5EF4-FFF2-40B4-BE49-F238E27FC236}">
                <a16:creationId xmlns:a16="http://schemas.microsoft.com/office/drawing/2014/main" id="{DF4BF949-F4C1-4B3C-4733-CBC7AB7C3D27}"/>
              </a:ext>
            </a:extLst>
          </p:cNvPr>
          <p:cNvSpPr/>
          <p:nvPr/>
        </p:nvSpPr>
        <p:spPr>
          <a:xfrm>
            <a:off x="2529333" y="5458578"/>
            <a:ext cx="6754740" cy="562567"/>
          </a:xfrm>
          <a:prstGeom prst="roundRect">
            <a:avLst>
              <a:gd name="adj" fmla="val 50000"/>
            </a:avLst>
          </a:prstGeom>
          <a:solidFill>
            <a:schemeClr val="accent2"/>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99" name="TrackerNumBlue 82">
            <a:extLst>
              <a:ext uri="{FF2B5EF4-FFF2-40B4-BE49-F238E27FC236}">
                <a16:creationId xmlns:a16="http://schemas.microsoft.com/office/drawing/2014/main" id="{30B8A5B1-BE96-A511-0696-FAA4DE273619}"/>
              </a:ext>
            </a:extLst>
          </p:cNvPr>
          <p:cNvSpPr>
            <a:spLocks/>
          </p:cNvSpPr>
          <p:nvPr>
            <p:custDataLst>
              <p:tags r:id="rId21"/>
            </p:custDataLst>
          </p:nvPr>
        </p:nvSpPr>
        <p:spPr>
          <a:xfrm>
            <a:off x="2602993" y="5641091"/>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US" sz="1000" kern="0">
                <a:solidFill>
                  <a:srgbClr val="000000"/>
                </a:solidFill>
                <a:latin typeface="Arial"/>
              </a:rPr>
              <a:t>2</a:t>
            </a: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100" name="TextBox 99">
            <a:extLst>
              <a:ext uri="{FF2B5EF4-FFF2-40B4-BE49-F238E27FC236}">
                <a16:creationId xmlns:a16="http://schemas.microsoft.com/office/drawing/2014/main" id="{774E5589-1E9B-BF31-CD11-DC0FA7F2EA05}"/>
              </a:ext>
            </a:extLst>
          </p:cNvPr>
          <p:cNvSpPr txBox="1">
            <a:spLocks/>
          </p:cNvSpPr>
          <p:nvPr/>
        </p:nvSpPr>
        <p:spPr>
          <a:xfrm>
            <a:off x="2913817" y="5641092"/>
            <a:ext cx="6226326" cy="16802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i="0" u="none" strike="noStrike" kern="0" cap="none" spc="0" normalizeH="0" baseline="0" noProof="0">
                <a:ln>
                  <a:noFill/>
                </a:ln>
                <a:solidFill>
                  <a:schemeClr val="bg2"/>
                </a:solidFill>
                <a:effectLst/>
                <a:uLnTx/>
                <a:uFillTx/>
                <a:cs typeface="Arial" panose="020B0604020202020204" pitchFamily="34" charset="0"/>
              </a:rPr>
              <a:t>Human-led </a:t>
            </a:r>
            <a:r>
              <a:rPr kumimoji="0" lang="en-US" sz="900" b="1" i="0" u="none" strike="noStrike" kern="0" cap="none" spc="0" normalizeH="0" baseline="0" noProof="0">
                <a:ln>
                  <a:noFill/>
                </a:ln>
                <a:solidFill>
                  <a:schemeClr val="bg2"/>
                </a:solidFill>
                <a:effectLst/>
                <a:uLnTx/>
                <a:uFillTx/>
                <a:cs typeface="Arial" panose="020B0604020202020204" pitchFamily="34" charset="0"/>
              </a:rPr>
              <a:t>validation, refinement, and pressure-testing of results </a:t>
            </a:r>
            <a:r>
              <a:rPr kumimoji="0" lang="en-US" sz="900" i="0" u="none" strike="noStrike" kern="0" cap="none" spc="0" normalizeH="0" baseline="0" noProof="0">
                <a:ln>
                  <a:noFill/>
                </a:ln>
                <a:solidFill>
                  <a:schemeClr val="bg2"/>
                </a:solidFill>
                <a:effectLst/>
                <a:uLnTx/>
                <a:uFillTx/>
                <a:cs typeface="Arial" panose="020B0604020202020204" pitchFamily="34" charset="0"/>
              </a:rPr>
              <a:t>– incl. </a:t>
            </a:r>
            <a:r>
              <a:rPr lang="en-US" sz="900" kern="0">
                <a:solidFill>
                  <a:schemeClr val="bg2"/>
                </a:solidFill>
              </a:rPr>
              <a:t>running internal expert interviews to enhance the emerging answer and syndicate answer</a:t>
            </a:r>
            <a:endParaRPr kumimoji="0" lang="en-US" sz="900" i="0" u="none" strike="noStrike" kern="0" cap="none" spc="0" normalizeH="0" baseline="0" noProof="0">
              <a:ln>
                <a:noFill/>
              </a:ln>
              <a:solidFill>
                <a:schemeClr val="bg2"/>
              </a:solidFill>
              <a:effectLst/>
              <a:uLnTx/>
              <a:uFillTx/>
              <a:cs typeface="Arial" panose="020B0604020202020204" pitchFamily="34" charset="0"/>
            </a:endParaRPr>
          </a:p>
        </p:txBody>
      </p:sp>
      <p:sp>
        <p:nvSpPr>
          <p:cNvPr id="10" name="Rectangle: Rounded Corners 9">
            <a:extLst>
              <a:ext uri="{FF2B5EF4-FFF2-40B4-BE49-F238E27FC236}">
                <a16:creationId xmlns:a16="http://schemas.microsoft.com/office/drawing/2014/main" id="{EB2FE591-4E41-530E-21C1-E282A5B77C18}"/>
              </a:ext>
            </a:extLst>
          </p:cNvPr>
          <p:cNvSpPr/>
          <p:nvPr/>
        </p:nvSpPr>
        <p:spPr>
          <a:xfrm>
            <a:off x="2529333" y="3817179"/>
            <a:ext cx="2251579" cy="562567"/>
          </a:xfrm>
          <a:prstGeom prst="roundRect">
            <a:avLst>
              <a:gd name="adj" fmla="val 50000"/>
            </a:avLst>
          </a:prstGeom>
          <a:solidFill>
            <a:srgbClr val="CCCCCC"/>
          </a:solidFill>
          <a:ln w="6350" cap="sq"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ea typeface="+mn-ea"/>
              <a:cs typeface="+mn-cs"/>
            </a:endParaRPr>
          </a:p>
        </p:txBody>
      </p:sp>
      <p:sp>
        <p:nvSpPr>
          <p:cNvPr id="13" name="TextBox 12">
            <a:extLst>
              <a:ext uri="{FF2B5EF4-FFF2-40B4-BE49-F238E27FC236}">
                <a16:creationId xmlns:a16="http://schemas.microsoft.com/office/drawing/2014/main" id="{98788AE1-9B46-828E-F882-85F08755F42C}"/>
              </a:ext>
            </a:extLst>
          </p:cNvPr>
          <p:cNvSpPr txBox="1">
            <a:spLocks/>
          </p:cNvSpPr>
          <p:nvPr/>
        </p:nvSpPr>
        <p:spPr>
          <a:xfrm>
            <a:off x="2804161" y="3906681"/>
            <a:ext cx="1884518" cy="29208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00" b="1" kern="0">
                <a:solidFill>
                  <a:srgbClr val="000000"/>
                </a:solidFill>
              </a:rPr>
              <a:t>Interview agent automating initial SME interviews </a:t>
            </a:r>
            <a:r>
              <a:rPr lang="en-US" sz="900" kern="0">
                <a:solidFill>
                  <a:srgbClr val="000000"/>
                </a:solidFill>
              </a:rPr>
              <a:t>–  allowing to conduct more interviews and faster</a:t>
            </a:r>
            <a:endParaRPr kumimoji="0" lang="en-US" sz="900" i="0" u="none" strike="noStrike" kern="0" cap="none" spc="0" normalizeH="0" baseline="0" noProof="0">
              <a:ln>
                <a:noFill/>
              </a:ln>
              <a:solidFill>
                <a:srgbClr val="000000"/>
              </a:solidFill>
              <a:effectLst/>
              <a:uLnTx/>
              <a:uFillTx/>
              <a:cs typeface="Arial" panose="020B0604020202020204" pitchFamily="34" charset="0"/>
            </a:endParaRPr>
          </a:p>
        </p:txBody>
      </p:sp>
      <p:sp>
        <p:nvSpPr>
          <p:cNvPr id="15" name="TrackerNumBlue 82">
            <a:extLst>
              <a:ext uri="{FF2B5EF4-FFF2-40B4-BE49-F238E27FC236}">
                <a16:creationId xmlns:a16="http://schemas.microsoft.com/office/drawing/2014/main" id="{FD82353C-B6CD-55DA-60A4-6191F7D3EA4F}"/>
              </a:ext>
            </a:extLst>
          </p:cNvPr>
          <p:cNvSpPr>
            <a:spLocks/>
          </p:cNvSpPr>
          <p:nvPr>
            <p:custDataLst>
              <p:tags r:id="rId22"/>
            </p:custDataLst>
          </p:nvPr>
        </p:nvSpPr>
        <p:spPr>
          <a:xfrm>
            <a:off x="2579241" y="3994029"/>
            <a:ext cx="201168" cy="197539"/>
          </a:xfrm>
          <a:prstGeom prst="ellipse">
            <a:avLst/>
          </a:prstGeom>
          <a:solidFill>
            <a:srgbClr val="FFFFFF"/>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ea typeface="+mn-ea"/>
                <a:cs typeface="+mn-cs"/>
              </a:rPr>
              <a:t>3</a:t>
            </a:r>
          </a:p>
        </p:txBody>
      </p:sp>
    </p:spTree>
    <p:extLst>
      <p:ext uri="{BB962C8B-B14F-4D97-AF65-F5344CB8AC3E}">
        <p14:creationId xmlns:p14="http://schemas.microsoft.com/office/powerpoint/2010/main" val="263096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 name="think-cell data - do not delete" hidden="1">
            <a:extLst>
              <a:ext uri="{FF2B5EF4-FFF2-40B4-BE49-F238E27FC236}">
                <a16:creationId xmlns:a16="http://schemas.microsoft.com/office/drawing/2014/main" id="{18AC8178-1049-8950-9831-01D55E419D31}"/>
              </a:ext>
            </a:extLst>
          </p:cNvPr>
          <p:cNvGraphicFramePr>
            <a:graphicFrameLocks noChangeAspect="1"/>
          </p:cNvGraphicFramePr>
          <p:nvPr>
            <p:custDataLst>
              <p:tags r:id="rId1"/>
            </p:custDataLst>
            <p:extLst>
              <p:ext uri="{D42A27DB-BD31-4B8C-83A1-F6EECF244321}">
                <p14:modId xmlns:p14="http://schemas.microsoft.com/office/powerpoint/2010/main" val="556304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04" imgH="405" progId="TCLayout.ActiveDocument.1">
                  <p:embed/>
                </p:oleObj>
              </mc:Choice>
              <mc:Fallback>
                <p:oleObj name="think-cell Slide" r:id="rId18" imgW="404" imgH="405" progId="TCLayout.ActiveDocument.1">
                  <p:embed/>
                  <p:pic>
                    <p:nvPicPr>
                      <p:cNvPr id="108" name="think-cell data - do not delete" hidden="1">
                        <a:extLst>
                          <a:ext uri="{FF2B5EF4-FFF2-40B4-BE49-F238E27FC236}">
                            <a16:creationId xmlns:a16="http://schemas.microsoft.com/office/drawing/2014/main" id="{18AC8178-1049-8950-9831-01D55E419D31}"/>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05" name="Title 104">
            <a:extLst>
              <a:ext uri="{FF2B5EF4-FFF2-40B4-BE49-F238E27FC236}">
                <a16:creationId xmlns:a16="http://schemas.microsoft.com/office/drawing/2014/main" id="{1B5850B5-F17F-5324-E512-08F354B4C2E2}"/>
              </a:ext>
            </a:extLst>
          </p:cNvPr>
          <p:cNvSpPr>
            <a:spLocks noGrp="1"/>
          </p:cNvSpPr>
          <p:nvPr>
            <p:ph type="title"/>
          </p:nvPr>
        </p:nvSpPr>
        <p:spPr>
          <a:xfrm>
            <a:off x="554736" y="130931"/>
            <a:ext cx="7918704" cy="403903"/>
          </a:xfrm>
        </p:spPr>
        <p:txBody>
          <a:bodyPr vert="horz"/>
          <a:lstStyle/>
          <a:p>
            <a:r>
              <a:rPr lang="en-US"/>
              <a:t>2. Our workplan for the Blue Currency</a:t>
            </a:r>
          </a:p>
        </p:txBody>
      </p:sp>
      <p:sp>
        <p:nvSpPr>
          <p:cNvPr id="106" name="Subtitle 105">
            <a:extLst>
              <a:ext uri="{FF2B5EF4-FFF2-40B4-BE49-F238E27FC236}">
                <a16:creationId xmlns:a16="http://schemas.microsoft.com/office/drawing/2014/main" id="{3D14F6BD-3A35-3F64-B269-F36924052351}"/>
              </a:ext>
            </a:extLst>
          </p:cNvPr>
          <p:cNvSpPr>
            <a:spLocks noGrp="1"/>
          </p:cNvSpPr>
          <p:nvPr>
            <p:ph type="subTitle" idx="1"/>
          </p:nvPr>
        </p:nvSpPr>
        <p:spPr>
          <a:xfrm>
            <a:off x="554736" y="524804"/>
            <a:ext cx="7918704" cy="246221"/>
          </a:xfrm>
        </p:spPr>
        <p:txBody>
          <a:bodyPr/>
          <a:lstStyle/>
          <a:p>
            <a:r>
              <a:rPr lang="en-US"/>
              <a:t>1 AP/P role-playing clients / SMEs, 1 AP playing ED, and EM+2 team set-up</a:t>
            </a:r>
          </a:p>
        </p:txBody>
      </p:sp>
      <p:sp>
        <p:nvSpPr>
          <p:cNvPr id="55" name="TextBox 54">
            <a:extLst>
              <a:ext uri="{FF2B5EF4-FFF2-40B4-BE49-F238E27FC236}">
                <a16:creationId xmlns:a16="http://schemas.microsoft.com/office/drawing/2014/main" id="{DE293AC2-D9F1-BA9C-E54D-17A3DBE74107}"/>
              </a:ext>
            </a:extLst>
          </p:cNvPr>
          <p:cNvSpPr txBox="1">
            <a:spLocks/>
          </p:cNvSpPr>
          <p:nvPr/>
        </p:nvSpPr>
        <p:spPr>
          <a:xfrm>
            <a:off x="622863" y="1656982"/>
            <a:ext cx="680988"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00" b="1">
                <a:solidFill>
                  <a:schemeClr val="accent1"/>
                </a:solidFill>
              </a:rPr>
              <a:t>Key activities</a:t>
            </a:r>
          </a:p>
        </p:txBody>
      </p:sp>
      <p:sp>
        <p:nvSpPr>
          <p:cNvPr id="58" name="Freeform: Shape 57">
            <a:extLst>
              <a:ext uri="{FF2B5EF4-FFF2-40B4-BE49-F238E27FC236}">
                <a16:creationId xmlns:a16="http://schemas.microsoft.com/office/drawing/2014/main" id="{5C54A40E-1EEE-6037-5B1D-081F47126FD5}"/>
              </a:ext>
            </a:extLst>
          </p:cNvPr>
          <p:cNvSpPr>
            <a:spLocks/>
          </p:cNvSpPr>
          <p:nvPr>
            <p:custDataLst>
              <p:tags r:id="rId2"/>
            </p:custDataLst>
          </p:nvPr>
        </p:nvSpPr>
        <p:spPr>
          <a:xfrm>
            <a:off x="6096000" y="1172369"/>
            <a:ext cx="2591294" cy="33941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62165" y="0"/>
                </a:lnTo>
                <a:lnTo>
                  <a:pt x="1828800" y="457200"/>
                </a:lnTo>
                <a:lnTo>
                  <a:pt x="1762165" y="914400"/>
                </a:lnTo>
                <a:lnTo>
                  <a:pt x="0" y="914400"/>
                </a:lnTo>
                <a:lnTo>
                  <a:pt x="66635" y="457202"/>
                </a:lnTo>
                <a:close/>
              </a:path>
            </a:pathLst>
          </a:custGeom>
          <a:solidFill>
            <a:schemeClr val="accent1">
              <a:lumMod val="40000"/>
              <a:lumOff val="60000"/>
            </a:schemeClr>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0" fontAlgn="auto">
              <a:lnSpc>
                <a:spcPct val="100000"/>
              </a:lnSpc>
              <a:spcBef>
                <a:spcPts val="300"/>
              </a:spcBef>
              <a:spcAft>
                <a:spcPts val="300"/>
              </a:spcAft>
              <a:buClrTx/>
              <a:buSzTx/>
              <a:buFontTx/>
              <a:buNone/>
              <a:tabLst/>
              <a:defRPr/>
            </a:pPr>
            <a:r>
              <a:rPr lang="en-US" sz="900" b="1">
                <a:solidFill>
                  <a:schemeClr val="bg2"/>
                </a:solidFill>
                <a:cs typeface="Arial" panose="020B0604020202020204" pitchFamily="34" charset="0"/>
              </a:rPr>
              <a:t>     Design: lever prioritization &amp; detailing</a:t>
            </a:r>
          </a:p>
        </p:txBody>
      </p:sp>
      <p:sp>
        <p:nvSpPr>
          <p:cNvPr id="60" name="Freeform: Shape 59">
            <a:extLst>
              <a:ext uri="{FF2B5EF4-FFF2-40B4-BE49-F238E27FC236}">
                <a16:creationId xmlns:a16="http://schemas.microsoft.com/office/drawing/2014/main" id="{D58E82E1-DDF3-A84D-DB72-25ECC8B1C89B}"/>
              </a:ext>
            </a:extLst>
          </p:cNvPr>
          <p:cNvSpPr>
            <a:spLocks/>
          </p:cNvSpPr>
          <p:nvPr>
            <p:custDataLst>
              <p:tags r:id="rId3"/>
            </p:custDataLst>
          </p:nvPr>
        </p:nvSpPr>
        <p:spPr>
          <a:xfrm>
            <a:off x="2748064" y="1172369"/>
            <a:ext cx="3367156" cy="33941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3306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3306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51516 w 1828800"/>
              <a:gd name="connsiteY5" fmla="*/ 457200 h 914400"/>
              <a:gd name="connsiteX0" fmla="*/ 0 w 1828800"/>
              <a:gd name="connsiteY0" fmla="*/ 0 h 914400"/>
              <a:gd name="connsiteX1" fmla="*/ 1777284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77284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63197 w 1828800"/>
              <a:gd name="connsiteY5" fmla="*/ 457201 h 914400"/>
              <a:gd name="connsiteX0" fmla="*/ 0 w 1828800"/>
              <a:gd name="connsiteY0" fmla="*/ 0 h 914400"/>
              <a:gd name="connsiteX1" fmla="*/ 1765603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65603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52834 w 1828800"/>
              <a:gd name="connsiteY5" fmla="*/ 457201 h 914400"/>
              <a:gd name="connsiteX0" fmla="*/ 0 w 1828800"/>
              <a:gd name="connsiteY0" fmla="*/ 0 h 914400"/>
              <a:gd name="connsiteX1" fmla="*/ 1775966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596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54435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74365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743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1338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61338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86869 w 1828800"/>
              <a:gd name="connsiteY5" fmla="*/ 457202 h 914400"/>
              <a:gd name="connsiteX0" fmla="*/ 0 w 1828800"/>
              <a:gd name="connsiteY0" fmla="*/ 0 h 914400"/>
              <a:gd name="connsiteX1" fmla="*/ 1741931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41931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71905 w 1828800"/>
              <a:gd name="connsiteY5" fmla="*/ 457202 h 914400"/>
              <a:gd name="connsiteX0" fmla="*/ 0 w 1828800"/>
              <a:gd name="connsiteY0" fmla="*/ 0 h 914400"/>
              <a:gd name="connsiteX1" fmla="*/ 1756895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5689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66749 w 1828800"/>
              <a:gd name="connsiteY5" fmla="*/ 457202 h 914400"/>
              <a:gd name="connsiteX0" fmla="*/ 0 w 1828800"/>
              <a:gd name="connsiteY0" fmla="*/ 0 h 914400"/>
              <a:gd name="connsiteX1" fmla="*/ 1762051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2051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65434 w 1828800"/>
              <a:gd name="connsiteY5" fmla="*/ 457202 h 914400"/>
              <a:gd name="connsiteX0" fmla="*/ 0 w 1828800"/>
              <a:gd name="connsiteY0" fmla="*/ 0 h 914400"/>
              <a:gd name="connsiteX1" fmla="*/ 1763366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3366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0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 name="connsiteX0" fmla="*/ 0 w 1828800"/>
              <a:gd name="connsiteY0" fmla="*/ 0 h 914400"/>
              <a:gd name="connsiteX1" fmla="*/ 1762165 w 1828800"/>
              <a:gd name="connsiteY1" fmla="*/ 0 h 914400"/>
              <a:gd name="connsiteX2" fmla="*/ 1828800 w 1828800"/>
              <a:gd name="connsiteY2" fmla="*/ 457200 h 914400"/>
              <a:gd name="connsiteX3" fmla="*/ 1762165 w 1828800"/>
              <a:gd name="connsiteY3" fmla="*/ 914400 h 914400"/>
              <a:gd name="connsiteX4" fmla="*/ 0 w 1828800"/>
              <a:gd name="connsiteY4" fmla="*/ 914400 h 914400"/>
              <a:gd name="connsiteX5" fmla="*/ 66635 w 1828800"/>
              <a:gd name="connsiteY5" fmla="*/ 457202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62165" y="0"/>
                </a:lnTo>
                <a:lnTo>
                  <a:pt x="1828800" y="457200"/>
                </a:lnTo>
                <a:lnTo>
                  <a:pt x="1762165" y="914400"/>
                </a:lnTo>
                <a:lnTo>
                  <a:pt x="0" y="914400"/>
                </a:lnTo>
                <a:lnTo>
                  <a:pt x="66635" y="457202"/>
                </a:lnTo>
                <a:close/>
              </a:path>
            </a:pathLst>
          </a:custGeom>
          <a:solidFill>
            <a:schemeClr val="accent3">
              <a:lumMod val="20000"/>
              <a:lumOff val="80000"/>
            </a:schemeClr>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a:spcBef>
                <a:spcPts val="300"/>
              </a:spcBef>
              <a:spcAft>
                <a:spcPts val="300"/>
              </a:spcAft>
              <a:defRPr/>
            </a:pPr>
            <a:r>
              <a:rPr lang="en-US" sz="900" b="1">
                <a:solidFill>
                  <a:schemeClr val="accent1">
                    <a:lumMod val="60000"/>
                    <a:lumOff val="40000"/>
                  </a:schemeClr>
                </a:solidFill>
                <a:cs typeface="Arial" panose="020B0604020202020204" pitchFamily="34" charset="0"/>
              </a:rPr>
              <a:t>     Diagnostic: pain points &amp; improvement levers</a:t>
            </a:r>
          </a:p>
        </p:txBody>
      </p:sp>
      <p:sp>
        <p:nvSpPr>
          <p:cNvPr id="61" name="Arrow: Pentagon 60">
            <a:extLst>
              <a:ext uri="{FF2B5EF4-FFF2-40B4-BE49-F238E27FC236}">
                <a16:creationId xmlns:a16="http://schemas.microsoft.com/office/drawing/2014/main" id="{1E33B4AD-02E6-A57B-9101-F052753401B2}"/>
              </a:ext>
            </a:extLst>
          </p:cNvPr>
          <p:cNvSpPr>
            <a:spLocks/>
          </p:cNvSpPr>
          <p:nvPr/>
        </p:nvSpPr>
        <p:spPr>
          <a:xfrm>
            <a:off x="1310486" y="1172369"/>
            <a:ext cx="1456798" cy="339412"/>
          </a:xfrm>
          <a:prstGeom prst="homePlate">
            <a:avLst>
              <a:gd name="adj" fmla="val 20141"/>
            </a:avLst>
          </a:prstGeom>
          <a:solidFill>
            <a:schemeClr val="bg2">
              <a:lumMod val="85000"/>
            </a:schemeClr>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900" b="1">
                <a:solidFill>
                  <a:schemeClr val="tx1">
                    <a:lumMod val="65000"/>
                    <a:lumOff val="35000"/>
                  </a:schemeClr>
                </a:solidFill>
                <a:cs typeface="Arial" panose="020B0604020202020204" pitchFamily="34" charset="0"/>
              </a:rPr>
              <a:t>Prep </a:t>
            </a:r>
            <a:r>
              <a:rPr lang="en-US" sz="900" b="1" i="1">
                <a:solidFill>
                  <a:schemeClr val="tx1">
                    <a:lumMod val="65000"/>
                    <a:lumOff val="35000"/>
                  </a:schemeClr>
                </a:solidFill>
                <a:cs typeface="Arial" panose="020B0604020202020204" pitchFamily="34" charset="0"/>
              </a:rPr>
              <a:t>(invested)</a:t>
            </a:r>
          </a:p>
        </p:txBody>
      </p:sp>
      <p:cxnSp>
        <p:nvCxnSpPr>
          <p:cNvPr id="62" name="Straight Arrow Connector 61">
            <a:extLst>
              <a:ext uri="{FF2B5EF4-FFF2-40B4-BE49-F238E27FC236}">
                <a16:creationId xmlns:a16="http://schemas.microsoft.com/office/drawing/2014/main" id="{56DCB028-1236-A927-B0BC-14D7DE05E4B7}"/>
              </a:ext>
            </a:extLst>
          </p:cNvPr>
          <p:cNvCxnSpPr>
            <a:cxnSpLocks/>
          </p:cNvCxnSpPr>
          <p:nvPr/>
        </p:nvCxnSpPr>
        <p:spPr>
          <a:xfrm>
            <a:off x="2748064" y="1055030"/>
            <a:ext cx="3244241"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E100C91-427F-7FE5-3F70-B7CAFC0A9D81}"/>
              </a:ext>
            </a:extLst>
          </p:cNvPr>
          <p:cNvSpPr txBox="1"/>
          <p:nvPr/>
        </p:nvSpPr>
        <p:spPr>
          <a:xfrm>
            <a:off x="3870592" y="985779"/>
            <a:ext cx="873809" cy="138499"/>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b="1">
                <a:solidFill>
                  <a:schemeClr val="accent1"/>
                </a:solidFill>
              </a:rPr>
              <a:t>2 weeks </a:t>
            </a:r>
          </a:p>
        </p:txBody>
      </p:sp>
      <p:cxnSp>
        <p:nvCxnSpPr>
          <p:cNvPr id="64" name="Straight Arrow Connector 63">
            <a:extLst>
              <a:ext uri="{FF2B5EF4-FFF2-40B4-BE49-F238E27FC236}">
                <a16:creationId xmlns:a16="http://schemas.microsoft.com/office/drawing/2014/main" id="{C48BFC77-571D-E37D-164E-A196EDF5EE47}"/>
              </a:ext>
            </a:extLst>
          </p:cNvPr>
          <p:cNvCxnSpPr>
            <a:cxnSpLocks/>
          </p:cNvCxnSpPr>
          <p:nvPr/>
        </p:nvCxnSpPr>
        <p:spPr>
          <a:xfrm>
            <a:off x="6096000" y="1055030"/>
            <a:ext cx="2523169"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A961ED2-4A8F-D5F4-CCB8-A1560082C18D}"/>
              </a:ext>
            </a:extLst>
          </p:cNvPr>
          <p:cNvSpPr txBox="1"/>
          <p:nvPr/>
        </p:nvSpPr>
        <p:spPr>
          <a:xfrm>
            <a:off x="6816236" y="985779"/>
            <a:ext cx="873809" cy="138499"/>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b="1">
                <a:solidFill>
                  <a:schemeClr val="accent1"/>
                </a:solidFill>
              </a:rPr>
              <a:t>1 weeks </a:t>
            </a:r>
          </a:p>
        </p:txBody>
      </p:sp>
      <p:cxnSp>
        <p:nvCxnSpPr>
          <p:cNvPr id="78" name="Straight Arrow Connector 77">
            <a:extLst>
              <a:ext uri="{FF2B5EF4-FFF2-40B4-BE49-F238E27FC236}">
                <a16:creationId xmlns:a16="http://schemas.microsoft.com/office/drawing/2014/main" id="{68CA5F25-4C7A-775F-0E85-A7550A892217}"/>
              </a:ext>
            </a:extLst>
          </p:cNvPr>
          <p:cNvCxnSpPr>
            <a:cxnSpLocks/>
          </p:cNvCxnSpPr>
          <p:nvPr/>
        </p:nvCxnSpPr>
        <p:spPr>
          <a:xfrm>
            <a:off x="1310486" y="1055030"/>
            <a:ext cx="1388644"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4CF96155-F786-CF32-5FC5-5F013B816D00}"/>
              </a:ext>
            </a:extLst>
          </p:cNvPr>
          <p:cNvSpPr txBox="1">
            <a:spLocks/>
          </p:cNvSpPr>
          <p:nvPr/>
        </p:nvSpPr>
        <p:spPr>
          <a:xfrm>
            <a:off x="622864" y="4441664"/>
            <a:ext cx="703742"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900" b="1">
                <a:solidFill>
                  <a:schemeClr val="accent1"/>
                </a:solidFill>
              </a:rPr>
              <a:t>Main deliverables</a:t>
            </a:r>
          </a:p>
        </p:txBody>
      </p:sp>
      <p:cxnSp>
        <p:nvCxnSpPr>
          <p:cNvPr id="56" name="LineBasicDefault 43">
            <a:extLst>
              <a:ext uri="{FF2B5EF4-FFF2-40B4-BE49-F238E27FC236}">
                <a16:creationId xmlns:a16="http://schemas.microsoft.com/office/drawing/2014/main" id="{CBB1FF53-9B7C-B82A-1612-81297A9B31A2}"/>
              </a:ext>
            </a:extLst>
          </p:cNvPr>
          <p:cNvCxnSpPr>
            <a:cxnSpLocks/>
          </p:cNvCxnSpPr>
          <p:nvPr>
            <p:custDataLst>
              <p:tags r:id="rId4"/>
            </p:custDataLst>
          </p:nvPr>
        </p:nvCxnSpPr>
        <p:spPr>
          <a:xfrm>
            <a:off x="622863" y="1612138"/>
            <a:ext cx="8064432" cy="0"/>
          </a:xfrm>
          <a:prstGeom prst="straightConnector1">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0" name="LineBasicDefault 43">
            <a:extLst>
              <a:ext uri="{FF2B5EF4-FFF2-40B4-BE49-F238E27FC236}">
                <a16:creationId xmlns:a16="http://schemas.microsoft.com/office/drawing/2014/main" id="{27DF4915-220F-F119-E21F-A1337846117E}"/>
              </a:ext>
            </a:extLst>
          </p:cNvPr>
          <p:cNvCxnSpPr>
            <a:cxnSpLocks/>
          </p:cNvCxnSpPr>
          <p:nvPr>
            <p:custDataLst>
              <p:tags r:id="rId5"/>
            </p:custDataLst>
          </p:nvPr>
        </p:nvCxnSpPr>
        <p:spPr>
          <a:xfrm>
            <a:off x="622863" y="4258508"/>
            <a:ext cx="8064432" cy="0"/>
          </a:xfrm>
          <a:prstGeom prst="straightConnector1">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35ABE171-F3F6-338E-D4E1-027BD2B2233B}"/>
              </a:ext>
            </a:extLst>
          </p:cNvPr>
          <p:cNvSpPr txBox="1"/>
          <p:nvPr/>
        </p:nvSpPr>
        <p:spPr>
          <a:xfrm>
            <a:off x="1579888" y="985779"/>
            <a:ext cx="873809" cy="138499"/>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b="1">
                <a:solidFill>
                  <a:schemeClr val="accent1"/>
                </a:solidFill>
              </a:rPr>
              <a:t>1 week</a:t>
            </a:r>
          </a:p>
        </p:txBody>
      </p:sp>
      <p:sp>
        <p:nvSpPr>
          <p:cNvPr id="160" name="TextBox 159">
            <a:extLst>
              <a:ext uri="{FF2B5EF4-FFF2-40B4-BE49-F238E27FC236}">
                <a16:creationId xmlns:a16="http://schemas.microsoft.com/office/drawing/2014/main" id="{40D0624A-7EF1-8D38-2DCF-C5397C69F8D6}"/>
              </a:ext>
            </a:extLst>
          </p:cNvPr>
          <p:cNvSpPr txBox="1"/>
          <p:nvPr/>
        </p:nvSpPr>
        <p:spPr>
          <a:xfrm>
            <a:off x="2621204" y="1656725"/>
            <a:ext cx="3494016" cy="250068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400050" lvl="1" indent="-171450">
              <a:spcBef>
                <a:spcPts val="300"/>
              </a:spcBef>
              <a:buFont typeface="Arial" panose="020B0604020202020204" pitchFamily="34" charset="0"/>
              <a:buChar char="•"/>
              <a:defRPr/>
            </a:pPr>
            <a:r>
              <a:rPr lang="en-US" sz="900" b="1"/>
              <a:t>Identify all processes and workflows in-scope </a:t>
            </a:r>
            <a:r>
              <a:rPr lang="en-US" sz="900"/>
              <a:t>within sales support functions (e.g., customer care, Fin. Serv., etc.)</a:t>
            </a:r>
          </a:p>
          <a:p>
            <a:pPr marL="400050" lvl="1" indent="-171450">
              <a:spcBef>
                <a:spcPts val="300"/>
              </a:spcBef>
              <a:buFont typeface="Arial" panose="020B0604020202020204" pitchFamily="34" charset="0"/>
              <a:buChar char="•"/>
              <a:defRPr/>
            </a:pPr>
            <a:r>
              <a:rPr lang="en-US" sz="900" b="1"/>
              <a:t>Prioritize sub-set of workflows </a:t>
            </a:r>
            <a:r>
              <a:rPr lang="en-US" sz="900"/>
              <a:t>based on impact and feasibility metrics</a:t>
            </a:r>
          </a:p>
          <a:p>
            <a:pPr marL="400050" lvl="1" indent="-171450">
              <a:spcBef>
                <a:spcPts val="300"/>
              </a:spcBef>
              <a:buFont typeface="Arial" panose="020B0604020202020204" pitchFamily="34" charset="0"/>
              <a:buChar char="•"/>
              <a:defRPr/>
            </a:pPr>
            <a:r>
              <a:rPr lang="en-US" sz="900" b="1"/>
              <a:t>Map the current E2E processes </a:t>
            </a:r>
            <a:r>
              <a:rPr lang="en-US" sz="900"/>
              <a:t>and their </a:t>
            </a:r>
            <a:r>
              <a:rPr lang="en-US" sz="900" b="1"/>
              <a:t>pain points</a:t>
            </a:r>
            <a:endParaRPr lang="en-US" sz="900" b="1" i="1"/>
          </a:p>
          <a:p>
            <a:pPr marL="400050" lvl="1" indent="-171450">
              <a:spcBef>
                <a:spcPts val="300"/>
              </a:spcBef>
              <a:buFont typeface="Arial" panose="020B0604020202020204" pitchFamily="34" charset="0"/>
              <a:buChar char="•"/>
              <a:defRPr/>
            </a:pPr>
            <a:r>
              <a:rPr lang="en-US" sz="900" b="1"/>
              <a:t>Identify and pressure test improvement initiatives (across different time horizons) </a:t>
            </a:r>
            <a:r>
              <a:rPr lang="en-US" sz="900"/>
              <a:t>for prioritized workflows (incl. dependency risks) – </a:t>
            </a:r>
            <a:r>
              <a:rPr lang="en-US" sz="900" i="1"/>
              <a:t>split by process and AI levers</a:t>
            </a:r>
          </a:p>
          <a:p>
            <a:pPr marL="400050" lvl="1" indent="-171450">
              <a:spcBef>
                <a:spcPts val="300"/>
              </a:spcBef>
              <a:buFont typeface="Arial" panose="020B0604020202020204" pitchFamily="34" charset="0"/>
              <a:buChar char="•"/>
              <a:defRPr/>
            </a:pPr>
            <a:r>
              <a:rPr lang="en-US" sz="900" b="1"/>
              <a:t>Evaluate the current sales tech stack </a:t>
            </a:r>
            <a:r>
              <a:rPr lang="en-US" sz="900"/>
              <a:t>and infrastructure for AI readiness</a:t>
            </a:r>
          </a:p>
          <a:p>
            <a:pPr marL="400050" lvl="1" indent="-171450">
              <a:buFont typeface="Arial" panose="020B0604020202020204" pitchFamily="34" charset="0"/>
              <a:buChar char="•"/>
              <a:defRPr/>
            </a:pPr>
            <a:r>
              <a:rPr lang="en-US" sz="900" b="1"/>
              <a:t>Assess status of ongoing efforts </a:t>
            </a:r>
            <a:r>
              <a:rPr lang="en-US" sz="900"/>
              <a:t>and gap to full potential</a:t>
            </a:r>
          </a:p>
          <a:p>
            <a:pPr marL="400050" lvl="1" indent="-171450">
              <a:buFont typeface="Arial" panose="020B0604020202020204" pitchFamily="34" charset="0"/>
              <a:buChar char="•"/>
              <a:defRPr/>
            </a:pPr>
            <a:r>
              <a:rPr lang="en-US" sz="900" b="1"/>
              <a:t>Set future aspiration with recommended priority workflows and improvement initiatives</a:t>
            </a:r>
            <a:r>
              <a:rPr lang="en-US" sz="900"/>
              <a:t> for potential Phase 2 design and execution effort</a:t>
            </a:r>
          </a:p>
          <a:p>
            <a:pPr marL="400050" lvl="1" indent="-171450">
              <a:buFont typeface="Arial" panose="020B0604020202020204" pitchFamily="34" charset="0"/>
              <a:buChar char="•"/>
              <a:defRPr/>
            </a:pPr>
            <a:r>
              <a:rPr lang="en-US" sz="900" b="1"/>
              <a:t>Build business cases </a:t>
            </a:r>
            <a:r>
              <a:rPr lang="en-US" sz="900"/>
              <a:t>for improvement initiatives / levers</a:t>
            </a:r>
          </a:p>
        </p:txBody>
      </p:sp>
      <p:sp>
        <p:nvSpPr>
          <p:cNvPr id="156" name="TrackerAlphaWhite 156">
            <a:extLst>
              <a:ext uri="{FF2B5EF4-FFF2-40B4-BE49-F238E27FC236}">
                <a16:creationId xmlns:a16="http://schemas.microsoft.com/office/drawing/2014/main" id="{9852B33B-16B3-4B51-B2B6-E9248085A8A1}"/>
              </a:ext>
            </a:extLst>
          </p:cNvPr>
          <p:cNvSpPr/>
          <p:nvPr>
            <p:custDataLst>
              <p:tags r:id="rId6"/>
            </p:custDataLst>
          </p:nvPr>
        </p:nvSpPr>
        <p:spPr>
          <a:xfrm>
            <a:off x="2921669" y="1241616"/>
            <a:ext cx="181652" cy="18165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900">
                <a:solidFill>
                  <a:schemeClr val="accent1"/>
                </a:solidFill>
              </a:rPr>
              <a:t>A</a:t>
            </a:r>
          </a:p>
        </p:txBody>
      </p:sp>
      <p:sp>
        <p:nvSpPr>
          <p:cNvPr id="158" name="TrackerAlphaWhite 156">
            <a:extLst>
              <a:ext uri="{FF2B5EF4-FFF2-40B4-BE49-F238E27FC236}">
                <a16:creationId xmlns:a16="http://schemas.microsoft.com/office/drawing/2014/main" id="{C57321ED-D9A3-8134-45AF-A83D91F5CCBA}"/>
              </a:ext>
            </a:extLst>
          </p:cNvPr>
          <p:cNvSpPr/>
          <p:nvPr>
            <p:custDataLst>
              <p:tags r:id="rId7"/>
            </p:custDataLst>
          </p:nvPr>
        </p:nvSpPr>
        <p:spPr>
          <a:xfrm>
            <a:off x="6261300" y="1241616"/>
            <a:ext cx="181652" cy="18165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900">
                <a:solidFill>
                  <a:schemeClr val="accent1"/>
                </a:solidFill>
              </a:rPr>
              <a:t>B</a:t>
            </a:r>
          </a:p>
        </p:txBody>
      </p:sp>
      <p:sp>
        <p:nvSpPr>
          <p:cNvPr id="181" name="TrackerNumBlue 181">
            <a:extLst>
              <a:ext uri="{FF2B5EF4-FFF2-40B4-BE49-F238E27FC236}">
                <a16:creationId xmlns:a16="http://schemas.microsoft.com/office/drawing/2014/main" id="{35FC21F8-4AB9-D668-0563-E8FB706F0387}"/>
              </a:ext>
            </a:extLst>
          </p:cNvPr>
          <p:cNvSpPr/>
          <p:nvPr>
            <p:custDataLst>
              <p:tags r:id="rId8"/>
            </p:custDataLst>
          </p:nvPr>
        </p:nvSpPr>
        <p:spPr>
          <a:xfrm>
            <a:off x="1353469" y="4414775"/>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1</a:t>
            </a:r>
            <a:endParaRPr lang="en-US" sz="800" err="1">
              <a:solidFill>
                <a:schemeClr val="bg1"/>
              </a:solidFill>
            </a:endParaRPr>
          </a:p>
        </p:txBody>
      </p:sp>
      <p:sp>
        <p:nvSpPr>
          <p:cNvPr id="183" name="Rectangle 182">
            <a:extLst>
              <a:ext uri="{FF2B5EF4-FFF2-40B4-BE49-F238E27FC236}">
                <a16:creationId xmlns:a16="http://schemas.microsoft.com/office/drawing/2014/main" id="{5B57945F-B185-082A-640F-3D622321FA66}"/>
              </a:ext>
            </a:extLst>
          </p:cNvPr>
          <p:cNvSpPr/>
          <p:nvPr/>
        </p:nvSpPr>
        <p:spPr>
          <a:xfrm>
            <a:off x="1303850" y="1675891"/>
            <a:ext cx="1340422" cy="226215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0" bIns="45720" numCol="1" spcCol="0" rtlCol="0" fromWordArt="0" anchor="ctr" anchorCtr="0" forceAA="0" compatLnSpc="1">
            <a:prstTxWarp prst="textNoShape">
              <a:avLst/>
            </a:prstTxWarp>
            <a:spAutoFit/>
          </a:body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Launch data requests </a:t>
            </a:r>
            <a:r>
              <a:rPr kumimoji="0" lang="en-US" sz="900" b="0" i="0" u="none" strike="noStrike" kern="1200" cap="none" spc="0" normalizeH="0" baseline="0" noProof="0">
                <a:ln>
                  <a:noFill/>
                </a:ln>
                <a:solidFill>
                  <a:srgbClr val="000000"/>
                </a:solidFill>
                <a:effectLst/>
                <a:uLnTx/>
                <a:uFillTx/>
                <a:latin typeface="Arial"/>
                <a:ea typeface="+mn-ea"/>
                <a:cs typeface="+mn-cs"/>
              </a:rPr>
              <a:t>(e</a:t>
            </a:r>
            <a:r>
              <a:rPr lang="en-US" sz="900">
                <a:solidFill>
                  <a:srgbClr val="000000"/>
                </a:solidFill>
                <a:latin typeface="Arial"/>
              </a:rPr>
              <a:t>.g., current process documentation)</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Identify</a:t>
            </a:r>
            <a:r>
              <a:rPr lang="en-US" sz="900" b="1">
                <a:solidFill>
                  <a:srgbClr val="000000"/>
                </a:solidFill>
                <a:latin typeface="Arial"/>
              </a:rPr>
              <a:t> </a:t>
            </a:r>
            <a:r>
              <a:rPr lang="en-US" sz="900" b="1" err="1">
                <a:solidFill>
                  <a:srgbClr val="000000"/>
                </a:solidFill>
                <a:latin typeface="Arial"/>
              </a:rPr>
              <a:t>PortCo</a:t>
            </a:r>
            <a:r>
              <a:rPr lang="en-US" sz="900" b="1">
                <a:solidFill>
                  <a:srgbClr val="000000"/>
                </a:solidFill>
                <a:latin typeface="Arial"/>
              </a:rPr>
              <a:t> SMEs </a:t>
            </a:r>
            <a:r>
              <a:rPr lang="en-US" sz="900">
                <a:solidFill>
                  <a:srgbClr val="000000"/>
                </a:solidFill>
                <a:latin typeface="Arial"/>
              </a:rPr>
              <a:t>(role play) per workflow</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Schedule SME working sessions</a:t>
            </a:r>
            <a:r>
              <a:rPr lang="en-US" sz="900" b="1">
                <a:solidFill>
                  <a:srgbClr val="000000"/>
                </a:solidFill>
                <a:latin typeface="Arial"/>
              </a:rPr>
              <a:t>, interviews, and shadowing </a:t>
            </a:r>
            <a:r>
              <a:rPr kumimoji="0" lang="en-US" sz="900" b="0" i="0" u="none" strike="noStrike" kern="1200" cap="none" spc="0" normalizeH="0" baseline="0" noProof="0">
                <a:ln>
                  <a:noFill/>
                </a:ln>
                <a:solidFill>
                  <a:srgbClr val="000000"/>
                </a:solidFill>
                <a:effectLst/>
                <a:uLnTx/>
                <a:uFillTx/>
                <a:latin typeface="Arial"/>
                <a:ea typeface="+mn-ea"/>
                <a:cs typeface="+mn-cs"/>
              </a:rPr>
              <a:t>for each workflow</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lang="en-US" sz="900" b="1">
                <a:solidFill>
                  <a:srgbClr val="000000"/>
                </a:solidFill>
                <a:latin typeface="Arial"/>
              </a:rPr>
              <a:t>Schedule leadership working sessions</a:t>
            </a:r>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185" name="TextBox 184">
            <a:extLst>
              <a:ext uri="{FF2B5EF4-FFF2-40B4-BE49-F238E27FC236}">
                <a16:creationId xmlns:a16="http://schemas.microsoft.com/office/drawing/2014/main" id="{47844E58-52FE-F569-858C-2E066C34448F}"/>
              </a:ext>
            </a:extLst>
          </p:cNvPr>
          <p:cNvSpPr txBox="1"/>
          <p:nvPr/>
        </p:nvSpPr>
        <p:spPr>
          <a:xfrm>
            <a:off x="1579888" y="4432649"/>
            <a:ext cx="1041317" cy="6924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buNone/>
              <a:defRPr/>
            </a:pPr>
            <a:r>
              <a:rPr lang="en-US" sz="900">
                <a:solidFill>
                  <a:srgbClr val="000000"/>
                </a:solidFill>
                <a:latin typeface="Arial"/>
                <a:cs typeface="+mn-cs"/>
              </a:rPr>
              <a:t>Mutually-agreed </a:t>
            </a:r>
            <a:r>
              <a:rPr lang="en-US" sz="900" b="1">
                <a:solidFill>
                  <a:srgbClr val="000000"/>
                </a:solidFill>
                <a:latin typeface="Arial"/>
                <a:cs typeface="+mn-cs"/>
              </a:rPr>
              <a:t>calendar, objectives, and approach for the study</a:t>
            </a:r>
          </a:p>
        </p:txBody>
      </p:sp>
      <p:sp>
        <p:nvSpPr>
          <p:cNvPr id="187" name="TextBox 186">
            <a:extLst>
              <a:ext uri="{FF2B5EF4-FFF2-40B4-BE49-F238E27FC236}">
                <a16:creationId xmlns:a16="http://schemas.microsoft.com/office/drawing/2014/main" id="{9F1F20EA-6E46-30F4-C9F1-2E8704C8D7E8}"/>
              </a:ext>
            </a:extLst>
          </p:cNvPr>
          <p:cNvSpPr txBox="1">
            <a:spLocks/>
          </p:cNvSpPr>
          <p:nvPr/>
        </p:nvSpPr>
        <p:spPr>
          <a:xfrm>
            <a:off x="2621204" y="4425503"/>
            <a:ext cx="3356157" cy="2158913"/>
          </a:xfrm>
          <a:prstGeom prst="rect">
            <a:avLst/>
          </a:prstGeom>
          <a:ln w="6350">
            <a:noFill/>
            <a:miter lim="800000"/>
          </a:ln>
        </p:spPr>
        <p:txBody>
          <a:bodyPr vert="horz" wrap="square" lIns="0" tIns="0" rIns="0" bIns="0" rtlCol="0">
            <a:noAutofit/>
          </a:bodyPr>
          <a:lstStyle/>
          <a:p>
            <a:pPr marL="400050" lvl="1" indent="-171450">
              <a:spcAft>
                <a:spcPts val="300"/>
              </a:spcAft>
              <a:buFont typeface="Arial" panose="020B0604020202020204" pitchFamily="34" charset="0"/>
              <a:buChar char="•"/>
              <a:defRPr/>
            </a:pPr>
            <a:r>
              <a:rPr lang="en-US" sz="900" b="1" err="1">
                <a:cs typeface="Arial" panose="020B0604020202020204" pitchFamily="34" charset="0"/>
              </a:rPr>
              <a:t>ProcessAI</a:t>
            </a:r>
            <a:r>
              <a:rPr lang="en-US" sz="900" b="1">
                <a:cs typeface="Arial" panose="020B0604020202020204" pitchFamily="34" charset="0"/>
              </a:rPr>
              <a:t>-powered current state process maps (AI</a:t>
            </a:r>
            <a:r>
              <a:rPr lang="en-US" sz="900" b="1" kern="0">
                <a:solidFill>
                  <a:srgbClr val="000000"/>
                </a:solidFill>
                <a:cs typeface="Arial" panose="020B0604020202020204" pitchFamily="34" charset="0"/>
              </a:rPr>
              <a:t> conversion of interview notes to workflows)</a:t>
            </a:r>
            <a:r>
              <a:rPr lang="en-US" sz="900">
                <a:cs typeface="Arial" panose="020B0604020202020204" pitchFamily="34" charset="0"/>
              </a:rPr>
              <a:t>, including view of roles, what works well, pain points, and hand-offs</a:t>
            </a:r>
          </a:p>
          <a:p>
            <a:pPr marL="400050" lvl="1" indent="-171450">
              <a:spcAft>
                <a:spcPts val="300"/>
              </a:spcAft>
              <a:buFont typeface="Arial" panose="020B0604020202020204" pitchFamily="34" charset="0"/>
              <a:buChar char="•"/>
              <a:defRPr/>
            </a:pPr>
            <a:r>
              <a:rPr lang="en-US" sz="900" b="1">
                <a:cs typeface="Arial" panose="020B0604020202020204" pitchFamily="34" charset="0"/>
              </a:rPr>
              <a:t>GenAI-generated improvement initiatives (across 3 horizons and incl. long-term Bold Vision) </a:t>
            </a:r>
            <a:r>
              <a:rPr lang="en-US" sz="900">
                <a:cs typeface="Arial" panose="020B0604020202020204" pitchFamily="34" charset="0"/>
              </a:rPr>
              <a:t>to address challenges, classified into either 1) process redesign, or 2) AI / automation levers</a:t>
            </a:r>
          </a:p>
          <a:p>
            <a:pPr marL="400050" lvl="1" indent="-171450">
              <a:spcAft>
                <a:spcPts val="300"/>
              </a:spcAft>
              <a:buFont typeface="Arial" panose="020B0604020202020204" pitchFamily="34" charset="0"/>
              <a:buChar char="•"/>
              <a:defRPr/>
            </a:pPr>
            <a:r>
              <a:rPr lang="en-US" sz="900" b="1">
                <a:cs typeface="Arial" panose="020B0604020202020204" pitchFamily="34" charset="0"/>
              </a:rPr>
              <a:t>AI agent mapping improvement levers to pain points</a:t>
            </a:r>
          </a:p>
          <a:p>
            <a:pPr marL="400050" lvl="1" indent="-171450">
              <a:spcAft>
                <a:spcPts val="300"/>
              </a:spcAft>
              <a:buFont typeface="Arial" panose="020B0604020202020204" pitchFamily="34" charset="0"/>
              <a:buChar char="•"/>
              <a:defRPr/>
            </a:pPr>
            <a:r>
              <a:rPr lang="en-US" sz="900" b="1">
                <a:cs typeface="Arial" panose="020B0604020202020204" pitchFamily="34" charset="0"/>
              </a:rPr>
              <a:t>AI-Agent conducting opportunity sizing (efficiency benefit) and prioritization across 3 horizons</a:t>
            </a:r>
            <a:r>
              <a:rPr lang="en-US" sz="900">
                <a:cs typeface="Arial" panose="020B0604020202020204" pitchFamily="34" charset="0"/>
              </a:rPr>
              <a:t> (short, medium, and long-term); broken-down pod and by initiative</a:t>
            </a:r>
            <a:endParaRPr lang="sv-SE" sz="900">
              <a:cs typeface="Arial" panose="020B0604020202020204" pitchFamily="34" charset="0"/>
            </a:endParaRPr>
          </a:p>
          <a:p>
            <a:pPr marL="400050" lvl="1" indent="-171450">
              <a:spcAft>
                <a:spcPts val="300"/>
              </a:spcAft>
              <a:buFont typeface="Arial" panose="020B0604020202020204" pitchFamily="34" charset="0"/>
              <a:buChar char="•"/>
              <a:defRPr/>
            </a:pPr>
            <a:r>
              <a:rPr lang="en-US" sz="900" b="1">
                <a:cs typeface="Arial" panose="020B0604020202020204" pitchFamily="34" charset="0"/>
              </a:rPr>
              <a:t>Tech dependency </a:t>
            </a:r>
            <a:r>
              <a:rPr lang="en-US" sz="900">
                <a:cs typeface="Arial" panose="020B0604020202020204" pitchFamily="34" charset="0"/>
              </a:rPr>
              <a:t>for any AI / automation / system improvements needed</a:t>
            </a:r>
          </a:p>
          <a:p>
            <a:pPr marL="400050" lvl="1" indent="-171450">
              <a:spcAft>
                <a:spcPts val="300"/>
              </a:spcAft>
              <a:buFont typeface="Arial" panose="020B0604020202020204" pitchFamily="34" charset="0"/>
              <a:buChar char="•"/>
              <a:defRPr/>
            </a:pPr>
            <a:r>
              <a:rPr lang="en-US" sz="900" b="1">
                <a:cs typeface="Arial" panose="020B0604020202020204" pitchFamily="34" charset="0"/>
              </a:rPr>
              <a:t>GenAI-driven codification of initiatives underway</a:t>
            </a:r>
          </a:p>
        </p:txBody>
      </p:sp>
      <p:sp>
        <p:nvSpPr>
          <p:cNvPr id="189" name="TextBox 188">
            <a:extLst>
              <a:ext uri="{FF2B5EF4-FFF2-40B4-BE49-F238E27FC236}">
                <a16:creationId xmlns:a16="http://schemas.microsoft.com/office/drawing/2014/main" id="{4F4020A0-A1BB-115E-F372-BBBDACC6D862}"/>
              </a:ext>
            </a:extLst>
          </p:cNvPr>
          <p:cNvSpPr txBox="1"/>
          <p:nvPr/>
        </p:nvSpPr>
        <p:spPr>
          <a:xfrm>
            <a:off x="5977361" y="1656725"/>
            <a:ext cx="2641808" cy="269304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400050" lvl="1" indent="-171450">
              <a:spcBef>
                <a:spcPts val="300"/>
              </a:spcBef>
              <a:buFont typeface="Arial" panose="020B0604020202020204" pitchFamily="34" charset="0"/>
              <a:buChar char="•"/>
              <a:defRPr/>
            </a:pPr>
            <a:r>
              <a:rPr lang="en-US" sz="900" b="1"/>
              <a:t>Confirm 10-15 priority initiatives </a:t>
            </a:r>
            <a:r>
              <a:rPr lang="en-US" sz="900"/>
              <a:t>(mostly Horizon 1) for further detailing</a:t>
            </a:r>
          </a:p>
          <a:p>
            <a:pPr marL="400050" lvl="1" indent="-171450">
              <a:spcBef>
                <a:spcPts val="300"/>
              </a:spcBef>
              <a:buFont typeface="Arial" panose="020B0604020202020204" pitchFamily="34" charset="0"/>
              <a:buChar char="•"/>
              <a:defRPr/>
            </a:pPr>
            <a:r>
              <a:rPr lang="en-US" sz="900" b="1"/>
              <a:t>Build and populate the Business Requirement Document (BRD)</a:t>
            </a:r>
            <a:r>
              <a:rPr lang="en-US" sz="900"/>
              <a:t> including:</a:t>
            </a:r>
          </a:p>
          <a:p>
            <a:pPr marL="687388" lvl="2" indent="-171450">
              <a:spcBef>
                <a:spcPts val="300"/>
              </a:spcBef>
              <a:buFont typeface="Arial" panose="020B0604020202020204" pitchFamily="34" charset="0"/>
              <a:buChar char="–"/>
              <a:defRPr/>
            </a:pPr>
            <a:r>
              <a:rPr lang="en-US" sz="900"/>
              <a:t>Executive Summary and expected ROI by process</a:t>
            </a:r>
          </a:p>
          <a:p>
            <a:pPr marL="687388" lvl="2" indent="-171450">
              <a:spcBef>
                <a:spcPts val="300"/>
              </a:spcBef>
              <a:buFont typeface="Arial" panose="020B0604020202020204" pitchFamily="34" charset="0"/>
              <a:buChar char="–"/>
              <a:defRPr/>
            </a:pPr>
            <a:r>
              <a:rPr lang="en-US" sz="900"/>
              <a:t>Horizon 1 process maps – showing improvement vs current-state maps</a:t>
            </a:r>
          </a:p>
          <a:p>
            <a:pPr marL="687388" lvl="2" indent="-171450">
              <a:spcBef>
                <a:spcPts val="300"/>
              </a:spcBef>
              <a:buFont typeface="Arial" panose="020B0604020202020204" pitchFamily="34" charset="0"/>
              <a:buChar char="–"/>
              <a:defRPr/>
            </a:pPr>
            <a:r>
              <a:rPr lang="en-US" sz="900"/>
              <a:t>Feature list (key building blocks / steps) for each lever</a:t>
            </a:r>
          </a:p>
          <a:p>
            <a:pPr marL="687388" lvl="2" indent="-171450">
              <a:spcBef>
                <a:spcPts val="300"/>
              </a:spcBef>
              <a:buFont typeface="Arial" panose="020B0604020202020204" pitchFamily="34" charset="0"/>
              <a:buChar char="–"/>
              <a:defRPr/>
            </a:pPr>
            <a:r>
              <a:rPr lang="en-US" sz="900"/>
              <a:t>Bus. Requirements, rules, and edge cases</a:t>
            </a:r>
          </a:p>
          <a:p>
            <a:pPr marL="687388" lvl="2" indent="-171450">
              <a:spcBef>
                <a:spcPts val="300"/>
              </a:spcBef>
              <a:buFont typeface="Arial" panose="020B0604020202020204" pitchFamily="34" charset="0"/>
              <a:buChar char="–"/>
              <a:defRPr/>
            </a:pPr>
            <a:r>
              <a:rPr lang="en-US" sz="900"/>
              <a:t>System requirements &amp; KPIs</a:t>
            </a:r>
          </a:p>
          <a:p>
            <a:pPr marL="687388" lvl="2" indent="-171450">
              <a:spcBef>
                <a:spcPts val="300"/>
              </a:spcBef>
              <a:buFont typeface="Arial" panose="020B0604020202020204" pitchFamily="34" charset="0"/>
              <a:buChar char="–"/>
              <a:defRPr/>
            </a:pPr>
            <a:r>
              <a:rPr lang="en-US" sz="900"/>
              <a:t>Path forward towards deployment</a:t>
            </a:r>
          </a:p>
          <a:p>
            <a:pPr marL="687388" lvl="2" indent="-171450">
              <a:spcBef>
                <a:spcPts val="300"/>
              </a:spcBef>
              <a:buFont typeface="Arial" panose="020B0604020202020204" pitchFamily="34" charset="0"/>
              <a:buChar char="–"/>
              <a:defRPr/>
            </a:pPr>
            <a:endParaRPr lang="en-US" sz="900"/>
          </a:p>
        </p:txBody>
      </p:sp>
      <p:sp>
        <p:nvSpPr>
          <p:cNvPr id="190" name="TrackerNumBlue 181">
            <a:extLst>
              <a:ext uri="{FF2B5EF4-FFF2-40B4-BE49-F238E27FC236}">
                <a16:creationId xmlns:a16="http://schemas.microsoft.com/office/drawing/2014/main" id="{CE375F97-5768-E505-4AB9-BBD70FFD4734}"/>
              </a:ext>
            </a:extLst>
          </p:cNvPr>
          <p:cNvSpPr/>
          <p:nvPr>
            <p:custDataLst>
              <p:tags r:id="rId9"/>
            </p:custDataLst>
          </p:nvPr>
        </p:nvSpPr>
        <p:spPr>
          <a:xfrm>
            <a:off x="2770330" y="4414775"/>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2</a:t>
            </a:r>
          </a:p>
        </p:txBody>
      </p:sp>
      <p:sp>
        <p:nvSpPr>
          <p:cNvPr id="191" name="TrackerNumBlue 181">
            <a:extLst>
              <a:ext uri="{FF2B5EF4-FFF2-40B4-BE49-F238E27FC236}">
                <a16:creationId xmlns:a16="http://schemas.microsoft.com/office/drawing/2014/main" id="{2D81EA1E-335B-CF6D-C0BD-4C8953508962}"/>
              </a:ext>
            </a:extLst>
          </p:cNvPr>
          <p:cNvSpPr/>
          <p:nvPr>
            <p:custDataLst>
              <p:tags r:id="rId10"/>
            </p:custDataLst>
          </p:nvPr>
        </p:nvSpPr>
        <p:spPr>
          <a:xfrm>
            <a:off x="2767284" y="4880235"/>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3</a:t>
            </a:r>
          </a:p>
        </p:txBody>
      </p:sp>
      <p:sp>
        <p:nvSpPr>
          <p:cNvPr id="192" name="TrackerNumBlue 181">
            <a:extLst>
              <a:ext uri="{FF2B5EF4-FFF2-40B4-BE49-F238E27FC236}">
                <a16:creationId xmlns:a16="http://schemas.microsoft.com/office/drawing/2014/main" id="{812B4034-647C-296B-75BF-00DE6B926F7C}"/>
              </a:ext>
            </a:extLst>
          </p:cNvPr>
          <p:cNvSpPr/>
          <p:nvPr>
            <p:custDataLst>
              <p:tags r:id="rId11"/>
            </p:custDataLst>
          </p:nvPr>
        </p:nvSpPr>
        <p:spPr>
          <a:xfrm>
            <a:off x="2774402" y="5458724"/>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4</a:t>
            </a:r>
          </a:p>
        </p:txBody>
      </p:sp>
      <p:sp>
        <p:nvSpPr>
          <p:cNvPr id="193" name="TrackerNumBlue 181">
            <a:extLst>
              <a:ext uri="{FF2B5EF4-FFF2-40B4-BE49-F238E27FC236}">
                <a16:creationId xmlns:a16="http://schemas.microsoft.com/office/drawing/2014/main" id="{762065E9-93A8-359C-F457-DC902A3673EA}"/>
              </a:ext>
            </a:extLst>
          </p:cNvPr>
          <p:cNvSpPr/>
          <p:nvPr>
            <p:custDataLst>
              <p:tags r:id="rId12"/>
            </p:custDataLst>
          </p:nvPr>
        </p:nvSpPr>
        <p:spPr>
          <a:xfrm>
            <a:off x="2774402" y="5660964"/>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5</a:t>
            </a:r>
          </a:p>
        </p:txBody>
      </p:sp>
      <p:sp>
        <p:nvSpPr>
          <p:cNvPr id="194" name="TrackerNumBlue 181">
            <a:extLst>
              <a:ext uri="{FF2B5EF4-FFF2-40B4-BE49-F238E27FC236}">
                <a16:creationId xmlns:a16="http://schemas.microsoft.com/office/drawing/2014/main" id="{863F0951-14AE-BE67-D28D-78EE48161635}"/>
              </a:ext>
            </a:extLst>
          </p:cNvPr>
          <p:cNvSpPr/>
          <p:nvPr>
            <p:custDataLst>
              <p:tags r:id="rId13"/>
            </p:custDataLst>
          </p:nvPr>
        </p:nvSpPr>
        <p:spPr>
          <a:xfrm>
            <a:off x="2774402" y="6193657"/>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6</a:t>
            </a:r>
          </a:p>
        </p:txBody>
      </p:sp>
      <p:sp>
        <p:nvSpPr>
          <p:cNvPr id="195" name="TextBox 194">
            <a:extLst>
              <a:ext uri="{FF2B5EF4-FFF2-40B4-BE49-F238E27FC236}">
                <a16:creationId xmlns:a16="http://schemas.microsoft.com/office/drawing/2014/main" id="{7C4D9566-10A3-C1B0-D767-3B066E1DC608}"/>
              </a:ext>
            </a:extLst>
          </p:cNvPr>
          <p:cNvSpPr txBox="1"/>
          <p:nvPr/>
        </p:nvSpPr>
        <p:spPr>
          <a:xfrm>
            <a:off x="6352126" y="4432649"/>
            <a:ext cx="2185249" cy="6924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buNone/>
              <a:defRPr/>
            </a:pPr>
            <a:r>
              <a:rPr lang="en-US" sz="900" b="1">
                <a:solidFill>
                  <a:srgbClr val="000000"/>
                </a:solidFill>
                <a:latin typeface="Arial"/>
                <a:cs typeface="+mn-cs"/>
              </a:rPr>
              <a:t>Gen-AI enabled comprehensive Business Requirements Document (BRD) </a:t>
            </a:r>
            <a:r>
              <a:rPr lang="en-US" sz="900">
                <a:solidFill>
                  <a:srgbClr val="000000"/>
                </a:solidFill>
                <a:latin typeface="Arial"/>
                <a:cs typeface="+mn-cs"/>
              </a:rPr>
              <a:t>for each process and lever prioritized for Horizon 1 (i.e., next ~3 months)</a:t>
            </a:r>
          </a:p>
        </p:txBody>
      </p:sp>
      <p:sp>
        <p:nvSpPr>
          <p:cNvPr id="196" name="TrackerNumBlue 181">
            <a:extLst>
              <a:ext uri="{FF2B5EF4-FFF2-40B4-BE49-F238E27FC236}">
                <a16:creationId xmlns:a16="http://schemas.microsoft.com/office/drawing/2014/main" id="{E08F1F45-FFD0-6D93-D972-EA7AD479B433}"/>
              </a:ext>
            </a:extLst>
          </p:cNvPr>
          <p:cNvSpPr/>
          <p:nvPr>
            <p:custDataLst>
              <p:tags r:id="rId14"/>
            </p:custDataLst>
          </p:nvPr>
        </p:nvSpPr>
        <p:spPr>
          <a:xfrm>
            <a:off x="2767750" y="6502673"/>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7</a:t>
            </a:r>
          </a:p>
        </p:txBody>
      </p:sp>
      <p:sp>
        <p:nvSpPr>
          <p:cNvPr id="202" name="TextBox 201">
            <a:extLst>
              <a:ext uri="{FF2B5EF4-FFF2-40B4-BE49-F238E27FC236}">
                <a16:creationId xmlns:a16="http://schemas.microsoft.com/office/drawing/2014/main" id="{01F464C8-3B23-E193-D951-11799C433D8C}"/>
              </a:ext>
            </a:extLst>
          </p:cNvPr>
          <p:cNvSpPr txBox="1"/>
          <p:nvPr/>
        </p:nvSpPr>
        <p:spPr>
          <a:xfrm>
            <a:off x="9363456" y="1690968"/>
            <a:ext cx="2344650" cy="15927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How are we going to run this BC effort?</a:t>
            </a:r>
          </a:p>
          <a:p>
            <a:pPr lvl="1"/>
            <a:r>
              <a:rPr lang="en-US" b="1"/>
              <a:t>1 AP/P </a:t>
            </a:r>
            <a:r>
              <a:rPr lang="en-US"/>
              <a:t>role-playing clients / SMEs</a:t>
            </a:r>
          </a:p>
          <a:p>
            <a:pPr lvl="1"/>
            <a:r>
              <a:rPr lang="en-US" b="1"/>
              <a:t>1 AP </a:t>
            </a:r>
            <a:r>
              <a:rPr lang="en-US"/>
              <a:t>playing ED</a:t>
            </a:r>
          </a:p>
          <a:p>
            <a:pPr lvl="1"/>
            <a:r>
              <a:rPr lang="en-US" b="1"/>
              <a:t>EM+2 </a:t>
            </a:r>
            <a:r>
              <a:rPr lang="en-US"/>
              <a:t>team set-up</a:t>
            </a:r>
          </a:p>
        </p:txBody>
      </p:sp>
      <p:sp>
        <p:nvSpPr>
          <p:cNvPr id="2" name="TrackerNumBlue 181">
            <a:extLst>
              <a:ext uri="{FF2B5EF4-FFF2-40B4-BE49-F238E27FC236}">
                <a16:creationId xmlns:a16="http://schemas.microsoft.com/office/drawing/2014/main" id="{F01C1B62-15E9-E174-BA7F-482EF4447E95}"/>
              </a:ext>
            </a:extLst>
          </p:cNvPr>
          <p:cNvSpPr/>
          <p:nvPr>
            <p:custDataLst>
              <p:tags r:id="rId15"/>
            </p:custDataLst>
          </p:nvPr>
        </p:nvSpPr>
        <p:spPr>
          <a:xfrm>
            <a:off x="6129014" y="4450868"/>
            <a:ext cx="171253" cy="17125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a:solidFill>
                  <a:schemeClr val="bg1"/>
                </a:solidFill>
              </a:rPr>
              <a:t>8</a:t>
            </a:r>
          </a:p>
        </p:txBody>
      </p:sp>
      <p:grpSp>
        <p:nvGrpSpPr>
          <p:cNvPr id="9" name="ChevronWhite 9">
            <a:extLst>
              <a:ext uri="{FF2B5EF4-FFF2-40B4-BE49-F238E27FC236}">
                <a16:creationId xmlns:a16="http://schemas.microsoft.com/office/drawing/2014/main" id="{8CEDDCAA-6915-E8D3-1448-9D8FAB7C03B2}"/>
              </a:ext>
            </a:extLst>
          </p:cNvPr>
          <p:cNvGrpSpPr>
            <a:grpSpLocks noChangeAspect="1"/>
          </p:cNvGrpSpPr>
          <p:nvPr>
            <p:custDataLst>
              <p:tags r:id="rId16"/>
            </p:custDataLst>
          </p:nvPr>
        </p:nvGrpSpPr>
        <p:grpSpPr>
          <a:xfrm>
            <a:off x="8582593" y="3425704"/>
            <a:ext cx="396228" cy="396228"/>
            <a:chOff x="1016000" y="1016000"/>
            <a:chExt cx="396228" cy="396228"/>
          </a:xfrm>
        </p:grpSpPr>
        <p:sp>
          <p:nvSpPr>
            <p:cNvPr id="6" name="Oval 5">
              <a:extLst>
                <a:ext uri="{FF2B5EF4-FFF2-40B4-BE49-F238E27FC236}">
                  <a16:creationId xmlns:a16="http://schemas.microsoft.com/office/drawing/2014/main" id="{A0167F8E-F76B-AAC9-D4B1-1CFEB9BBED6B}"/>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 name="Graphic 7">
              <a:extLst>
                <a:ext uri="{FF2B5EF4-FFF2-40B4-BE49-F238E27FC236}">
                  <a16:creationId xmlns:a16="http://schemas.microsoft.com/office/drawing/2014/main" id="{9CE2FEFF-92BA-1473-22C5-FE86D8B5EE0C}"/>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23614" y="1023614"/>
              <a:ext cx="381000" cy="381000"/>
            </a:xfrm>
            <a:prstGeom prst="rect">
              <a:avLst/>
            </a:prstGeom>
          </p:spPr>
        </p:pic>
      </p:grpSp>
      <p:sp>
        <p:nvSpPr>
          <p:cNvPr id="14" name="TextBox 13">
            <a:extLst>
              <a:ext uri="{FF2B5EF4-FFF2-40B4-BE49-F238E27FC236}">
                <a16:creationId xmlns:a16="http://schemas.microsoft.com/office/drawing/2014/main" id="{C8001D47-0A5F-F87E-3DE7-34F3ED86251D}"/>
              </a:ext>
            </a:extLst>
          </p:cNvPr>
          <p:cNvSpPr txBox="1"/>
          <p:nvPr/>
        </p:nvSpPr>
        <p:spPr>
          <a:xfrm>
            <a:off x="9366428" y="3730080"/>
            <a:ext cx="2429332" cy="172354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The subsequent client deployment </a:t>
            </a:r>
            <a:r>
              <a:rPr lang="en-US"/>
              <a:t>(other KKR </a:t>
            </a:r>
            <a:r>
              <a:rPr lang="en-US" err="1"/>
              <a:t>PortCo</a:t>
            </a:r>
            <a:r>
              <a:rPr lang="en-US"/>
              <a:t>) will follow the </a:t>
            </a:r>
            <a:r>
              <a:rPr lang="en-US" b="1"/>
              <a:t>same workplan and deliverables tested during the Blue Currency</a:t>
            </a:r>
            <a:endParaRPr lang="en-US"/>
          </a:p>
        </p:txBody>
      </p:sp>
    </p:spTree>
    <p:extLst>
      <p:ext uri="{BB962C8B-B14F-4D97-AF65-F5344CB8AC3E}">
        <p14:creationId xmlns:p14="http://schemas.microsoft.com/office/powerpoint/2010/main" val="957310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2" hidden="1">
            <a:extLst>
              <a:ext uri="{FF2B5EF4-FFF2-40B4-BE49-F238E27FC236}">
                <a16:creationId xmlns:a16="http://schemas.microsoft.com/office/drawing/2014/main" id="{B55DA0C7-0B69-4A86-A645-F6C96A703164}"/>
              </a:ext>
            </a:extLst>
          </p:cNvPr>
          <p:cNvGraphicFramePr>
            <a:graphicFrameLocks noChangeAspect="1"/>
          </p:cNvGraphicFramePr>
          <p:nvPr>
            <p:custDataLst>
              <p:tags r:id="rId1"/>
            </p:custDataLst>
            <p:extLst>
              <p:ext uri="{D42A27DB-BD31-4B8C-83A1-F6EECF244321}">
                <p14:modId xmlns:p14="http://schemas.microsoft.com/office/powerpoint/2010/main" val="38464688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9" name="Object 2" hidden="1">
                        <a:extLst>
                          <a:ext uri="{FF2B5EF4-FFF2-40B4-BE49-F238E27FC236}">
                            <a16:creationId xmlns:a16="http://schemas.microsoft.com/office/drawing/2014/main" id="{B55DA0C7-0B69-4A86-A645-F6C96A70316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Rectangle 1" hidden="1">
            <a:extLst>
              <a:ext uri="{FF2B5EF4-FFF2-40B4-BE49-F238E27FC236}">
                <a16:creationId xmlns:a16="http://schemas.microsoft.com/office/drawing/2014/main" id="{C79E8F9A-7CE0-4C22-BC41-BBDC56FC9D7A}"/>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en-US" sz="2500" b="1" err="1">
              <a:solidFill>
                <a:schemeClr val="bg1"/>
              </a:solidFill>
              <a:latin typeface="Georgia" panose="02040502050405020303" pitchFamily="18" charset="0"/>
              <a:ea typeface="+mj-ea"/>
              <a:cs typeface="+mj-cs"/>
              <a:sym typeface="Georgia" panose="02040502050405020303" pitchFamily="18" charset="0"/>
            </a:endParaRPr>
          </a:p>
        </p:txBody>
      </p:sp>
      <p:sp>
        <p:nvSpPr>
          <p:cNvPr id="2" name="2. Slide Title"/>
          <p:cNvSpPr>
            <a:spLocks noGrp="1"/>
          </p:cNvSpPr>
          <p:nvPr>
            <p:ph type="title"/>
            <p:custDataLst>
              <p:tags r:id="rId3"/>
            </p:custDataLst>
          </p:nvPr>
        </p:nvSpPr>
        <p:spPr>
          <a:xfrm>
            <a:off x="554736" y="376111"/>
            <a:ext cx="11082528"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3. Joint Private Capital and GM&amp;S support – Co-investing in the BC for the benefit of both Practices</a:t>
            </a:r>
          </a:p>
        </p:txBody>
      </p:sp>
      <p:grpSp>
        <p:nvGrpSpPr>
          <p:cNvPr id="10" name="Group 9">
            <a:extLst>
              <a:ext uri="{FF2B5EF4-FFF2-40B4-BE49-F238E27FC236}">
                <a16:creationId xmlns:a16="http://schemas.microsoft.com/office/drawing/2014/main" id="{34CEDBD4-86EF-421D-8CA8-FE88161F74E3}"/>
              </a:ext>
            </a:extLst>
          </p:cNvPr>
          <p:cNvGrpSpPr/>
          <p:nvPr/>
        </p:nvGrpSpPr>
        <p:grpSpPr>
          <a:xfrm>
            <a:off x="554736" y="1860142"/>
            <a:ext cx="3657600" cy="3657600"/>
            <a:chOff x="7613553" y="1824246"/>
            <a:chExt cx="4031730" cy="3821832"/>
          </a:xfrm>
          <a:solidFill>
            <a:schemeClr val="accent1"/>
          </a:solidFill>
        </p:grpSpPr>
        <p:sp>
          <p:nvSpPr>
            <p:cNvPr id="18" name="Freeform: Shape 17">
              <a:extLst>
                <a:ext uri="{FF2B5EF4-FFF2-40B4-BE49-F238E27FC236}">
                  <a16:creationId xmlns:a16="http://schemas.microsoft.com/office/drawing/2014/main" id="{091C9E0A-4EE8-48DB-A283-A3DDF60F8B06}"/>
                </a:ext>
              </a:extLst>
            </p:cNvPr>
            <p:cNvSpPr/>
            <p:nvPr/>
          </p:nvSpPr>
          <p:spPr>
            <a:xfrm>
              <a:off x="7613553" y="1824246"/>
              <a:ext cx="2110596" cy="3821832"/>
            </a:xfrm>
            <a:custGeom>
              <a:avLst/>
              <a:gdLst>
                <a:gd name="connsiteX0" fmla="*/ 1769861 w 1988840"/>
                <a:gd name="connsiteY0" fmla="*/ 0 h 3794694"/>
                <a:gd name="connsiteX1" fmla="*/ 1769861 w 1988840"/>
                <a:gd name="connsiteY1" fmla="*/ 647577 h 3794694"/>
                <a:gd name="connsiteX2" fmla="*/ 1988840 w 1988840"/>
                <a:gd name="connsiteY2" fmla="*/ 875470 h 3794694"/>
                <a:gd name="connsiteX3" fmla="*/ 1770009 w 1988840"/>
                <a:gd name="connsiteY3" fmla="*/ 1103362 h 3794694"/>
                <a:gd name="connsiteX4" fmla="*/ 1770009 w 1988840"/>
                <a:gd name="connsiteY4" fmla="*/ 1504825 h 3794694"/>
                <a:gd name="connsiteX5" fmla="*/ 1772134 w 1988840"/>
                <a:gd name="connsiteY5" fmla="*/ 1504825 h 3794694"/>
                <a:gd name="connsiteX6" fmla="*/ 1772134 w 1988840"/>
                <a:gd name="connsiteY6" fmla="*/ 2287145 h 3794694"/>
                <a:gd name="connsiteX7" fmla="*/ 1769711 w 1988840"/>
                <a:gd name="connsiteY7" fmla="*/ 2287145 h 3794694"/>
                <a:gd name="connsiteX8" fmla="*/ 1769711 w 1988840"/>
                <a:gd name="connsiteY8" fmla="*/ 2657014 h 3794694"/>
                <a:gd name="connsiteX9" fmla="*/ 1560685 w 1988840"/>
                <a:gd name="connsiteY9" fmla="*/ 2919224 h 3794694"/>
                <a:gd name="connsiteX10" fmla="*/ 1769711 w 1988840"/>
                <a:gd name="connsiteY10" fmla="*/ 3181434 h 3794694"/>
                <a:gd name="connsiteX11" fmla="*/ 1769711 w 1988840"/>
                <a:gd name="connsiteY11" fmla="*/ 3794694 h 3794694"/>
                <a:gd name="connsiteX12" fmla="*/ 27812 w 1988840"/>
                <a:gd name="connsiteY12" fmla="*/ 2222771 h 3794694"/>
                <a:gd name="connsiteX13" fmla="*/ 27113 w 1988840"/>
                <a:gd name="connsiteY13" fmla="*/ 2208948 h 3794694"/>
                <a:gd name="connsiteX14" fmla="*/ 8680 w 1988840"/>
                <a:gd name="connsiteY14" fmla="*/ 2078489 h 3794694"/>
                <a:gd name="connsiteX15" fmla="*/ 0 w 1988840"/>
                <a:gd name="connsiteY15" fmla="*/ 1892964 h 3794694"/>
                <a:gd name="connsiteX16" fmla="*/ 34192 w 1988840"/>
                <a:gd name="connsiteY16" fmla="*/ 1526881 h 3794694"/>
                <a:gd name="connsiteX17" fmla="*/ 35988 w 1988840"/>
                <a:gd name="connsiteY17" fmla="*/ 1519330 h 3794694"/>
                <a:gd name="connsiteX18" fmla="*/ 54495 w 1988840"/>
                <a:gd name="connsiteY18" fmla="*/ 1398074 h 3794694"/>
                <a:gd name="connsiteX19" fmla="*/ 1769861 w 1988840"/>
                <a:gd name="connsiteY19" fmla="*/ 0 h 3794694"/>
                <a:gd name="connsiteX0" fmla="*/ 1769861 w 1988840"/>
                <a:gd name="connsiteY0" fmla="*/ 0 h 3794694"/>
                <a:gd name="connsiteX1" fmla="*/ 1769861 w 1988840"/>
                <a:gd name="connsiteY1" fmla="*/ 647577 h 3794694"/>
                <a:gd name="connsiteX2" fmla="*/ 1988840 w 1988840"/>
                <a:gd name="connsiteY2" fmla="*/ 875470 h 3794694"/>
                <a:gd name="connsiteX3" fmla="*/ 1770009 w 1988840"/>
                <a:gd name="connsiteY3" fmla="*/ 1103362 h 3794694"/>
                <a:gd name="connsiteX4" fmla="*/ 1770009 w 1988840"/>
                <a:gd name="connsiteY4" fmla="*/ 1504825 h 3794694"/>
                <a:gd name="connsiteX5" fmla="*/ 1772134 w 1988840"/>
                <a:gd name="connsiteY5" fmla="*/ 1504825 h 3794694"/>
                <a:gd name="connsiteX6" fmla="*/ 1772134 w 1988840"/>
                <a:gd name="connsiteY6" fmla="*/ 2287145 h 3794694"/>
                <a:gd name="connsiteX7" fmla="*/ 1769711 w 1988840"/>
                <a:gd name="connsiteY7" fmla="*/ 2287145 h 3794694"/>
                <a:gd name="connsiteX8" fmla="*/ 1769711 w 1988840"/>
                <a:gd name="connsiteY8" fmla="*/ 2657014 h 3794694"/>
                <a:gd name="connsiteX9" fmla="*/ 1560685 w 1988840"/>
                <a:gd name="connsiteY9" fmla="*/ 2919224 h 3794694"/>
                <a:gd name="connsiteX10" fmla="*/ 1769711 w 1988840"/>
                <a:gd name="connsiteY10" fmla="*/ 3181434 h 3794694"/>
                <a:gd name="connsiteX11" fmla="*/ 1769711 w 1988840"/>
                <a:gd name="connsiteY11" fmla="*/ 3794694 h 3794694"/>
                <a:gd name="connsiteX12" fmla="*/ 27812 w 1988840"/>
                <a:gd name="connsiteY12" fmla="*/ 2222771 h 3794694"/>
                <a:gd name="connsiteX13" fmla="*/ 27113 w 1988840"/>
                <a:gd name="connsiteY13" fmla="*/ 2208948 h 3794694"/>
                <a:gd name="connsiteX14" fmla="*/ 8680 w 1988840"/>
                <a:gd name="connsiteY14" fmla="*/ 2078489 h 3794694"/>
                <a:gd name="connsiteX15" fmla="*/ 0 w 1988840"/>
                <a:gd name="connsiteY15" fmla="*/ 1892964 h 3794694"/>
                <a:gd name="connsiteX16" fmla="*/ 34192 w 1988840"/>
                <a:gd name="connsiteY16" fmla="*/ 1526881 h 3794694"/>
                <a:gd name="connsiteX17" fmla="*/ 35988 w 1988840"/>
                <a:gd name="connsiteY17" fmla="*/ 1519330 h 3794694"/>
                <a:gd name="connsiteX18" fmla="*/ 54495 w 1988840"/>
                <a:gd name="connsiteY18" fmla="*/ 1398074 h 3794694"/>
                <a:gd name="connsiteX19" fmla="*/ 1769861 w 1988840"/>
                <a:gd name="connsiteY19" fmla="*/ 0 h 3794694"/>
                <a:gd name="connsiteX0" fmla="*/ 1769861 w 1988840"/>
                <a:gd name="connsiteY0" fmla="*/ 0 h 3794694"/>
                <a:gd name="connsiteX1" fmla="*/ 1769861 w 1988840"/>
                <a:gd name="connsiteY1" fmla="*/ 647577 h 3794694"/>
                <a:gd name="connsiteX2" fmla="*/ 1988840 w 1988840"/>
                <a:gd name="connsiteY2" fmla="*/ 875470 h 3794694"/>
                <a:gd name="connsiteX3" fmla="*/ 1770009 w 1988840"/>
                <a:gd name="connsiteY3" fmla="*/ 1103362 h 3794694"/>
                <a:gd name="connsiteX4" fmla="*/ 1770009 w 1988840"/>
                <a:gd name="connsiteY4" fmla="*/ 1504825 h 3794694"/>
                <a:gd name="connsiteX5" fmla="*/ 1772134 w 1988840"/>
                <a:gd name="connsiteY5" fmla="*/ 1504825 h 3794694"/>
                <a:gd name="connsiteX6" fmla="*/ 1772134 w 1988840"/>
                <a:gd name="connsiteY6" fmla="*/ 2287145 h 3794694"/>
                <a:gd name="connsiteX7" fmla="*/ 1769711 w 1988840"/>
                <a:gd name="connsiteY7" fmla="*/ 2287145 h 3794694"/>
                <a:gd name="connsiteX8" fmla="*/ 1769711 w 1988840"/>
                <a:gd name="connsiteY8" fmla="*/ 2657014 h 3794694"/>
                <a:gd name="connsiteX9" fmla="*/ 1560685 w 1988840"/>
                <a:gd name="connsiteY9" fmla="*/ 2919224 h 3794694"/>
                <a:gd name="connsiteX10" fmla="*/ 1769711 w 1988840"/>
                <a:gd name="connsiteY10" fmla="*/ 3181434 h 3794694"/>
                <a:gd name="connsiteX11" fmla="*/ 1769711 w 1988840"/>
                <a:gd name="connsiteY11" fmla="*/ 3794694 h 3794694"/>
                <a:gd name="connsiteX12" fmla="*/ 27812 w 1988840"/>
                <a:gd name="connsiteY12" fmla="*/ 2222771 h 3794694"/>
                <a:gd name="connsiteX13" fmla="*/ 27113 w 1988840"/>
                <a:gd name="connsiteY13" fmla="*/ 2208948 h 3794694"/>
                <a:gd name="connsiteX14" fmla="*/ 8680 w 1988840"/>
                <a:gd name="connsiteY14" fmla="*/ 2078489 h 3794694"/>
                <a:gd name="connsiteX15" fmla="*/ 0 w 1988840"/>
                <a:gd name="connsiteY15" fmla="*/ 1892964 h 3794694"/>
                <a:gd name="connsiteX16" fmla="*/ 34192 w 1988840"/>
                <a:gd name="connsiteY16" fmla="*/ 1526881 h 3794694"/>
                <a:gd name="connsiteX17" fmla="*/ 35988 w 1988840"/>
                <a:gd name="connsiteY17" fmla="*/ 1519330 h 3794694"/>
                <a:gd name="connsiteX18" fmla="*/ 54495 w 1988840"/>
                <a:gd name="connsiteY18" fmla="*/ 1398074 h 3794694"/>
                <a:gd name="connsiteX19" fmla="*/ 1769861 w 1988840"/>
                <a:gd name="connsiteY19" fmla="*/ 0 h 3794694"/>
                <a:gd name="connsiteX0" fmla="*/ 1769861 w 1988840"/>
                <a:gd name="connsiteY0" fmla="*/ 0 h 3794694"/>
                <a:gd name="connsiteX1" fmla="*/ 1769861 w 1988840"/>
                <a:gd name="connsiteY1" fmla="*/ 647577 h 3794694"/>
                <a:gd name="connsiteX2" fmla="*/ 1988840 w 1988840"/>
                <a:gd name="connsiteY2" fmla="*/ 875470 h 3794694"/>
                <a:gd name="connsiteX3" fmla="*/ 1770009 w 1988840"/>
                <a:gd name="connsiteY3" fmla="*/ 1103362 h 3794694"/>
                <a:gd name="connsiteX4" fmla="*/ 1770009 w 1988840"/>
                <a:gd name="connsiteY4" fmla="*/ 1504825 h 3794694"/>
                <a:gd name="connsiteX5" fmla="*/ 1772134 w 1988840"/>
                <a:gd name="connsiteY5" fmla="*/ 1504825 h 3794694"/>
                <a:gd name="connsiteX6" fmla="*/ 1772134 w 1988840"/>
                <a:gd name="connsiteY6" fmla="*/ 2287145 h 3794694"/>
                <a:gd name="connsiteX7" fmla="*/ 1769711 w 1988840"/>
                <a:gd name="connsiteY7" fmla="*/ 2287145 h 3794694"/>
                <a:gd name="connsiteX8" fmla="*/ 1769711 w 1988840"/>
                <a:gd name="connsiteY8" fmla="*/ 2657014 h 3794694"/>
                <a:gd name="connsiteX9" fmla="*/ 1560685 w 1988840"/>
                <a:gd name="connsiteY9" fmla="*/ 2919224 h 3794694"/>
                <a:gd name="connsiteX10" fmla="*/ 1769711 w 1988840"/>
                <a:gd name="connsiteY10" fmla="*/ 3181434 h 3794694"/>
                <a:gd name="connsiteX11" fmla="*/ 1769711 w 1988840"/>
                <a:gd name="connsiteY11" fmla="*/ 3794694 h 3794694"/>
                <a:gd name="connsiteX12" fmla="*/ 27812 w 1988840"/>
                <a:gd name="connsiteY12" fmla="*/ 2222771 h 3794694"/>
                <a:gd name="connsiteX13" fmla="*/ 27113 w 1988840"/>
                <a:gd name="connsiteY13" fmla="*/ 2208948 h 3794694"/>
                <a:gd name="connsiteX14" fmla="*/ 8680 w 1988840"/>
                <a:gd name="connsiteY14" fmla="*/ 2078489 h 3794694"/>
                <a:gd name="connsiteX15" fmla="*/ 0 w 1988840"/>
                <a:gd name="connsiteY15" fmla="*/ 1892964 h 3794694"/>
                <a:gd name="connsiteX16" fmla="*/ 34192 w 1988840"/>
                <a:gd name="connsiteY16" fmla="*/ 1526881 h 3794694"/>
                <a:gd name="connsiteX17" fmla="*/ 35988 w 1988840"/>
                <a:gd name="connsiteY17" fmla="*/ 1519330 h 3794694"/>
                <a:gd name="connsiteX18" fmla="*/ 54495 w 1988840"/>
                <a:gd name="connsiteY18" fmla="*/ 1398074 h 3794694"/>
                <a:gd name="connsiteX19" fmla="*/ 1769861 w 1988840"/>
                <a:gd name="connsiteY19" fmla="*/ 0 h 3794694"/>
                <a:gd name="connsiteX0" fmla="*/ 1769861 w 1988840"/>
                <a:gd name="connsiteY0" fmla="*/ 0 h 3794694"/>
                <a:gd name="connsiteX1" fmla="*/ 1769861 w 1988840"/>
                <a:gd name="connsiteY1" fmla="*/ 647577 h 3794694"/>
                <a:gd name="connsiteX2" fmla="*/ 1988840 w 1988840"/>
                <a:gd name="connsiteY2" fmla="*/ 875470 h 3794694"/>
                <a:gd name="connsiteX3" fmla="*/ 1770009 w 1988840"/>
                <a:gd name="connsiteY3" fmla="*/ 1103362 h 3794694"/>
                <a:gd name="connsiteX4" fmla="*/ 1770009 w 1988840"/>
                <a:gd name="connsiteY4" fmla="*/ 1504825 h 3794694"/>
                <a:gd name="connsiteX5" fmla="*/ 1772134 w 1988840"/>
                <a:gd name="connsiteY5" fmla="*/ 1504825 h 3794694"/>
                <a:gd name="connsiteX6" fmla="*/ 1772134 w 1988840"/>
                <a:gd name="connsiteY6" fmla="*/ 2287145 h 3794694"/>
                <a:gd name="connsiteX7" fmla="*/ 1769711 w 1988840"/>
                <a:gd name="connsiteY7" fmla="*/ 2287145 h 3794694"/>
                <a:gd name="connsiteX8" fmla="*/ 1769711 w 1988840"/>
                <a:gd name="connsiteY8" fmla="*/ 2657014 h 3794694"/>
                <a:gd name="connsiteX9" fmla="*/ 1560685 w 1988840"/>
                <a:gd name="connsiteY9" fmla="*/ 2919224 h 3794694"/>
                <a:gd name="connsiteX10" fmla="*/ 1769711 w 1988840"/>
                <a:gd name="connsiteY10" fmla="*/ 3181434 h 3794694"/>
                <a:gd name="connsiteX11" fmla="*/ 1769711 w 1988840"/>
                <a:gd name="connsiteY11" fmla="*/ 3794694 h 3794694"/>
                <a:gd name="connsiteX12" fmla="*/ 27812 w 1988840"/>
                <a:gd name="connsiteY12" fmla="*/ 2222771 h 3794694"/>
                <a:gd name="connsiteX13" fmla="*/ 27113 w 1988840"/>
                <a:gd name="connsiteY13" fmla="*/ 2208948 h 3794694"/>
                <a:gd name="connsiteX14" fmla="*/ 8680 w 1988840"/>
                <a:gd name="connsiteY14" fmla="*/ 2078489 h 3794694"/>
                <a:gd name="connsiteX15" fmla="*/ 0 w 1988840"/>
                <a:gd name="connsiteY15" fmla="*/ 1892964 h 3794694"/>
                <a:gd name="connsiteX16" fmla="*/ 34192 w 1988840"/>
                <a:gd name="connsiteY16" fmla="*/ 1526881 h 3794694"/>
                <a:gd name="connsiteX17" fmla="*/ 35988 w 1988840"/>
                <a:gd name="connsiteY17" fmla="*/ 1519330 h 3794694"/>
                <a:gd name="connsiteX18" fmla="*/ 54495 w 1988840"/>
                <a:gd name="connsiteY18" fmla="*/ 1398074 h 3794694"/>
                <a:gd name="connsiteX19" fmla="*/ 1769861 w 1988840"/>
                <a:gd name="connsiteY19" fmla="*/ 0 h 379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88840" h="3794694">
                  <a:moveTo>
                    <a:pt x="1769861" y="0"/>
                  </a:moveTo>
                  <a:lnTo>
                    <a:pt x="1769861" y="647577"/>
                  </a:lnTo>
                  <a:cubicBezTo>
                    <a:pt x="1891532" y="652628"/>
                    <a:pt x="1988840" y="752461"/>
                    <a:pt x="1988840" y="875470"/>
                  </a:cubicBezTo>
                  <a:cubicBezTo>
                    <a:pt x="1988840" y="998478"/>
                    <a:pt x="1891681" y="1098311"/>
                    <a:pt x="1770009" y="1103362"/>
                  </a:cubicBezTo>
                  <a:lnTo>
                    <a:pt x="1770009" y="1504825"/>
                  </a:lnTo>
                  <a:lnTo>
                    <a:pt x="1772134" y="1504825"/>
                  </a:lnTo>
                  <a:lnTo>
                    <a:pt x="1772134" y="2287145"/>
                  </a:lnTo>
                  <a:lnTo>
                    <a:pt x="1769711" y="2287145"/>
                  </a:lnTo>
                  <a:lnTo>
                    <a:pt x="1769711" y="2657014"/>
                  </a:lnTo>
                  <a:cubicBezTo>
                    <a:pt x="1650119" y="2684349"/>
                    <a:pt x="1560685" y="2791313"/>
                    <a:pt x="1560685" y="2919224"/>
                  </a:cubicBezTo>
                  <a:cubicBezTo>
                    <a:pt x="1560685" y="3047284"/>
                    <a:pt x="1650119" y="3154099"/>
                    <a:pt x="1769711" y="3181434"/>
                  </a:cubicBezTo>
                  <a:lnTo>
                    <a:pt x="1769711" y="3794694"/>
                  </a:lnTo>
                  <a:cubicBezTo>
                    <a:pt x="872996" y="3716036"/>
                    <a:pt x="142881" y="3090430"/>
                    <a:pt x="27812" y="2222771"/>
                  </a:cubicBezTo>
                  <a:lnTo>
                    <a:pt x="27113" y="2208948"/>
                  </a:lnTo>
                  <a:lnTo>
                    <a:pt x="8680" y="2078489"/>
                  </a:lnTo>
                  <a:cubicBezTo>
                    <a:pt x="2937" y="2017431"/>
                    <a:pt x="0" y="1955545"/>
                    <a:pt x="0" y="1892964"/>
                  </a:cubicBezTo>
                  <a:cubicBezTo>
                    <a:pt x="0" y="1767803"/>
                    <a:pt x="11749" y="1645420"/>
                    <a:pt x="34192" y="1526881"/>
                  </a:cubicBezTo>
                  <a:lnTo>
                    <a:pt x="35988" y="1519330"/>
                  </a:lnTo>
                  <a:lnTo>
                    <a:pt x="54495" y="1398074"/>
                  </a:lnTo>
                  <a:cubicBezTo>
                    <a:pt x="286595" y="610048"/>
                    <a:pt x="923749" y="58994"/>
                    <a:pt x="1769861" y="0"/>
                  </a:cubicBezTo>
                  <a:close/>
                </a:path>
              </a:pathLst>
            </a:custGeom>
            <a:grpFill/>
            <a:ln w="14829"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A636E1D-697E-4B54-89A0-5D7D14F11946}"/>
                </a:ext>
              </a:extLst>
            </p:cNvPr>
            <p:cNvSpPr/>
            <p:nvPr/>
          </p:nvSpPr>
          <p:spPr>
            <a:xfrm>
              <a:off x="9544305" y="1824321"/>
              <a:ext cx="2100978" cy="3821682"/>
            </a:xfrm>
            <a:custGeom>
              <a:avLst/>
              <a:gdLst>
                <a:gd name="connsiteX0" fmla="*/ 218830 w 1979776"/>
                <a:gd name="connsiteY0" fmla="*/ 0 h 3794545"/>
                <a:gd name="connsiteX1" fmla="*/ 1960607 w 1979776"/>
                <a:gd name="connsiteY1" fmla="*/ 1571923 h 3794545"/>
                <a:gd name="connsiteX2" fmla="*/ 1965401 w 1979776"/>
                <a:gd name="connsiteY2" fmla="*/ 1667133 h 3794545"/>
                <a:gd name="connsiteX3" fmla="*/ 1971096 w 1979776"/>
                <a:gd name="connsiteY3" fmla="*/ 1707439 h 3794545"/>
                <a:gd name="connsiteX4" fmla="*/ 1979776 w 1979776"/>
                <a:gd name="connsiteY4" fmla="*/ 1892964 h 3794545"/>
                <a:gd name="connsiteX5" fmla="*/ 1971096 w 1979776"/>
                <a:gd name="connsiteY5" fmla="*/ 2078489 h 3794545"/>
                <a:gd name="connsiteX6" fmla="*/ 1966293 w 1979776"/>
                <a:gd name="connsiteY6" fmla="*/ 2112486 h 3794545"/>
                <a:gd name="connsiteX7" fmla="*/ 1960731 w 1979776"/>
                <a:gd name="connsiteY7" fmla="*/ 2222623 h 3794545"/>
                <a:gd name="connsiteX8" fmla="*/ 218830 w 1979776"/>
                <a:gd name="connsiteY8" fmla="*/ 3794545 h 3794545"/>
                <a:gd name="connsiteX9" fmla="*/ 218830 w 1979776"/>
                <a:gd name="connsiteY9" fmla="*/ 3146968 h 3794545"/>
                <a:gd name="connsiteX10" fmla="*/ 0 w 1979776"/>
                <a:gd name="connsiteY10" fmla="*/ 2919075 h 3794545"/>
                <a:gd name="connsiteX11" fmla="*/ 218830 w 1979776"/>
                <a:gd name="connsiteY11" fmla="*/ 2691182 h 3794545"/>
                <a:gd name="connsiteX12" fmla="*/ 218830 w 1979776"/>
                <a:gd name="connsiteY12" fmla="*/ 2287145 h 3794545"/>
                <a:gd name="connsiteX13" fmla="*/ 218830 w 1979776"/>
                <a:gd name="connsiteY13" fmla="*/ 2043605 h 3794545"/>
                <a:gd name="connsiteX14" fmla="*/ 218830 w 1979776"/>
                <a:gd name="connsiteY14" fmla="*/ 1750941 h 3794545"/>
                <a:gd name="connsiteX15" fmla="*/ 218830 w 1979776"/>
                <a:gd name="connsiteY15" fmla="*/ 1504825 h 3794545"/>
                <a:gd name="connsiteX16" fmla="*/ 218830 w 1979776"/>
                <a:gd name="connsiteY16" fmla="*/ 1137681 h 3794545"/>
                <a:gd name="connsiteX17" fmla="*/ 427855 w 1979776"/>
                <a:gd name="connsiteY17" fmla="*/ 875471 h 3794545"/>
                <a:gd name="connsiteX18" fmla="*/ 218830 w 1979776"/>
                <a:gd name="connsiteY18" fmla="*/ 613260 h 3794545"/>
                <a:gd name="connsiteX0" fmla="*/ 218830 w 1979776"/>
                <a:gd name="connsiteY0" fmla="*/ 0 h 3794545"/>
                <a:gd name="connsiteX1" fmla="*/ 1960607 w 1979776"/>
                <a:gd name="connsiteY1" fmla="*/ 1571923 h 3794545"/>
                <a:gd name="connsiteX2" fmla="*/ 1965401 w 1979776"/>
                <a:gd name="connsiteY2" fmla="*/ 1667133 h 3794545"/>
                <a:gd name="connsiteX3" fmla="*/ 1971096 w 1979776"/>
                <a:gd name="connsiteY3" fmla="*/ 1707439 h 3794545"/>
                <a:gd name="connsiteX4" fmla="*/ 1979776 w 1979776"/>
                <a:gd name="connsiteY4" fmla="*/ 1892964 h 3794545"/>
                <a:gd name="connsiteX5" fmla="*/ 1971096 w 1979776"/>
                <a:gd name="connsiteY5" fmla="*/ 2078489 h 3794545"/>
                <a:gd name="connsiteX6" fmla="*/ 1966293 w 1979776"/>
                <a:gd name="connsiteY6" fmla="*/ 2112486 h 3794545"/>
                <a:gd name="connsiteX7" fmla="*/ 1960731 w 1979776"/>
                <a:gd name="connsiteY7" fmla="*/ 2222623 h 3794545"/>
                <a:gd name="connsiteX8" fmla="*/ 218830 w 1979776"/>
                <a:gd name="connsiteY8" fmla="*/ 3794545 h 3794545"/>
                <a:gd name="connsiteX9" fmla="*/ 218830 w 1979776"/>
                <a:gd name="connsiteY9" fmla="*/ 3146968 h 3794545"/>
                <a:gd name="connsiteX10" fmla="*/ 0 w 1979776"/>
                <a:gd name="connsiteY10" fmla="*/ 2919075 h 3794545"/>
                <a:gd name="connsiteX11" fmla="*/ 218830 w 1979776"/>
                <a:gd name="connsiteY11" fmla="*/ 2691182 h 3794545"/>
                <a:gd name="connsiteX12" fmla="*/ 218830 w 1979776"/>
                <a:gd name="connsiteY12" fmla="*/ 2287145 h 3794545"/>
                <a:gd name="connsiteX13" fmla="*/ 218830 w 1979776"/>
                <a:gd name="connsiteY13" fmla="*/ 2043605 h 3794545"/>
                <a:gd name="connsiteX14" fmla="*/ 218830 w 1979776"/>
                <a:gd name="connsiteY14" fmla="*/ 1750941 h 3794545"/>
                <a:gd name="connsiteX15" fmla="*/ 218830 w 1979776"/>
                <a:gd name="connsiteY15" fmla="*/ 1504825 h 3794545"/>
                <a:gd name="connsiteX16" fmla="*/ 218830 w 1979776"/>
                <a:gd name="connsiteY16" fmla="*/ 1137681 h 3794545"/>
                <a:gd name="connsiteX17" fmla="*/ 427855 w 1979776"/>
                <a:gd name="connsiteY17" fmla="*/ 875471 h 3794545"/>
                <a:gd name="connsiteX18" fmla="*/ 218830 w 1979776"/>
                <a:gd name="connsiteY18" fmla="*/ 613260 h 3794545"/>
                <a:gd name="connsiteX19" fmla="*/ 218830 w 1979776"/>
                <a:gd name="connsiteY19" fmla="*/ 0 h 3794545"/>
                <a:gd name="connsiteX0" fmla="*/ 218830 w 1979776"/>
                <a:gd name="connsiteY0" fmla="*/ 0 h 3794545"/>
                <a:gd name="connsiteX1" fmla="*/ 1960607 w 1979776"/>
                <a:gd name="connsiteY1" fmla="*/ 1571923 h 3794545"/>
                <a:gd name="connsiteX2" fmla="*/ 1965401 w 1979776"/>
                <a:gd name="connsiteY2" fmla="*/ 1667133 h 3794545"/>
                <a:gd name="connsiteX3" fmla="*/ 1971096 w 1979776"/>
                <a:gd name="connsiteY3" fmla="*/ 1707439 h 3794545"/>
                <a:gd name="connsiteX4" fmla="*/ 1979776 w 1979776"/>
                <a:gd name="connsiteY4" fmla="*/ 1892964 h 3794545"/>
                <a:gd name="connsiteX5" fmla="*/ 1971096 w 1979776"/>
                <a:gd name="connsiteY5" fmla="*/ 2078489 h 3794545"/>
                <a:gd name="connsiteX6" fmla="*/ 1966293 w 1979776"/>
                <a:gd name="connsiteY6" fmla="*/ 2112486 h 3794545"/>
                <a:gd name="connsiteX7" fmla="*/ 1960731 w 1979776"/>
                <a:gd name="connsiteY7" fmla="*/ 2222623 h 3794545"/>
                <a:gd name="connsiteX8" fmla="*/ 218830 w 1979776"/>
                <a:gd name="connsiteY8" fmla="*/ 3794545 h 3794545"/>
                <a:gd name="connsiteX9" fmla="*/ 218830 w 1979776"/>
                <a:gd name="connsiteY9" fmla="*/ 3146968 h 3794545"/>
                <a:gd name="connsiteX10" fmla="*/ 0 w 1979776"/>
                <a:gd name="connsiteY10" fmla="*/ 2919075 h 3794545"/>
                <a:gd name="connsiteX11" fmla="*/ 218830 w 1979776"/>
                <a:gd name="connsiteY11" fmla="*/ 2691182 h 3794545"/>
                <a:gd name="connsiteX12" fmla="*/ 218830 w 1979776"/>
                <a:gd name="connsiteY12" fmla="*/ 2287145 h 3794545"/>
                <a:gd name="connsiteX13" fmla="*/ 218830 w 1979776"/>
                <a:gd name="connsiteY13" fmla="*/ 2043605 h 3794545"/>
                <a:gd name="connsiteX14" fmla="*/ 218830 w 1979776"/>
                <a:gd name="connsiteY14" fmla="*/ 1750941 h 3794545"/>
                <a:gd name="connsiteX15" fmla="*/ 218830 w 1979776"/>
                <a:gd name="connsiteY15" fmla="*/ 1504825 h 3794545"/>
                <a:gd name="connsiteX16" fmla="*/ 218830 w 1979776"/>
                <a:gd name="connsiteY16" fmla="*/ 1137681 h 3794545"/>
                <a:gd name="connsiteX17" fmla="*/ 427855 w 1979776"/>
                <a:gd name="connsiteY17" fmla="*/ 875471 h 3794545"/>
                <a:gd name="connsiteX18" fmla="*/ 218830 w 1979776"/>
                <a:gd name="connsiteY18" fmla="*/ 613260 h 3794545"/>
                <a:gd name="connsiteX19" fmla="*/ 218830 w 1979776"/>
                <a:gd name="connsiteY19" fmla="*/ 0 h 3794545"/>
                <a:gd name="connsiteX0" fmla="*/ 218830 w 1979776"/>
                <a:gd name="connsiteY0" fmla="*/ 0 h 3794545"/>
                <a:gd name="connsiteX1" fmla="*/ 1960607 w 1979776"/>
                <a:gd name="connsiteY1" fmla="*/ 1571923 h 3794545"/>
                <a:gd name="connsiteX2" fmla="*/ 1965401 w 1979776"/>
                <a:gd name="connsiteY2" fmla="*/ 1667133 h 3794545"/>
                <a:gd name="connsiteX3" fmla="*/ 1971096 w 1979776"/>
                <a:gd name="connsiteY3" fmla="*/ 1707439 h 3794545"/>
                <a:gd name="connsiteX4" fmla="*/ 1979776 w 1979776"/>
                <a:gd name="connsiteY4" fmla="*/ 1892964 h 3794545"/>
                <a:gd name="connsiteX5" fmla="*/ 1971096 w 1979776"/>
                <a:gd name="connsiteY5" fmla="*/ 2078489 h 3794545"/>
                <a:gd name="connsiteX6" fmla="*/ 1966293 w 1979776"/>
                <a:gd name="connsiteY6" fmla="*/ 2112486 h 3794545"/>
                <a:gd name="connsiteX7" fmla="*/ 1960731 w 1979776"/>
                <a:gd name="connsiteY7" fmla="*/ 2222623 h 3794545"/>
                <a:gd name="connsiteX8" fmla="*/ 218830 w 1979776"/>
                <a:gd name="connsiteY8" fmla="*/ 3794545 h 3794545"/>
                <a:gd name="connsiteX9" fmla="*/ 218830 w 1979776"/>
                <a:gd name="connsiteY9" fmla="*/ 3146968 h 3794545"/>
                <a:gd name="connsiteX10" fmla="*/ 0 w 1979776"/>
                <a:gd name="connsiteY10" fmla="*/ 2919075 h 3794545"/>
                <a:gd name="connsiteX11" fmla="*/ 218830 w 1979776"/>
                <a:gd name="connsiteY11" fmla="*/ 2691182 h 3794545"/>
                <a:gd name="connsiteX12" fmla="*/ 218830 w 1979776"/>
                <a:gd name="connsiteY12" fmla="*/ 2287145 h 3794545"/>
                <a:gd name="connsiteX13" fmla="*/ 218830 w 1979776"/>
                <a:gd name="connsiteY13" fmla="*/ 2043605 h 3794545"/>
                <a:gd name="connsiteX14" fmla="*/ 218830 w 1979776"/>
                <a:gd name="connsiteY14" fmla="*/ 1750941 h 3794545"/>
                <a:gd name="connsiteX15" fmla="*/ 218830 w 1979776"/>
                <a:gd name="connsiteY15" fmla="*/ 1504825 h 3794545"/>
                <a:gd name="connsiteX16" fmla="*/ 218830 w 1979776"/>
                <a:gd name="connsiteY16" fmla="*/ 1137681 h 3794545"/>
                <a:gd name="connsiteX17" fmla="*/ 427855 w 1979776"/>
                <a:gd name="connsiteY17" fmla="*/ 875471 h 3794545"/>
                <a:gd name="connsiteX18" fmla="*/ 218830 w 1979776"/>
                <a:gd name="connsiteY18" fmla="*/ 613260 h 3794545"/>
                <a:gd name="connsiteX19" fmla="*/ 218830 w 1979776"/>
                <a:gd name="connsiteY19" fmla="*/ 0 h 3794545"/>
                <a:gd name="connsiteX0" fmla="*/ 218830 w 1979776"/>
                <a:gd name="connsiteY0" fmla="*/ 0 h 3794545"/>
                <a:gd name="connsiteX1" fmla="*/ 1960607 w 1979776"/>
                <a:gd name="connsiteY1" fmla="*/ 1571923 h 3794545"/>
                <a:gd name="connsiteX2" fmla="*/ 1965401 w 1979776"/>
                <a:gd name="connsiteY2" fmla="*/ 1667133 h 3794545"/>
                <a:gd name="connsiteX3" fmla="*/ 1971096 w 1979776"/>
                <a:gd name="connsiteY3" fmla="*/ 1707439 h 3794545"/>
                <a:gd name="connsiteX4" fmla="*/ 1979776 w 1979776"/>
                <a:gd name="connsiteY4" fmla="*/ 1892964 h 3794545"/>
                <a:gd name="connsiteX5" fmla="*/ 1971096 w 1979776"/>
                <a:gd name="connsiteY5" fmla="*/ 2078489 h 3794545"/>
                <a:gd name="connsiteX6" fmla="*/ 1966293 w 1979776"/>
                <a:gd name="connsiteY6" fmla="*/ 2112486 h 3794545"/>
                <a:gd name="connsiteX7" fmla="*/ 1960731 w 1979776"/>
                <a:gd name="connsiteY7" fmla="*/ 2222623 h 3794545"/>
                <a:gd name="connsiteX8" fmla="*/ 218830 w 1979776"/>
                <a:gd name="connsiteY8" fmla="*/ 3794545 h 3794545"/>
                <a:gd name="connsiteX9" fmla="*/ 218830 w 1979776"/>
                <a:gd name="connsiteY9" fmla="*/ 3146968 h 3794545"/>
                <a:gd name="connsiteX10" fmla="*/ 0 w 1979776"/>
                <a:gd name="connsiteY10" fmla="*/ 2919075 h 3794545"/>
                <a:gd name="connsiteX11" fmla="*/ 218830 w 1979776"/>
                <a:gd name="connsiteY11" fmla="*/ 2691182 h 3794545"/>
                <a:gd name="connsiteX12" fmla="*/ 218830 w 1979776"/>
                <a:gd name="connsiteY12" fmla="*/ 2287145 h 3794545"/>
                <a:gd name="connsiteX13" fmla="*/ 218830 w 1979776"/>
                <a:gd name="connsiteY13" fmla="*/ 2043605 h 3794545"/>
                <a:gd name="connsiteX14" fmla="*/ 218830 w 1979776"/>
                <a:gd name="connsiteY14" fmla="*/ 1750941 h 3794545"/>
                <a:gd name="connsiteX15" fmla="*/ 218830 w 1979776"/>
                <a:gd name="connsiteY15" fmla="*/ 1504825 h 3794545"/>
                <a:gd name="connsiteX16" fmla="*/ 218830 w 1979776"/>
                <a:gd name="connsiteY16" fmla="*/ 1137681 h 3794545"/>
                <a:gd name="connsiteX17" fmla="*/ 427855 w 1979776"/>
                <a:gd name="connsiteY17" fmla="*/ 875471 h 3794545"/>
                <a:gd name="connsiteX18" fmla="*/ 218830 w 1979776"/>
                <a:gd name="connsiteY18" fmla="*/ 613260 h 3794545"/>
                <a:gd name="connsiteX19" fmla="*/ 218830 w 1979776"/>
                <a:gd name="connsiteY19" fmla="*/ 0 h 379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79776" h="3794545">
                  <a:moveTo>
                    <a:pt x="218830" y="0"/>
                  </a:moveTo>
                  <a:cubicBezTo>
                    <a:pt x="1125377" y="49161"/>
                    <a:pt x="1782570" y="689024"/>
                    <a:pt x="1960607" y="1571923"/>
                  </a:cubicBezTo>
                  <a:lnTo>
                    <a:pt x="1965401" y="1667133"/>
                  </a:lnTo>
                  <a:lnTo>
                    <a:pt x="1971096" y="1707439"/>
                  </a:lnTo>
                  <a:cubicBezTo>
                    <a:pt x="1976839" y="1768498"/>
                    <a:pt x="1979776" y="1830384"/>
                    <a:pt x="1979776" y="1892964"/>
                  </a:cubicBezTo>
                  <a:cubicBezTo>
                    <a:pt x="1979776" y="1955545"/>
                    <a:pt x="1976839" y="2017431"/>
                    <a:pt x="1971096" y="2078489"/>
                  </a:cubicBezTo>
                  <a:lnTo>
                    <a:pt x="1966293" y="2112486"/>
                  </a:lnTo>
                  <a:lnTo>
                    <a:pt x="1960731" y="2222623"/>
                  </a:lnTo>
                  <a:cubicBezTo>
                    <a:pt x="1812069" y="3105521"/>
                    <a:pt x="1125378" y="3735552"/>
                    <a:pt x="218830" y="3794545"/>
                  </a:cubicBezTo>
                  <a:lnTo>
                    <a:pt x="218830" y="3146968"/>
                  </a:lnTo>
                  <a:cubicBezTo>
                    <a:pt x="97159" y="3141917"/>
                    <a:pt x="0" y="3042083"/>
                    <a:pt x="0" y="2919075"/>
                  </a:cubicBezTo>
                  <a:cubicBezTo>
                    <a:pt x="0" y="2796067"/>
                    <a:pt x="97159" y="2696234"/>
                    <a:pt x="218830" y="2691182"/>
                  </a:cubicBezTo>
                  <a:lnTo>
                    <a:pt x="218830" y="2287145"/>
                  </a:lnTo>
                  <a:lnTo>
                    <a:pt x="218830" y="2043605"/>
                  </a:lnTo>
                  <a:lnTo>
                    <a:pt x="218830" y="1750941"/>
                  </a:lnTo>
                  <a:lnTo>
                    <a:pt x="218830" y="1504825"/>
                  </a:lnTo>
                  <a:lnTo>
                    <a:pt x="218830" y="1137681"/>
                  </a:lnTo>
                  <a:cubicBezTo>
                    <a:pt x="338421" y="1110346"/>
                    <a:pt x="427855" y="1003382"/>
                    <a:pt x="427855" y="875471"/>
                  </a:cubicBezTo>
                  <a:cubicBezTo>
                    <a:pt x="427855" y="747411"/>
                    <a:pt x="338421" y="640595"/>
                    <a:pt x="218830" y="613260"/>
                  </a:cubicBezTo>
                  <a:lnTo>
                    <a:pt x="218830" y="0"/>
                  </a:lnTo>
                  <a:close/>
                </a:path>
              </a:pathLst>
            </a:custGeom>
            <a:solidFill>
              <a:schemeClr val="accent3"/>
            </a:solidFill>
            <a:ln w="14829" cap="flat">
              <a:noFill/>
              <a:prstDash val="solid"/>
              <a:miter/>
            </a:ln>
          </p:spPr>
          <p:txBody>
            <a:bodyPr rtlCol="0" anchor="ctr"/>
            <a:lstStyle/>
            <a:p>
              <a:endParaRPr lang="en-US"/>
            </a:p>
          </p:txBody>
        </p:sp>
      </p:grpSp>
      <p:sp>
        <p:nvSpPr>
          <p:cNvPr id="22" name="TextBox 21">
            <a:extLst>
              <a:ext uri="{FF2B5EF4-FFF2-40B4-BE49-F238E27FC236}">
                <a16:creationId xmlns:a16="http://schemas.microsoft.com/office/drawing/2014/main" id="{7639DC29-430A-49EE-83EA-8F9C10DF82B4}"/>
              </a:ext>
            </a:extLst>
          </p:cNvPr>
          <p:cNvSpPr txBox="1">
            <a:spLocks/>
          </p:cNvSpPr>
          <p:nvPr/>
        </p:nvSpPr>
        <p:spPr>
          <a:xfrm>
            <a:off x="679525" y="3046538"/>
            <a:ext cx="1410731" cy="1200329"/>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r>
              <a:rPr lang="en-US" sz="2600" b="1">
                <a:solidFill>
                  <a:schemeClr val="tx2"/>
                </a:solidFill>
                <a:latin typeface="Arial"/>
                <a:cs typeface="Arial"/>
              </a:rPr>
              <a:t>Private Capital Practice</a:t>
            </a:r>
          </a:p>
        </p:txBody>
      </p:sp>
      <p:sp>
        <p:nvSpPr>
          <p:cNvPr id="25" name="TextBox 24">
            <a:extLst>
              <a:ext uri="{FF2B5EF4-FFF2-40B4-BE49-F238E27FC236}">
                <a16:creationId xmlns:a16="http://schemas.microsoft.com/office/drawing/2014/main" id="{DE01A46A-F7CB-4FCF-8124-6F70F11BAB61}"/>
              </a:ext>
            </a:extLst>
          </p:cNvPr>
          <p:cNvSpPr txBox="1">
            <a:spLocks/>
          </p:cNvSpPr>
          <p:nvPr/>
        </p:nvSpPr>
        <p:spPr>
          <a:xfrm>
            <a:off x="4721589" y="2692168"/>
            <a:ext cx="2401682" cy="2954655"/>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buClr>
                <a:srgbClr val="000000"/>
              </a:buClr>
            </a:pPr>
            <a:r>
              <a:rPr lang="en-US" sz="1600" b="1">
                <a:solidFill>
                  <a:schemeClr val="accent1"/>
                </a:solidFill>
              </a:rPr>
              <a:t>Opportunity to synthesize the approach, capabilities, and tools </a:t>
            </a:r>
            <a:r>
              <a:rPr lang="en-US" sz="1600">
                <a:solidFill>
                  <a:schemeClr val="accent1"/>
                </a:solidFill>
              </a:rPr>
              <a:t>developed into a transferable </a:t>
            </a:r>
            <a:r>
              <a:rPr lang="en-US" sz="1600" b="1">
                <a:solidFill>
                  <a:schemeClr val="accent1"/>
                </a:solidFill>
              </a:rPr>
              <a:t>Playbook for AI-driven value creation </a:t>
            </a:r>
            <a:r>
              <a:rPr lang="en-US" sz="1600">
                <a:solidFill>
                  <a:schemeClr val="accent1"/>
                </a:solidFill>
              </a:rPr>
              <a:t>– aim at replicating the success of our efforts at Varsity Brands (KKR portco) with other portfolio companies and PE funds</a:t>
            </a:r>
          </a:p>
        </p:txBody>
      </p:sp>
      <p:sp>
        <p:nvSpPr>
          <p:cNvPr id="26" name="TextBox 25">
            <a:extLst>
              <a:ext uri="{FF2B5EF4-FFF2-40B4-BE49-F238E27FC236}">
                <a16:creationId xmlns:a16="http://schemas.microsoft.com/office/drawing/2014/main" id="{29F6F982-6C62-4169-AAF2-E7D7D9F112FE}"/>
              </a:ext>
            </a:extLst>
          </p:cNvPr>
          <p:cNvSpPr txBox="1">
            <a:spLocks/>
          </p:cNvSpPr>
          <p:nvPr/>
        </p:nvSpPr>
        <p:spPr>
          <a:xfrm>
            <a:off x="4721589" y="1783942"/>
            <a:ext cx="2328165" cy="400110"/>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r>
              <a:rPr lang="en-US" sz="2600" b="1">
                <a:solidFill>
                  <a:schemeClr val="accent1"/>
                </a:solidFill>
                <a:latin typeface="Arial"/>
                <a:cs typeface="Arial"/>
              </a:rPr>
              <a:t>Private Capital</a:t>
            </a:r>
          </a:p>
        </p:txBody>
      </p:sp>
      <p:sp>
        <p:nvSpPr>
          <p:cNvPr id="7" name="TextBox 6">
            <a:extLst>
              <a:ext uri="{FF2B5EF4-FFF2-40B4-BE49-F238E27FC236}">
                <a16:creationId xmlns:a16="http://schemas.microsoft.com/office/drawing/2014/main" id="{5A2D6CBF-91E4-4948-3B70-EDE7443D2EDF}"/>
              </a:ext>
            </a:extLst>
          </p:cNvPr>
          <p:cNvSpPr txBox="1">
            <a:spLocks/>
          </p:cNvSpPr>
          <p:nvPr/>
        </p:nvSpPr>
        <p:spPr>
          <a:xfrm>
            <a:off x="2571578" y="3046538"/>
            <a:ext cx="1410731" cy="800219"/>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r>
              <a:rPr lang="en-US" sz="2600" b="1">
                <a:solidFill>
                  <a:schemeClr val="tx2"/>
                </a:solidFill>
                <a:latin typeface="Arial"/>
                <a:cs typeface="Arial"/>
              </a:rPr>
              <a:t>GM&amp;S Practice</a:t>
            </a:r>
          </a:p>
        </p:txBody>
      </p:sp>
      <p:sp>
        <p:nvSpPr>
          <p:cNvPr id="8" name="TextBox 7">
            <a:extLst>
              <a:ext uri="{FF2B5EF4-FFF2-40B4-BE49-F238E27FC236}">
                <a16:creationId xmlns:a16="http://schemas.microsoft.com/office/drawing/2014/main" id="{B311D494-CCC6-68BC-CB27-3A3E37FA6D2E}"/>
              </a:ext>
            </a:extLst>
          </p:cNvPr>
          <p:cNvSpPr txBox="1">
            <a:spLocks/>
          </p:cNvSpPr>
          <p:nvPr/>
        </p:nvSpPr>
        <p:spPr>
          <a:xfrm>
            <a:off x="8370197" y="1783942"/>
            <a:ext cx="2328165" cy="400110"/>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r>
              <a:rPr lang="en-US" sz="2600" b="1">
                <a:solidFill>
                  <a:schemeClr val="accent3"/>
                </a:solidFill>
                <a:latin typeface="Arial"/>
                <a:cs typeface="Arial"/>
              </a:rPr>
              <a:t>GM&amp;S</a:t>
            </a:r>
          </a:p>
        </p:txBody>
      </p:sp>
      <p:grpSp>
        <p:nvGrpSpPr>
          <p:cNvPr id="13" name="PlusSignWhite 13">
            <a:extLst>
              <a:ext uri="{FF2B5EF4-FFF2-40B4-BE49-F238E27FC236}">
                <a16:creationId xmlns:a16="http://schemas.microsoft.com/office/drawing/2014/main" id="{A16E4587-2994-1F58-9DE7-CB9115728D16}"/>
              </a:ext>
            </a:extLst>
          </p:cNvPr>
          <p:cNvGrpSpPr>
            <a:grpSpLocks noChangeAspect="1"/>
          </p:cNvGrpSpPr>
          <p:nvPr>
            <p:custDataLst>
              <p:tags r:id="rId4"/>
            </p:custDataLst>
          </p:nvPr>
        </p:nvGrpSpPr>
        <p:grpSpPr>
          <a:xfrm>
            <a:off x="7632524" y="3230886"/>
            <a:ext cx="396228" cy="396228"/>
            <a:chOff x="1016000" y="1016000"/>
            <a:chExt cx="396228" cy="396228"/>
          </a:xfrm>
        </p:grpSpPr>
        <p:sp>
          <p:nvSpPr>
            <p:cNvPr id="9" name="Oval 8">
              <a:extLst>
                <a:ext uri="{FF2B5EF4-FFF2-40B4-BE49-F238E27FC236}">
                  <a16:creationId xmlns:a16="http://schemas.microsoft.com/office/drawing/2014/main" id="{BD74FDAA-D57E-5212-0585-B42DCB5DB4A4}"/>
                </a:ext>
              </a:extLst>
            </p:cNvPr>
            <p:cNvSpPr/>
            <p:nvPr/>
          </p:nvSpPr>
          <p:spPr>
            <a:xfrm>
              <a:off x="1016000" y="1016000"/>
              <a:ext cx="396228" cy="396228"/>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 name="Graphic 11">
              <a:extLst>
                <a:ext uri="{FF2B5EF4-FFF2-40B4-BE49-F238E27FC236}">
                  <a16:creationId xmlns:a16="http://schemas.microsoft.com/office/drawing/2014/main" id="{9A49212A-0709-2F51-1BCB-A60BFAC2D5D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sp>
        <p:nvSpPr>
          <p:cNvPr id="5" name="TextBox 4">
            <a:extLst>
              <a:ext uri="{FF2B5EF4-FFF2-40B4-BE49-F238E27FC236}">
                <a16:creationId xmlns:a16="http://schemas.microsoft.com/office/drawing/2014/main" id="{683118B7-8D81-52FA-0BC1-E6B16A379EFE}"/>
              </a:ext>
            </a:extLst>
          </p:cNvPr>
          <p:cNvSpPr txBox="1">
            <a:spLocks/>
          </p:cNvSpPr>
          <p:nvPr/>
        </p:nvSpPr>
        <p:spPr>
          <a:xfrm>
            <a:off x="8419581" y="2692168"/>
            <a:ext cx="2401682" cy="2462213"/>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sz="1867" baseline="0">
                <a:latin typeface="+mn-lt"/>
              </a:defRPr>
            </a:lvl1pPr>
            <a:lvl2pPr marL="258246" lvl="1" indent="-256130" defTabSz="1193860" eaLnBrk="1" latinLnBrk="0" hangingPunct="1">
              <a:buClr>
                <a:schemeClr val="tx2"/>
              </a:buClr>
              <a:buSzPct val="125000"/>
              <a:buFont typeface="Arial" charset="0"/>
              <a:buChar char="▪"/>
              <a:defRPr lang="x-none" sz="1867" baseline="0">
                <a:latin typeface="+mn-lt"/>
              </a:defRPr>
            </a:lvl2pPr>
            <a:lvl3pPr marL="609630" lvl="2" indent="-349268" defTabSz="1193860" eaLnBrk="1" latinLnBrk="0" hangingPunct="1">
              <a:buClr>
                <a:schemeClr val="tx2"/>
              </a:buClr>
              <a:buSzPct val="120000"/>
              <a:buFont typeface="Arial" charset="0"/>
              <a:buChar char="–"/>
              <a:defRPr lang="x-none" sz="1867" baseline="0">
                <a:latin typeface="+mn-lt"/>
              </a:defRPr>
            </a:lvl3pPr>
            <a:lvl4pPr marL="819192" lvl="3" indent="-207444" defTabSz="1193860" eaLnBrk="1" latinLnBrk="0" hangingPunct="1">
              <a:buClr>
                <a:schemeClr val="tx2"/>
              </a:buClr>
              <a:buSzPct val="120000"/>
              <a:buFont typeface="Arial" charset="0"/>
              <a:buChar char="▫"/>
              <a:defRPr lang="x-none" sz="1867" baseline="0">
                <a:latin typeface="+mn-lt"/>
              </a:defRPr>
            </a:lvl4pPr>
            <a:lvl5pPr marL="999794" lvl="4" indent="-173575" defTabSz="1193860" eaLnBrk="1" latinLnBrk="0" hangingPunct="1">
              <a:buClr>
                <a:schemeClr val="tx2"/>
              </a:buClr>
              <a:buSzPct val="89000"/>
              <a:buFont typeface="Arial" charset="0"/>
              <a:buChar char="-"/>
              <a:defRPr lang="x-none" sz="1867"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buClr>
                <a:srgbClr val="000000"/>
              </a:buClr>
            </a:pPr>
            <a:r>
              <a:rPr lang="en-US" sz="1600" b="1">
                <a:solidFill>
                  <a:schemeClr val="accent1"/>
                </a:solidFill>
              </a:rPr>
              <a:t>Opportunity to re-run our study at Varsity Brands focused on Sales (incl. sales support) </a:t>
            </a:r>
            <a:r>
              <a:rPr lang="en-US" sz="1600">
                <a:solidFill>
                  <a:schemeClr val="accent1"/>
                </a:solidFill>
              </a:rPr>
              <a:t>that helps build a repeatable approach that could help </a:t>
            </a:r>
            <a:r>
              <a:rPr lang="en-US" sz="1600" b="1">
                <a:solidFill>
                  <a:schemeClr val="accent1"/>
                </a:solidFill>
              </a:rPr>
              <a:t>significantly expedite Sales diagnostics </a:t>
            </a:r>
            <a:r>
              <a:rPr lang="en-US" sz="1600">
                <a:solidFill>
                  <a:schemeClr val="accent1"/>
                </a:solidFill>
              </a:rPr>
              <a:t>to identify AI value levers</a:t>
            </a:r>
          </a:p>
        </p:txBody>
      </p:sp>
      <p:sp>
        <p:nvSpPr>
          <p:cNvPr id="3" name="Sticky">
            <a:extLst>
              <a:ext uri="{FF2B5EF4-FFF2-40B4-BE49-F238E27FC236}">
                <a16:creationId xmlns:a16="http://schemas.microsoft.com/office/drawing/2014/main" id="{0C380EA8-6040-B612-C324-99E2636FBD33}"/>
              </a:ext>
            </a:extLst>
          </p:cNvPr>
          <p:cNvSpPr/>
          <p:nvPr>
            <p:custDataLst>
              <p:tags r:id="rId5"/>
            </p:custDataLst>
          </p:nvPr>
        </p:nvSpPr>
        <p:spPr>
          <a:xfrm>
            <a:off x="12359191" y="604315"/>
            <a:ext cx="3481558" cy="5649370"/>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a:solidFill>
                  <a:srgbClr val="000000"/>
                </a:solidFill>
              </a:rPr>
              <a:t>Ensure broader syndication and radiation - Joseba Eceiza &lt;joseba_eceiza@mckinsey.com&gt;; Alfonso Pulido </a:t>
            </a:r>
            <a:r>
              <a:rPr lang="en-US">
                <a:solidFill>
                  <a:srgbClr val="000000"/>
                </a:solidFill>
                <a:hlinkClick r:id="rId10"/>
              </a:rPr>
              <a:t>alfonso_pulido@mckinsey.com</a:t>
            </a:r>
            <a:endParaRPr lang="en-US">
              <a:solidFill>
                <a:srgbClr val="000000"/>
              </a:solidFill>
            </a:endParaRPr>
          </a:p>
          <a:p>
            <a:pPr>
              <a:spcBef>
                <a:spcPts val="300"/>
              </a:spcBef>
              <a:spcAft>
                <a:spcPts val="300"/>
              </a:spcAft>
            </a:pPr>
            <a:r>
              <a:rPr lang="en-US">
                <a:solidFill>
                  <a:srgbClr val="000000"/>
                </a:solidFill>
              </a:rPr>
              <a:t>+ Steve Reise + Kim</a:t>
            </a:r>
          </a:p>
          <a:p>
            <a:pPr>
              <a:spcBef>
                <a:spcPts val="300"/>
              </a:spcBef>
              <a:spcAft>
                <a:spcPts val="300"/>
              </a:spcAft>
            </a:pPr>
            <a:endParaRPr lang="en-US">
              <a:solidFill>
                <a:srgbClr val="000000"/>
              </a:solidFill>
            </a:endParaRPr>
          </a:p>
          <a:p>
            <a:pPr>
              <a:spcBef>
                <a:spcPts val="300"/>
              </a:spcBef>
              <a:spcAft>
                <a:spcPts val="300"/>
              </a:spcAft>
            </a:pPr>
            <a:r>
              <a:rPr lang="en-US">
                <a:solidFill>
                  <a:srgbClr val="000000"/>
                </a:solidFill>
              </a:rPr>
              <a:t>SteerCo format with them as stakeholders.</a:t>
            </a:r>
          </a:p>
          <a:p>
            <a:pPr>
              <a:spcBef>
                <a:spcPts val="300"/>
              </a:spcBef>
              <a:spcAft>
                <a:spcPts val="300"/>
              </a:spcAft>
            </a:pPr>
            <a:endParaRPr lang="en-US">
              <a:solidFill>
                <a:srgbClr val="000000"/>
              </a:solidFill>
            </a:endParaRPr>
          </a:p>
          <a:p>
            <a:pPr>
              <a:spcBef>
                <a:spcPts val="300"/>
              </a:spcBef>
              <a:spcAft>
                <a:spcPts val="300"/>
              </a:spcAft>
            </a:pPr>
            <a:r>
              <a:rPr lang="en-US">
                <a:solidFill>
                  <a:srgbClr val="000000"/>
                </a:solidFill>
              </a:rPr>
              <a:t>Broder client activation plan for. What’s our client acti plan. Put page together on this.</a:t>
            </a:r>
          </a:p>
          <a:p>
            <a:pPr>
              <a:spcBef>
                <a:spcPts val="300"/>
              </a:spcBef>
              <a:spcAft>
                <a:spcPts val="300"/>
              </a:spcAft>
            </a:pPr>
            <a:endParaRPr lang="en-US">
              <a:solidFill>
                <a:srgbClr val="000000"/>
              </a:solidFill>
            </a:endParaRPr>
          </a:p>
          <a:p>
            <a:pPr>
              <a:spcBef>
                <a:spcPts val="300"/>
              </a:spcBef>
              <a:spcAft>
                <a:spcPts val="300"/>
              </a:spcAft>
            </a:pPr>
            <a:r>
              <a:rPr lang="en-US">
                <a:solidFill>
                  <a:srgbClr val="000000"/>
                </a:solidFill>
              </a:rPr>
              <a:t>1-2 pager cases study to bring to different forums.</a:t>
            </a:r>
          </a:p>
        </p:txBody>
      </p:sp>
    </p:spTree>
    <p:extLst>
      <p:ext uri="{BB962C8B-B14F-4D97-AF65-F5344CB8AC3E}">
        <p14:creationId xmlns:p14="http://schemas.microsoft.com/office/powerpoint/2010/main" val="449025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011A-1219-D676-55DA-F26A5D240D15}"/>
            </a:ext>
          </a:extLst>
        </p:cNvPr>
        <p:cNvGrpSpPr/>
        <p:nvPr/>
      </p:nvGrpSpPr>
      <p:grpSpPr>
        <a:xfrm>
          <a:off x="0" y="0"/>
          <a:ext cx="0" cy="0"/>
          <a:chOff x="0" y="0"/>
          <a:chExt cx="0" cy="0"/>
        </a:xfrm>
      </p:grpSpPr>
      <p:graphicFrame>
        <p:nvGraphicFramePr>
          <p:cNvPr id="8" name="Object 2" hidden="1">
            <a:extLst>
              <a:ext uri="{FF2B5EF4-FFF2-40B4-BE49-F238E27FC236}">
                <a16:creationId xmlns:a16="http://schemas.microsoft.com/office/drawing/2014/main" id="{B3F1A26B-67B5-1E4D-624B-76D738C96DD4}"/>
              </a:ext>
            </a:extLst>
          </p:cNvPr>
          <p:cNvGraphicFramePr>
            <a:graphicFrameLocks noChangeAspect="1"/>
          </p:cNvGraphicFramePr>
          <p:nvPr>
            <p:custDataLst>
              <p:tags r:id="rId1"/>
            </p:custDataLst>
            <p:extLst>
              <p:ext uri="{D42A27DB-BD31-4B8C-83A1-F6EECF244321}">
                <p14:modId xmlns:p14="http://schemas.microsoft.com/office/powerpoint/2010/main" val="539061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8" name="Object 2" hidden="1">
                        <a:extLst>
                          <a:ext uri="{FF2B5EF4-FFF2-40B4-BE49-F238E27FC236}">
                            <a16:creationId xmlns:a16="http://schemas.microsoft.com/office/drawing/2014/main" id="{B3F1A26B-67B5-1E4D-624B-76D738C96DD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2. Slide Title">
            <a:extLst>
              <a:ext uri="{FF2B5EF4-FFF2-40B4-BE49-F238E27FC236}">
                <a16:creationId xmlns:a16="http://schemas.microsoft.com/office/drawing/2014/main" id="{C0930572-614C-94F0-E658-93ACD2C36DD2}"/>
              </a:ext>
            </a:extLst>
          </p:cNvPr>
          <p:cNvSpPr>
            <a:spLocks noGrp="1"/>
          </p:cNvSpPr>
          <p:nvPr>
            <p:ph type="title"/>
            <p:custDataLst>
              <p:tags r:id="rId2"/>
            </p:custDataLst>
          </p:nvPr>
        </p:nvSpPr>
        <p:spPr>
          <a:xfrm>
            <a:off x="554736" y="2021000"/>
            <a:ext cx="2514600" cy="1045460"/>
          </a:xfrm>
        </p:spPr>
        <p:txBody>
          <a:bodyPr vert="horz"/>
          <a:lstStyle/>
          <a:p>
            <a:r>
              <a:rPr lang="en-US"/>
              <a:t>3. What do we need to get started </a:t>
            </a:r>
          </a:p>
        </p:txBody>
      </p:sp>
      <p:sp>
        <p:nvSpPr>
          <p:cNvPr id="19" name="TextBox 18">
            <a:extLst>
              <a:ext uri="{FF2B5EF4-FFF2-40B4-BE49-F238E27FC236}">
                <a16:creationId xmlns:a16="http://schemas.microsoft.com/office/drawing/2014/main" id="{4C4CDB6A-BDC1-3AC3-5B68-65B5F8788988}"/>
              </a:ext>
            </a:extLst>
          </p:cNvPr>
          <p:cNvSpPr txBox="1"/>
          <p:nvPr/>
        </p:nvSpPr>
        <p:spPr>
          <a:xfrm>
            <a:off x="4571999" y="2021000"/>
            <a:ext cx="7298267"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2000">
                <a:latin typeface="Arial" panose="020B0604020202020204" pitchFamily="34" charset="0"/>
                <a:ea typeface="+mj-ea"/>
                <a:cs typeface="+mj-cs"/>
                <a:sym typeface=""/>
              </a:rPr>
              <a:t>$900K total investment to staff the BC team for 3 weeks </a:t>
            </a:r>
            <a:r>
              <a:rPr lang="en-US" sz="2000">
                <a:latin typeface="Arial" panose="020B0604020202020204" pitchFamily="34" charset="0"/>
                <a:sym typeface=""/>
              </a:rPr>
              <a:t>($325K)</a:t>
            </a:r>
            <a:r>
              <a:rPr lang="en-US" sz="2000">
                <a:latin typeface="Arial" panose="020B0604020202020204" pitchFamily="34" charset="0"/>
                <a:ea typeface="+mj-ea"/>
                <a:cs typeface="+mj-cs"/>
                <a:sym typeface=""/>
              </a:rPr>
              <a:t> and subsequently the KKR team for another 3 weeks ($600K)</a:t>
            </a:r>
            <a:endParaRPr lang="en-US" sz="2000">
              <a:solidFill>
                <a:srgbClr val="E33B3B"/>
              </a:solidFill>
              <a:latin typeface="Arial" panose="020B0604020202020204" pitchFamily="34" charset="0"/>
              <a:ea typeface="+mj-ea"/>
              <a:cs typeface="+mj-cs"/>
              <a:sym typeface=""/>
            </a:endParaRPr>
          </a:p>
        </p:txBody>
      </p:sp>
      <p:sp>
        <p:nvSpPr>
          <p:cNvPr id="20" name="TextBox 19">
            <a:extLst>
              <a:ext uri="{FF2B5EF4-FFF2-40B4-BE49-F238E27FC236}">
                <a16:creationId xmlns:a16="http://schemas.microsoft.com/office/drawing/2014/main" id="{82092F6C-76E9-40E7-255E-9B2B83C225B0}"/>
              </a:ext>
            </a:extLst>
          </p:cNvPr>
          <p:cNvSpPr txBox="1"/>
          <p:nvPr/>
        </p:nvSpPr>
        <p:spPr>
          <a:xfrm>
            <a:off x="4063999" y="2021000"/>
            <a:ext cx="365125" cy="44505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4000" b="1">
                <a:solidFill>
                  <a:schemeClr val="accent3"/>
                </a:solidFill>
                <a:latin typeface="+mj-lt"/>
                <a:cs typeface="+mn-cs"/>
              </a:rPr>
              <a:t>1</a:t>
            </a:r>
          </a:p>
        </p:txBody>
      </p:sp>
      <p:sp>
        <p:nvSpPr>
          <p:cNvPr id="21" name="TextBox 20">
            <a:extLst>
              <a:ext uri="{FF2B5EF4-FFF2-40B4-BE49-F238E27FC236}">
                <a16:creationId xmlns:a16="http://schemas.microsoft.com/office/drawing/2014/main" id="{EB650256-A1D4-B5A3-0C3D-F907DA0030F1}"/>
              </a:ext>
            </a:extLst>
          </p:cNvPr>
          <p:cNvSpPr txBox="1"/>
          <p:nvPr/>
        </p:nvSpPr>
        <p:spPr>
          <a:xfrm>
            <a:off x="4572000" y="3288812"/>
            <a:ext cx="7065264" cy="6155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2000">
                <a:latin typeface="Arial" panose="020B0604020202020204" pitchFamily="34" charset="0"/>
                <a:ea typeface="+mj-ea"/>
                <a:cs typeface="+mj-cs"/>
                <a:sym typeface=""/>
              </a:rPr>
              <a:t>Access to all key AI tools (e.g., Cursor) and other firm offerings (e.g., Process AI) to integrate all offerings into a single solution</a:t>
            </a:r>
          </a:p>
        </p:txBody>
      </p:sp>
      <p:sp>
        <p:nvSpPr>
          <p:cNvPr id="22" name="TextBox 21">
            <a:extLst>
              <a:ext uri="{FF2B5EF4-FFF2-40B4-BE49-F238E27FC236}">
                <a16:creationId xmlns:a16="http://schemas.microsoft.com/office/drawing/2014/main" id="{5B931593-B6CC-F8D2-C309-C7779DBBE6F3}"/>
              </a:ext>
            </a:extLst>
          </p:cNvPr>
          <p:cNvSpPr txBox="1"/>
          <p:nvPr/>
        </p:nvSpPr>
        <p:spPr>
          <a:xfrm>
            <a:off x="4063999" y="3288812"/>
            <a:ext cx="365125" cy="44505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4000" b="1">
                <a:solidFill>
                  <a:schemeClr val="accent3"/>
                </a:solidFill>
                <a:latin typeface="+mj-lt"/>
                <a:cs typeface="+mn-cs"/>
              </a:rPr>
              <a:t>2</a:t>
            </a:r>
          </a:p>
        </p:txBody>
      </p:sp>
      <p:sp>
        <p:nvSpPr>
          <p:cNvPr id="23" name="TextBox 22">
            <a:extLst>
              <a:ext uri="{FF2B5EF4-FFF2-40B4-BE49-F238E27FC236}">
                <a16:creationId xmlns:a16="http://schemas.microsoft.com/office/drawing/2014/main" id="{07062AA2-8EEF-6090-ED00-DBC8D95E222E}"/>
              </a:ext>
            </a:extLst>
          </p:cNvPr>
          <p:cNvSpPr txBox="1"/>
          <p:nvPr/>
        </p:nvSpPr>
        <p:spPr>
          <a:xfrm>
            <a:off x="4572000" y="4700286"/>
            <a:ext cx="7065264"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2000">
                <a:latin typeface="Arial" panose="020B0604020202020204" pitchFamily="34" charset="0"/>
                <a:ea typeface="+mj-ea"/>
                <a:cs typeface="+mj-cs"/>
                <a:sym typeface=""/>
              </a:rPr>
              <a:t>Ad-hoc support from Leadership to pressure-test results</a:t>
            </a:r>
          </a:p>
        </p:txBody>
      </p:sp>
      <p:sp>
        <p:nvSpPr>
          <p:cNvPr id="24" name="TextBox 23">
            <a:extLst>
              <a:ext uri="{FF2B5EF4-FFF2-40B4-BE49-F238E27FC236}">
                <a16:creationId xmlns:a16="http://schemas.microsoft.com/office/drawing/2014/main" id="{C488102A-0C66-61E7-C3F6-2BBE41CA6CD5}"/>
              </a:ext>
            </a:extLst>
          </p:cNvPr>
          <p:cNvSpPr txBox="1"/>
          <p:nvPr/>
        </p:nvSpPr>
        <p:spPr>
          <a:xfrm>
            <a:off x="4063999" y="4631648"/>
            <a:ext cx="365125" cy="44505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4000" b="1">
                <a:solidFill>
                  <a:schemeClr val="accent3"/>
                </a:solidFill>
                <a:latin typeface="+mj-lt"/>
                <a:cs typeface="+mn-cs"/>
              </a:rPr>
              <a:t>3</a:t>
            </a:r>
          </a:p>
        </p:txBody>
      </p:sp>
    </p:spTree>
    <p:extLst>
      <p:ext uri="{BB962C8B-B14F-4D97-AF65-F5344CB8AC3E}">
        <p14:creationId xmlns:p14="http://schemas.microsoft.com/office/powerpoint/2010/main" val="43685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7F496D4-9E7C-AF90-0845-903186A27246}"/>
              </a:ext>
            </a:extLst>
          </p:cNvPr>
          <p:cNvGraphicFramePr>
            <a:graphicFrameLocks noChangeAspect="1"/>
          </p:cNvGraphicFramePr>
          <p:nvPr>
            <p:custDataLst>
              <p:tags r:id="rId1"/>
            </p:custDataLst>
            <p:extLst>
              <p:ext uri="{D42A27DB-BD31-4B8C-83A1-F6EECF244321}">
                <p14:modId xmlns:p14="http://schemas.microsoft.com/office/powerpoint/2010/main" val="3817906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4" name="think-cell data - do not delete" hidden="1">
                        <a:extLst>
                          <a:ext uri="{FF2B5EF4-FFF2-40B4-BE49-F238E27FC236}">
                            <a16:creationId xmlns:a16="http://schemas.microsoft.com/office/drawing/2014/main" id="{27F496D4-9E7C-AF90-0845-903186A2724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37699D35-9938-20F2-CACA-9003BD77D2D4}"/>
              </a:ext>
            </a:extLst>
          </p:cNvPr>
          <p:cNvSpPr>
            <a:spLocks noGrp="1"/>
          </p:cNvSpPr>
          <p:nvPr>
            <p:ph type="title"/>
            <p:custDataLst>
              <p:tags r:id="rId2"/>
            </p:custDataLst>
          </p:nvPr>
        </p:nvSpPr>
        <p:spPr/>
        <p:txBody>
          <a:bodyPr vert="horz"/>
          <a:lstStyle/>
          <a:p>
            <a:r>
              <a:rPr lang="en-US"/>
              <a:t>Backup</a:t>
            </a:r>
          </a:p>
        </p:txBody>
      </p:sp>
      <p:sp>
        <p:nvSpPr>
          <p:cNvPr id="3" name="1. On-page tracker">
            <a:extLst>
              <a:ext uri="{FF2B5EF4-FFF2-40B4-BE49-F238E27FC236}">
                <a16:creationId xmlns:a16="http://schemas.microsoft.com/office/drawing/2014/main" id="{5ACE1AD9-A9B1-FCF1-1817-E9316050C890}"/>
              </a:ext>
            </a:extLst>
          </p:cNvPr>
          <p:cNvSpPr>
            <a:spLocks noGrp="1"/>
          </p:cNvSpPr>
          <p:nvPr>
            <p:ph type="body" sz="quarter" idx="17"/>
            <p:custDataLst>
              <p:tags r:id="rId3"/>
            </p:custDataLst>
          </p:nvPr>
        </p:nvSpPr>
        <p:spPr/>
        <p:txBody>
          <a:bodyPr/>
          <a:lstStyle/>
          <a:p>
            <a:endParaRPr lang="en-US"/>
          </a:p>
        </p:txBody>
      </p:sp>
    </p:spTree>
    <p:extLst>
      <p:ext uri="{BB962C8B-B14F-4D97-AF65-F5344CB8AC3E}">
        <p14:creationId xmlns:p14="http://schemas.microsoft.com/office/powerpoint/2010/main" val="2605143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2" hidden="1">
            <a:extLst>
              <a:ext uri="{FF2B5EF4-FFF2-40B4-BE49-F238E27FC236}">
                <a16:creationId xmlns:a16="http://schemas.microsoft.com/office/drawing/2014/main" id="{A3ACE819-ECC0-4B47-8A61-4B73ECCFD4F0}"/>
              </a:ext>
            </a:extLst>
          </p:cNvPr>
          <p:cNvGraphicFramePr>
            <a:graphicFrameLocks noChangeAspect="1"/>
          </p:cNvGraphicFramePr>
          <p:nvPr>
            <p:custDataLst>
              <p:tags r:id="rId1"/>
            </p:custDataLst>
            <p:extLst>
              <p:ext uri="{D42A27DB-BD31-4B8C-83A1-F6EECF244321}">
                <p14:modId xmlns:p14="http://schemas.microsoft.com/office/powerpoint/2010/main" val="5213925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19" name="Object 2" hidden="1">
                        <a:extLst>
                          <a:ext uri="{FF2B5EF4-FFF2-40B4-BE49-F238E27FC236}">
                            <a16:creationId xmlns:a16="http://schemas.microsoft.com/office/drawing/2014/main" id="{A3ACE819-ECC0-4B47-8A61-4B73ECCFD4F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4DD2B16-9524-4FDC-8C72-649D01914D07}"/>
              </a:ext>
            </a:extLst>
          </p:cNvPr>
          <p:cNvSpPr>
            <a:spLocks noGrp="1"/>
          </p:cNvSpPr>
          <p:nvPr>
            <p:ph type="title"/>
            <p:custDataLst>
              <p:tags r:id="rId2"/>
            </p:custDataLst>
          </p:nvPr>
        </p:nvSpPr>
        <p:spPr>
          <a:xfrm>
            <a:off x="554736" y="198311"/>
            <a:ext cx="11082528"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We will leverage the learning from Procurement / Pricing efforts, but recognize the differences</a:t>
            </a:r>
          </a:p>
        </p:txBody>
      </p:sp>
      <p:sp>
        <p:nvSpPr>
          <p:cNvPr id="118" name="Freeform: Shape 117">
            <a:extLst>
              <a:ext uri="{FF2B5EF4-FFF2-40B4-BE49-F238E27FC236}">
                <a16:creationId xmlns:a16="http://schemas.microsoft.com/office/drawing/2014/main" id="{B974AB8D-623C-4E52-83EA-B214A5871878}"/>
              </a:ext>
            </a:extLst>
          </p:cNvPr>
          <p:cNvSpPr/>
          <p:nvPr/>
        </p:nvSpPr>
        <p:spPr>
          <a:xfrm>
            <a:off x="2561856" y="1363343"/>
            <a:ext cx="2634692" cy="4036682"/>
          </a:xfrm>
          <a:custGeom>
            <a:avLst/>
            <a:gdLst>
              <a:gd name="connsiteX0" fmla="*/ 327266 w 2634692"/>
              <a:gd name="connsiteY0" fmla="*/ 206 h 4036682"/>
              <a:gd name="connsiteX1" fmla="*/ 1968935 w 2634692"/>
              <a:gd name="connsiteY1" fmla="*/ 1642146 h 4036682"/>
              <a:gd name="connsiteX2" fmla="*/ 2462000 w 2634692"/>
              <a:gd name="connsiteY2" fmla="*/ 4000939 h 4036682"/>
              <a:gd name="connsiteX3" fmla="*/ 665757 w 2634692"/>
              <a:gd name="connsiteY3" fmla="*/ 2394536 h 4036682"/>
              <a:gd name="connsiteX4" fmla="*/ 172692 w 2634692"/>
              <a:gd name="connsiteY4" fmla="*/ 35743 h 4036682"/>
              <a:gd name="connsiteX5" fmla="*/ 327266 w 2634692"/>
              <a:gd name="connsiteY5" fmla="*/ 206 h 40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4692" h="4036682">
                <a:moveTo>
                  <a:pt x="327266" y="206"/>
                </a:moveTo>
                <a:cubicBezTo>
                  <a:pt x="730919" y="13650"/>
                  <a:pt x="1415783" y="684057"/>
                  <a:pt x="1968935" y="1642146"/>
                </a:cubicBezTo>
                <a:cubicBezTo>
                  <a:pt x="2601110" y="2737105"/>
                  <a:pt x="2821863" y="3793172"/>
                  <a:pt x="2462000" y="4000939"/>
                </a:cubicBezTo>
                <a:cubicBezTo>
                  <a:pt x="2102137" y="4208706"/>
                  <a:pt x="1297932" y="3489495"/>
                  <a:pt x="665757" y="2394536"/>
                </a:cubicBezTo>
                <a:cubicBezTo>
                  <a:pt x="33582" y="1299578"/>
                  <a:pt x="-187171" y="243510"/>
                  <a:pt x="172692" y="35743"/>
                </a:cubicBezTo>
                <a:cubicBezTo>
                  <a:pt x="217675" y="9772"/>
                  <a:pt x="269601" y="-1715"/>
                  <a:pt x="327266" y="206"/>
                </a:cubicBezTo>
                <a:close/>
              </a:path>
            </a:pathLst>
          </a:custGeom>
          <a:solidFill>
            <a:schemeClr val="accent2"/>
          </a:solidFill>
          <a:ln>
            <a:noFill/>
          </a:ln>
        </p:spPr>
        <p:txBody>
          <a:bodyPr rot="0" spcFirstLastPara="0" vertOverflow="overflow" horzOverflow="overflow" vert="horz" wrap="square" lIns="91440" tIns="45720" rIns="91440" bIns="457200" numCol="1" spcCol="0" rtlCol="0" fromWordArt="0" anchor="ctr" anchorCtr="0" forceAA="0" compatLnSpc="1">
            <a:prstTxWarp prst="textNoShape">
              <a:avLst/>
            </a:prstTxWarp>
            <a:noAutofit/>
          </a:bodyPr>
          <a:lstStyle/>
          <a:p>
            <a:pPr algn="ctr">
              <a:buClr>
                <a:schemeClr val="bg2"/>
              </a:buClr>
            </a:pPr>
            <a:endParaRPr lang="en-US" err="1">
              <a:solidFill>
                <a:schemeClr val="lt1"/>
              </a:solidFill>
            </a:endParaRPr>
          </a:p>
        </p:txBody>
      </p:sp>
      <p:sp>
        <p:nvSpPr>
          <p:cNvPr id="119" name="Freeform: Shape 118">
            <a:extLst>
              <a:ext uri="{FF2B5EF4-FFF2-40B4-BE49-F238E27FC236}">
                <a16:creationId xmlns:a16="http://schemas.microsoft.com/office/drawing/2014/main" id="{727C992A-FCB9-4D0B-BAAB-42665CCF00CB}"/>
              </a:ext>
            </a:extLst>
          </p:cNvPr>
          <p:cNvSpPr/>
          <p:nvPr/>
        </p:nvSpPr>
        <p:spPr>
          <a:xfrm>
            <a:off x="554736" y="1363342"/>
            <a:ext cx="2634691" cy="4036682"/>
          </a:xfrm>
          <a:custGeom>
            <a:avLst/>
            <a:gdLst>
              <a:gd name="connsiteX0" fmla="*/ 2307425 w 2634691"/>
              <a:gd name="connsiteY0" fmla="*/ 206 h 4036682"/>
              <a:gd name="connsiteX1" fmla="*/ 2461999 w 2634691"/>
              <a:gd name="connsiteY1" fmla="*/ 35743 h 4036682"/>
              <a:gd name="connsiteX2" fmla="*/ 1968934 w 2634691"/>
              <a:gd name="connsiteY2" fmla="*/ 2394536 h 4036682"/>
              <a:gd name="connsiteX3" fmla="*/ 172691 w 2634691"/>
              <a:gd name="connsiteY3" fmla="*/ 4000939 h 4036682"/>
              <a:gd name="connsiteX4" fmla="*/ 665756 w 2634691"/>
              <a:gd name="connsiteY4" fmla="*/ 1642146 h 4036682"/>
              <a:gd name="connsiteX5" fmla="*/ 2307425 w 2634691"/>
              <a:gd name="connsiteY5" fmla="*/ 206 h 40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4691" h="4036682">
                <a:moveTo>
                  <a:pt x="2307425" y="206"/>
                </a:moveTo>
                <a:cubicBezTo>
                  <a:pt x="2365090" y="-1715"/>
                  <a:pt x="2417016" y="9772"/>
                  <a:pt x="2461999" y="35743"/>
                </a:cubicBezTo>
                <a:cubicBezTo>
                  <a:pt x="2821862" y="243510"/>
                  <a:pt x="2601109" y="1299578"/>
                  <a:pt x="1968934" y="2394536"/>
                </a:cubicBezTo>
                <a:cubicBezTo>
                  <a:pt x="1336760" y="3489495"/>
                  <a:pt x="532554" y="4208706"/>
                  <a:pt x="172691" y="4000939"/>
                </a:cubicBezTo>
                <a:cubicBezTo>
                  <a:pt x="-187172" y="3793172"/>
                  <a:pt x="33582" y="2737105"/>
                  <a:pt x="665756" y="1642146"/>
                </a:cubicBezTo>
                <a:cubicBezTo>
                  <a:pt x="1218909" y="684057"/>
                  <a:pt x="1903772" y="13650"/>
                  <a:pt x="2307425" y="206"/>
                </a:cubicBezTo>
                <a:close/>
              </a:path>
            </a:pathLst>
          </a:custGeom>
          <a:solidFill>
            <a:srgbClr val="CCCCCC"/>
          </a:solidFill>
          <a:ln>
            <a:noFill/>
          </a:ln>
        </p:spPr>
        <p:txBody>
          <a:bodyPr vert="horz" wrap="square" lIns="91440" tIns="45720" rIns="91440" bIns="45720" numCol="1" anchor="t" anchorCtr="0" compatLnSpc="1">
            <a:prstTxWarp prst="textNoShape">
              <a:avLst/>
            </a:prstTxWarp>
          </a:bodyPr>
          <a:lstStyle/>
          <a:p>
            <a:endParaRPr lang="en-US" sz="2000" err="1">
              <a:solidFill>
                <a:srgbClr val="000000"/>
              </a:solidFill>
            </a:endParaRPr>
          </a:p>
        </p:txBody>
      </p:sp>
      <p:sp>
        <p:nvSpPr>
          <p:cNvPr id="120" name="Freeform: Shape 119">
            <a:extLst>
              <a:ext uri="{FF2B5EF4-FFF2-40B4-BE49-F238E27FC236}">
                <a16:creationId xmlns:a16="http://schemas.microsoft.com/office/drawing/2014/main" id="{1718F79C-325A-4881-A895-4A367AA46839}"/>
              </a:ext>
            </a:extLst>
          </p:cNvPr>
          <p:cNvSpPr/>
          <p:nvPr/>
        </p:nvSpPr>
        <p:spPr>
          <a:xfrm>
            <a:off x="586333" y="4359620"/>
            <a:ext cx="4578614" cy="1504782"/>
          </a:xfrm>
          <a:custGeom>
            <a:avLst/>
            <a:gdLst>
              <a:gd name="connsiteX0" fmla="*/ 2289307 w 4578614"/>
              <a:gd name="connsiteY0" fmla="*/ 0 h 1504782"/>
              <a:gd name="connsiteX1" fmla="*/ 4578614 w 4578614"/>
              <a:gd name="connsiteY1" fmla="*/ 752391 h 1504782"/>
              <a:gd name="connsiteX2" fmla="*/ 2289307 w 4578614"/>
              <a:gd name="connsiteY2" fmla="*/ 1504782 h 1504782"/>
              <a:gd name="connsiteX3" fmla="*/ 0 w 4578614"/>
              <a:gd name="connsiteY3" fmla="*/ 752391 h 1504782"/>
              <a:gd name="connsiteX4" fmla="*/ 2289307 w 4578614"/>
              <a:gd name="connsiteY4" fmla="*/ 0 h 150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8614" h="1504782">
                <a:moveTo>
                  <a:pt x="2289307" y="0"/>
                </a:moveTo>
                <a:cubicBezTo>
                  <a:pt x="3553656" y="0"/>
                  <a:pt x="4578614" y="336857"/>
                  <a:pt x="4578614" y="752391"/>
                </a:cubicBezTo>
                <a:cubicBezTo>
                  <a:pt x="4578614" y="1167925"/>
                  <a:pt x="3553656" y="1504782"/>
                  <a:pt x="2289307" y="1504782"/>
                </a:cubicBezTo>
                <a:cubicBezTo>
                  <a:pt x="1024958" y="1504782"/>
                  <a:pt x="0" y="1167925"/>
                  <a:pt x="0" y="752391"/>
                </a:cubicBezTo>
                <a:cubicBezTo>
                  <a:pt x="0" y="336857"/>
                  <a:pt x="1024958" y="0"/>
                  <a:pt x="2289307" y="0"/>
                </a:cubicBezTo>
                <a:close/>
              </a:path>
            </a:pathLst>
          </a:custGeom>
          <a:solidFill>
            <a:srgbClr val="CCCCCC"/>
          </a:solidFill>
          <a:ln>
            <a:noFill/>
          </a:ln>
        </p:spPr>
        <p:txBody>
          <a:bodyPr vert="horz" wrap="square" lIns="91440" tIns="45720" rIns="91440" bIns="45720" numCol="1" anchor="t" anchorCtr="0" compatLnSpc="1">
            <a:prstTxWarp prst="textNoShape">
              <a:avLst/>
            </a:prstTxWarp>
          </a:bodyPr>
          <a:lstStyle/>
          <a:p>
            <a:endParaRPr lang="en-US" sz="2000" err="1">
              <a:solidFill>
                <a:srgbClr val="000000"/>
              </a:solidFill>
            </a:endParaRPr>
          </a:p>
        </p:txBody>
      </p:sp>
      <p:sp>
        <p:nvSpPr>
          <p:cNvPr id="116" name="Freeform: Shape 115">
            <a:extLst>
              <a:ext uri="{FF2B5EF4-FFF2-40B4-BE49-F238E27FC236}">
                <a16:creationId xmlns:a16="http://schemas.microsoft.com/office/drawing/2014/main" id="{C45D0827-F87E-45F0-A140-F01A24EA0C28}"/>
              </a:ext>
            </a:extLst>
          </p:cNvPr>
          <p:cNvSpPr/>
          <p:nvPr/>
        </p:nvSpPr>
        <p:spPr>
          <a:xfrm>
            <a:off x="586494" y="4405087"/>
            <a:ext cx="1511762" cy="994936"/>
          </a:xfrm>
          <a:custGeom>
            <a:avLst/>
            <a:gdLst>
              <a:gd name="connsiteX0" fmla="*/ 1511762 w 1511762"/>
              <a:gd name="connsiteY0" fmla="*/ 0 h 994936"/>
              <a:gd name="connsiteX1" fmla="*/ 1440582 w 1511762"/>
              <a:gd name="connsiteY1" fmla="*/ 94944 h 994936"/>
              <a:gd name="connsiteX2" fmla="*/ 141095 w 1511762"/>
              <a:gd name="connsiteY2" fmla="*/ 959194 h 994936"/>
              <a:gd name="connsiteX3" fmla="*/ 97046 w 1511762"/>
              <a:gd name="connsiteY3" fmla="*/ 923861 h 994936"/>
              <a:gd name="connsiteX4" fmla="*/ 72073 w 1511762"/>
              <a:gd name="connsiteY4" fmla="*/ 894957 h 994936"/>
              <a:gd name="connsiteX5" fmla="*/ 0 w 1511762"/>
              <a:gd name="connsiteY5" fmla="*/ 706923 h 994936"/>
              <a:gd name="connsiteX6" fmla="*/ 1398207 w 1511762"/>
              <a:gd name="connsiteY6" fmla="*/ 13659 h 99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1762" h="994936">
                <a:moveTo>
                  <a:pt x="1511762" y="0"/>
                </a:moveTo>
                <a:lnTo>
                  <a:pt x="1440582" y="94944"/>
                </a:lnTo>
                <a:cubicBezTo>
                  <a:pt x="930832" y="749419"/>
                  <a:pt x="410993" y="1115019"/>
                  <a:pt x="141095" y="959194"/>
                </a:cubicBezTo>
                <a:lnTo>
                  <a:pt x="97046" y="923861"/>
                </a:lnTo>
                <a:lnTo>
                  <a:pt x="72073" y="894957"/>
                </a:lnTo>
                <a:cubicBezTo>
                  <a:pt x="25023" y="834857"/>
                  <a:pt x="1" y="771850"/>
                  <a:pt x="0" y="706923"/>
                </a:cubicBezTo>
                <a:cubicBezTo>
                  <a:pt x="0" y="395273"/>
                  <a:pt x="576540" y="127878"/>
                  <a:pt x="1398207" y="13659"/>
                </a:cubicBezTo>
                <a:close/>
              </a:path>
            </a:pathLst>
          </a:custGeom>
          <a:solidFill>
            <a:srgbClr val="B3B3B3"/>
          </a:solidFill>
          <a:ln w="9525">
            <a:noFill/>
            <a:round/>
            <a:headEnd/>
            <a:tailEnd/>
          </a:ln>
        </p:spPr>
        <p:txBody>
          <a:bodyPr vert="horz" wrap="square" lIns="91440" tIns="45720" rIns="91440" bIns="45720" numCol="1" anchor="t" anchorCtr="0" compatLnSpc="1">
            <a:prstTxWarp prst="textNoShape">
              <a:avLst/>
            </a:prstTxWarp>
          </a:bodyPr>
          <a:lstStyle/>
          <a:p>
            <a:endParaRPr lang="en-US" sz="2000" err="1">
              <a:solidFill>
                <a:srgbClr val="000000"/>
              </a:solidFill>
            </a:endParaRPr>
          </a:p>
        </p:txBody>
      </p:sp>
      <p:sp>
        <p:nvSpPr>
          <p:cNvPr id="117" name="Freeform: Shape 116">
            <a:extLst>
              <a:ext uri="{FF2B5EF4-FFF2-40B4-BE49-F238E27FC236}">
                <a16:creationId xmlns:a16="http://schemas.microsoft.com/office/drawing/2014/main" id="{3E3C628D-6FFB-4155-9111-F487E3458B8F}"/>
              </a:ext>
            </a:extLst>
          </p:cNvPr>
          <p:cNvSpPr/>
          <p:nvPr/>
        </p:nvSpPr>
        <p:spPr>
          <a:xfrm>
            <a:off x="3653350" y="4405086"/>
            <a:ext cx="1511760" cy="994938"/>
          </a:xfrm>
          <a:custGeom>
            <a:avLst/>
            <a:gdLst>
              <a:gd name="connsiteX0" fmla="*/ 0 w 1511760"/>
              <a:gd name="connsiteY0" fmla="*/ 0 h 994938"/>
              <a:gd name="connsiteX1" fmla="*/ 113555 w 1511760"/>
              <a:gd name="connsiteY1" fmla="*/ 13660 h 994938"/>
              <a:gd name="connsiteX2" fmla="*/ 1511760 w 1511760"/>
              <a:gd name="connsiteY2" fmla="*/ 706924 h 994938"/>
              <a:gd name="connsiteX3" fmla="*/ 1439687 w 1511760"/>
              <a:gd name="connsiteY3" fmla="*/ 894958 h 994938"/>
              <a:gd name="connsiteX4" fmla="*/ 1414705 w 1511760"/>
              <a:gd name="connsiteY4" fmla="*/ 923872 h 994938"/>
              <a:gd name="connsiteX5" fmla="*/ 1370668 w 1511760"/>
              <a:gd name="connsiteY5" fmla="*/ 959196 h 994938"/>
              <a:gd name="connsiteX6" fmla="*/ 71180 w 1511760"/>
              <a:gd name="connsiteY6" fmla="*/ 94945 h 99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1760" h="994938">
                <a:moveTo>
                  <a:pt x="0" y="0"/>
                </a:moveTo>
                <a:lnTo>
                  <a:pt x="113555" y="13660"/>
                </a:lnTo>
                <a:cubicBezTo>
                  <a:pt x="935222" y="127879"/>
                  <a:pt x="1511760" y="395274"/>
                  <a:pt x="1511760" y="706924"/>
                </a:cubicBezTo>
                <a:cubicBezTo>
                  <a:pt x="1511761" y="771851"/>
                  <a:pt x="1486738" y="834858"/>
                  <a:pt x="1439687" y="894958"/>
                </a:cubicBezTo>
                <a:lnTo>
                  <a:pt x="1414705" y="923872"/>
                </a:lnTo>
                <a:lnTo>
                  <a:pt x="1370668" y="959196"/>
                </a:lnTo>
                <a:cubicBezTo>
                  <a:pt x="1100770" y="1115021"/>
                  <a:pt x="580930" y="749421"/>
                  <a:pt x="71180" y="94945"/>
                </a:cubicBezTo>
                <a:close/>
              </a:path>
            </a:pathLst>
          </a:custGeom>
          <a:solidFill>
            <a:srgbClr val="B3B3B3"/>
          </a:solidFill>
          <a:ln w="9525">
            <a:noFill/>
            <a:round/>
            <a:headEnd/>
            <a:tailEnd/>
          </a:ln>
        </p:spPr>
        <p:txBody>
          <a:bodyPr vert="horz" wrap="square" lIns="91440" tIns="45720" rIns="91440" bIns="45720" numCol="1" anchor="t" anchorCtr="0" compatLnSpc="1">
            <a:prstTxWarp prst="textNoShape">
              <a:avLst/>
            </a:prstTxWarp>
          </a:bodyPr>
          <a:lstStyle/>
          <a:p>
            <a:endParaRPr lang="en-US" sz="2000" err="1">
              <a:solidFill>
                <a:srgbClr val="000000"/>
              </a:solidFill>
            </a:endParaRPr>
          </a:p>
        </p:txBody>
      </p:sp>
      <p:sp>
        <p:nvSpPr>
          <p:cNvPr id="115" name="Freeform: Shape 114">
            <a:extLst>
              <a:ext uri="{FF2B5EF4-FFF2-40B4-BE49-F238E27FC236}">
                <a16:creationId xmlns:a16="http://schemas.microsoft.com/office/drawing/2014/main" id="{91E3EF4B-B92E-4C10-A82A-ED8832B16CD5}"/>
              </a:ext>
            </a:extLst>
          </p:cNvPr>
          <p:cNvSpPr/>
          <p:nvPr/>
        </p:nvSpPr>
        <p:spPr>
          <a:xfrm>
            <a:off x="2562018" y="1364749"/>
            <a:ext cx="627569" cy="1691000"/>
          </a:xfrm>
          <a:custGeom>
            <a:avLst/>
            <a:gdLst>
              <a:gd name="connsiteX0" fmla="*/ 313788 w 627569"/>
              <a:gd name="connsiteY0" fmla="*/ 0 h 1691000"/>
              <a:gd name="connsiteX1" fmla="*/ 373317 w 627569"/>
              <a:gd name="connsiteY1" fmla="*/ 5304 h 1691000"/>
              <a:gd name="connsiteX2" fmla="*/ 385217 w 627569"/>
              <a:gd name="connsiteY2" fmla="*/ 6984 h 1691000"/>
              <a:gd name="connsiteX3" fmla="*/ 419858 w 627569"/>
              <a:gd name="connsiteY3" fmla="*/ 17557 h 1691000"/>
              <a:gd name="connsiteX4" fmla="*/ 454877 w 627569"/>
              <a:gd name="connsiteY4" fmla="*/ 34336 h 1691000"/>
              <a:gd name="connsiteX5" fmla="*/ 356160 w 627569"/>
              <a:gd name="connsiteY5" fmla="*/ 1591849 h 1691000"/>
              <a:gd name="connsiteX6" fmla="*/ 313785 w 627569"/>
              <a:gd name="connsiteY6" fmla="*/ 1691000 h 1691000"/>
              <a:gd name="connsiteX7" fmla="*/ 271410 w 627569"/>
              <a:gd name="connsiteY7" fmla="*/ 1591850 h 1691000"/>
              <a:gd name="connsiteX8" fmla="*/ 172691 w 627569"/>
              <a:gd name="connsiteY8" fmla="*/ 34337 h 1691000"/>
              <a:gd name="connsiteX9" fmla="*/ 207712 w 627569"/>
              <a:gd name="connsiteY9" fmla="*/ 17558 h 1691000"/>
              <a:gd name="connsiteX10" fmla="*/ 242360 w 627569"/>
              <a:gd name="connsiteY10" fmla="*/ 6982 h 1691000"/>
              <a:gd name="connsiteX11" fmla="*/ 254223 w 627569"/>
              <a:gd name="connsiteY11" fmla="*/ 5307 h 16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7569" h="1691000">
                <a:moveTo>
                  <a:pt x="313788" y="0"/>
                </a:moveTo>
                <a:lnTo>
                  <a:pt x="373317" y="5304"/>
                </a:lnTo>
                <a:lnTo>
                  <a:pt x="385217" y="6984"/>
                </a:lnTo>
                <a:lnTo>
                  <a:pt x="419858" y="17557"/>
                </a:lnTo>
                <a:cubicBezTo>
                  <a:pt x="431953" y="22256"/>
                  <a:pt x="443632" y="27843"/>
                  <a:pt x="454877" y="34336"/>
                </a:cubicBezTo>
                <a:cubicBezTo>
                  <a:pt x="724775" y="190161"/>
                  <a:pt x="668076" y="823156"/>
                  <a:pt x="356160" y="1591849"/>
                </a:cubicBezTo>
                <a:lnTo>
                  <a:pt x="313785" y="1691000"/>
                </a:lnTo>
                <a:lnTo>
                  <a:pt x="271410" y="1591850"/>
                </a:lnTo>
                <a:cubicBezTo>
                  <a:pt x="-40507" y="823156"/>
                  <a:pt x="-97205" y="190162"/>
                  <a:pt x="172691" y="34337"/>
                </a:cubicBezTo>
                <a:cubicBezTo>
                  <a:pt x="183937" y="27844"/>
                  <a:pt x="195616" y="22257"/>
                  <a:pt x="207712" y="17558"/>
                </a:cubicBezTo>
                <a:lnTo>
                  <a:pt x="242360" y="6982"/>
                </a:lnTo>
                <a:lnTo>
                  <a:pt x="254223" y="5307"/>
                </a:lnTo>
                <a:close/>
              </a:path>
            </a:pathLst>
          </a:custGeom>
          <a:solidFill>
            <a:srgbClr val="B3B3B3"/>
          </a:solidFill>
          <a:ln w="9525">
            <a:noFill/>
            <a:round/>
            <a:headEnd/>
            <a:tailEnd/>
          </a:ln>
        </p:spPr>
        <p:txBody>
          <a:bodyPr vert="horz" wrap="square" lIns="91440" tIns="45720" rIns="91440" bIns="45720" numCol="1" anchor="t" anchorCtr="0" compatLnSpc="1">
            <a:prstTxWarp prst="textNoShape">
              <a:avLst/>
            </a:prstTxWarp>
          </a:bodyPr>
          <a:lstStyle/>
          <a:p>
            <a:endParaRPr lang="en-US" sz="2000" err="1">
              <a:solidFill>
                <a:srgbClr val="000000"/>
              </a:solidFill>
            </a:endParaRPr>
          </a:p>
        </p:txBody>
      </p:sp>
      <p:sp>
        <p:nvSpPr>
          <p:cNvPr id="17" name="TextBox 16">
            <a:extLst>
              <a:ext uri="{FF2B5EF4-FFF2-40B4-BE49-F238E27FC236}">
                <a16:creationId xmlns:a16="http://schemas.microsoft.com/office/drawing/2014/main" id="{6798FB40-4627-43E9-B4A0-5BC6FBBEAB5E}"/>
              </a:ext>
            </a:extLst>
          </p:cNvPr>
          <p:cNvSpPr txBox="1"/>
          <p:nvPr/>
        </p:nvSpPr>
        <p:spPr>
          <a:xfrm>
            <a:off x="6581810" y="1933250"/>
            <a:ext cx="5055454"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800" b="1">
                <a:solidFill>
                  <a:schemeClr val="accent2"/>
                </a:solidFill>
              </a:rPr>
              <a:t>Private Capital Practice: Value creation for sales support functions </a:t>
            </a:r>
          </a:p>
        </p:txBody>
      </p:sp>
      <p:sp>
        <p:nvSpPr>
          <p:cNvPr id="5" name="TextBox 4">
            <a:extLst>
              <a:ext uri="{FF2B5EF4-FFF2-40B4-BE49-F238E27FC236}">
                <a16:creationId xmlns:a16="http://schemas.microsoft.com/office/drawing/2014/main" id="{AE84E770-8E80-4B64-A4CB-9763E7A52878}"/>
              </a:ext>
            </a:extLst>
          </p:cNvPr>
          <p:cNvSpPr txBox="1"/>
          <p:nvPr/>
        </p:nvSpPr>
        <p:spPr>
          <a:xfrm>
            <a:off x="6581809" y="2706978"/>
            <a:ext cx="5055455" cy="31854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b="1"/>
              <a:t>Re-running the KKR (Varsity Brands) study in ~3 weeks </a:t>
            </a:r>
            <a:r>
              <a:rPr lang="en-US"/>
              <a:t>vs original ~10 weeks</a:t>
            </a:r>
          </a:p>
          <a:p>
            <a:pPr marL="285750" indent="-285750">
              <a:buFont typeface="Arial" panose="020B0604020202020204" pitchFamily="34" charset="0"/>
              <a:buChar char="•"/>
            </a:pPr>
            <a:r>
              <a:rPr lang="en-US" b="1"/>
              <a:t>Leveraging key learnings from Procurement and Pricing BC efforts</a:t>
            </a:r>
            <a:r>
              <a:rPr lang="en-US"/>
              <a:t> on AI “re-wiring”</a:t>
            </a:r>
          </a:p>
          <a:p>
            <a:pPr marL="285750" indent="-285750">
              <a:buFont typeface="Arial" panose="020B0604020202020204" pitchFamily="34" charset="0"/>
              <a:buChar char="•"/>
            </a:pPr>
            <a:r>
              <a:rPr lang="en-US" b="1"/>
              <a:t>Recognizing that our work at Varsity Brands is materially different to procurement or pricing </a:t>
            </a:r>
            <a:r>
              <a:rPr lang="en-US"/>
              <a:t>– driving functional org efficiency / effectiveness includes elements that may require more time and/or human intervention (e.g., need for higher number of interviews, more detailed workshops, more frequent validations with clients, etc.)</a:t>
            </a:r>
          </a:p>
          <a:p>
            <a:pPr marL="285750" indent="-285750">
              <a:buFont typeface="Arial" panose="020B0604020202020204" pitchFamily="34" charset="0"/>
              <a:buChar char="•"/>
            </a:pPr>
            <a:r>
              <a:rPr lang="en-US"/>
              <a:t>Our plan is to </a:t>
            </a:r>
            <a:r>
              <a:rPr lang="en-US" b="1"/>
              <a:t>scale across the KKR portfolio</a:t>
            </a:r>
          </a:p>
        </p:txBody>
      </p:sp>
      <p:cxnSp>
        <p:nvCxnSpPr>
          <p:cNvPr id="14" name="LineSpecialityBullet 14">
            <a:extLst>
              <a:ext uri="{FF2B5EF4-FFF2-40B4-BE49-F238E27FC236}">
                <a16:creationId xmlns:a16="http://schemas.microsoft.com/office/drawing/2014/main" id="{5D25EA8C-CFF9-C794-DD84-E2C053E1F5CD}"/>
              </a:ext>
            </a:extLst>
          </p:cNvPr>
          <p:cNvCxnSpPr>
            <a:cxnSpLocks/>
          </p:cNvCxnSpPr>
          <p:nvPr>
            <p:custDataLst>
              <p:tags r:id="rId3"/>
            </p:custDataLst>
          </p:nvPr>
        </p:nvCxnSpPr>
        <p:spPr>
          <a:xfrm>
            <a:off x="3724977" y="2032363"/>
            <a:ext cx="2548823" cy="0"/>
          </a:xfrm>
          <a:prstGeom prst="straightConnector1">
            <a:avLst/>
          </a:prstGeom>
          <a:ln w="38100" cap="flat">
            <a:solidFill>
              <a:schemeClr val="accent2"/>
            </a:solidFill>
            <a:miter lim="800000"/>
            <a:tailEnd type="oval" w="med" len="med"/>
          </a:ln>
        </p:spPr>
        <p:style>
          <a:lnRef idx="1">
            <a:schemeClr val="accent1"/>
          </a:lnRef>
          <a:fillRef idx="0">
            <a:schemeClr val="accent1"/>
          </a:fillRef>
          <a:effectRef idx="0">
            <a:schemeClr val="accent1"/>
          </a:effectRef>
          <a:fontRef idx="minor">
            <a:schemeClr val="tx1"/>
          </a:fontRef>
        </p:style>
      </p:cxnSp>
      <p:pic>
        <p:nvPicPr>
          <p:cNvPr id="25" name="CustomIcon">
            <a:extLst>
              <a:ext uri="{FF2B5EF4-FFF2-40B4-BE49-F238E27FC236}">
                <a16:creationId xmlns:a16="http://schemas.microsoft.com/office/drawing/2014/main" id="{0A2E3D9F-F0B2-369D-459A-0C472EC29B5D}"/>
              </a:ext>
            </a:extLst>
          </p:cNvPr>
          <p:cNvPicPr>
            <a:picLocks noChangeAspect="1"/>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1817730" y="2210249"/>
            <a:ext cx="609600" cy="609600"/>
          </a:xfrm>
          <a:prstGeom prst="rect">
            <a:avLst/>
          </a:prstGeom>
        </p:spPr>
      </p:pic>
      <p:pic>
        <p:nvPicPr>
          <p:cNvPr id="27" name="CustomIcon">
            <a:extLst>
              <a:ext uri="{FF2B5EF4-FFF2-40B4-BE49-F238E27FC236}">
                <a16:creationId xmlns:a16="http://schemas.microsoft.com/office/drawing/2014/main" id="{A4CFC66B-4D2F-6385-B5BC-EF4D8E45C2D1}"/>
              </a:ext>
            </a:extLst>
          </p:cNvPr>
          <p:cNvPicPr>
            <a:picLocks noChangeAspect="1"/>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1722482" y="4902555"/>
            <a:ext cx="609600" cy="609600"/>
          </a:xfrm>
          <a:prstGeom prst="rect">
            <a:avLst/>
          </a:prstGeom>
        </p:spPr>
      </p:pic>
      <p:pic>
        <p:nvPicPr>
          <p:cNvPr id="29" name="CustomIcon">
            <a:extLst>
              <a:ext uri="{FF2B5EF4-FFF2-40B4-BE49-F238E27FC236}">
                <a16:creationId xmlns:a16="http://schemas.microsoft.com/office/drawing/2014/main" id="{5BF968C8-6CC8-31B4-BEC2-046380E3AF56}"/>
              </a:ext>
            </a:extLst>
          </p:cNvPr>
          <p:cNvPicPr>
            <a:picLocks noChangeAspect="1"/>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a:off x="3324113" y="2210249"/>
            <a:ext cx="609600" cy="609600"/>
          </a:xfrm>
          <a:prstGeom prst="rect">
            <a:avLst/>
          </a:prstGeom>
        </p:spPr>
      </p:pic>
      <p:sp>
        <p:nvSpPr>
          <p:cNvPr id="30" name="TextBox 29">
            <a:extLst>
              <a:ext uri="{FF2B5EF4-FFF2-40B4-BE49-F238E27FC236}">
                <a16:creationId xmlns:a16="http://schemas.microsoft.com/office/drawing/2014/main" id="{7A1BA3D0-084A-2DA2-1E63-1797B30D9771}"/>
              </a:ext>
            </a:extLst>
          </p:cNvPr>
          <p:cNvSpPr txBox="1"/>
          <p:nvPr/>
        </p:nvSpPr>
        <p:spPr>
          <a:xfrm>
            <a:off x="2520527" y="5016269"/>
            <a:ext cx="1607171"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chemeClr val="bg2">
                    <a:lumMod val="50000"/>
                  </a:schemeClr>
                </a:solidFill>
              </a:rPr>
              <a:t>Procurement “AI re-wiring” BC study</a:t>
            </a:r>
          </a:p>
        </p:txBody>
      </p:sp>
      <p:sp>
        <p:nvSpPr>
          <p:cNvPr id="31" name="TextBox 30">
            <a:extLst>
              <a:ext uri="{FF2B5EF4-FFF2-40B4-BE49-F238E27FC236}">
                <a16:creationId xmlns:a16="http://schemas.microsoft.com/office/drawing/2014/main" id="{CB4A19D8-480C-9F17-DC85-6E0640D9385B}"/>
              </a:ext>
            </a:extLst>
          </p:cNvPr>
          <p:cNvSpPr txBox="1"/>
          <p:nvPr/>
        </p:nvSpPr>
        <p:spPr>
          <a:xfrm>
            <a:off x="1199489" y="3238468"/>
            <a:ext cx="1227842"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chemeClr val="bg2">
                    <a:lumMod val="50000"/>
                  </a:schemeClr>
                </a:solidFill>
              </a:rPr>
              <a:t>Pricing “AI re-wiring” BC study</a:t>
            </a:r>
          </a:p>
        </p:txBody>
      </p:sp>
      <p:cxnSp>
        <p:nvCxnSpPr>
          <p:cNvPr id="37" name="Connector: Elbow 36">
            <a:extLst>
              <a:ext uri="{FF2B5EF4-FFF2-40B4-BE49-F238E27FC236}">
                <a16:creationId xmlns:a16="http://schemas.microsoft.com/office/drawing/2014/main" id="{F0549D58-9ED5-E960-EFBB-AF70D116BAB4}"/>
              </a:ext>
            </a:extLst>
          </p:cNvPr>
          <p:cNvCxnSpPr>
            <a:cxnSpLocks/>
            <a:stCxn id="116" idx="4"/>
          </p:cNvCxnSpPr>
          <p:nvPr/>
        </p:nvCxnSpPr>
        <p:spPr>
          <a:xfrm>
            <a:off x="658567" y="5300044"/>
            <a:ext cx="875470" cy="851800"/>
          </a:xfrm>
          <a:prstGeom prst="bentConnector5">
            <a:avLst>
              <a:gd name="adj1" fmla="val -20309"/>
              <a:gd name="adj2" fmla="val 100598"/>
              <a:gd name="adj3" fmla="val 73888"/>
            </a:avLst>
          </a:prstGeom>
          <a:ln w="6350" cap="flat">
            <a:solidFill>
              <a:schemeClr val="tx2">
                <a:lumMod val="50000"/>
              </a:schemeClr>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9737C99-EEE6-09EB-135F-C139B6175A3D}"/>
              </a:ext>
            </a:extLst>
          </p:cNvPr>
          <p:cNvSpPr txBox="1"/>
          <p:nvPr/>
        </p:nvSpPr>
        <p:spPr>
          <a:xfrm>
            <a:off x="1582417" y="5921587"/>
            <a:ext cx="3463716"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chemeClr val="bg2">
                    <a:lumMod val="50000"/>
                  </a:schemeClr>
                </a:solidFill>
              </a:rPr>
              <a:t>Re-runs of previous studies are already happening – NA Leadership involved (i.e., Eric Kutcher Kevin Laczkowski Steve Reis Dan Tinkoff)</a:t>
            </a:r>
          </a:p>
        </p:txBody>
      </p:sp>
      <p:sp>
        <p:nvSpPr>
          <p:cNvPr id="58" name="TextBox 57">
            <a:extLst>
              <a:ext uri="{FF2B5EF4-FFF2-40B4-BE49-F238E27FC236}">
                <a16:creationId xmlns:a16="http://schemas.microsoft.com/office/drawing/2014/main" id="{1A8B86EB-F64D-CAB2-7966-AF109C657B35}"/>
              </a:ext>
            </a:extLst>
          </p:cNvPr>
          <p:cNvSpPr txBox="1"/>
          <p:nvPr/>
        </p:nvSpPr>
        <p:spPr>
          <a:xfrm>
            <a:off x="3370994" y="3236422"/>
            <a:ext cx="1203695"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solidFill>
                  <a:schemeClr val="accent3"/>
                </a:solidFill>
              </a:rPr>
              <a:t>Sales Support functions “AI re-wiring” BC study</a:t>
            </a:r>
          </a:p>
        </p:txBody>
      </p:sp>
      <p:sp>
        <p:nvSpPr>
          <p:cNvPr id="3" name="Sticky">
            <a:extLst>
              <a:ext uri="{FF2B5EF4-FFF2-40B4-BE49-F238E27FC236}">
                <a16:creationId xmlns:a16="http://schemas.microsoft.com/office/drawing/2014/main" id="{055D5819-6DE1-CF17-E0ED-EF8101EB9784}"/>
              </a:ext>
            </a:extLst>
          </p:cNvPr>
          <p:cNvSpPr/>
          <p:nvPr>
            <p:custDataLst>
              <p:tags r:id="rId7"/>
            </p:custDataLst>
          </p:nvPr>
        </p:nvSpPr>
        <p:spPr>
          <a:xfrm>
            <a:off x="14370169" y="3795587"/>
            <a:ext cx="1905000" cy="2146858"/>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600">
                <a:solidFill>
                  <a:srgbClr val="000000"/>
                </a:solidFill>
              </a:rPr>
              <a:t>Not completing </a:t>
            </a:r>
          </a:p>
          <a:p>
            <a:pPr>
              <a:spcBef>
                <a:spcPts val="300"/>
              </a:spcBef>
              <a:spcAft>
                <a:spcPts val="300"/>
              </a:spcAft>
            </a:pPr>
            <a:endParaRPr lang="en-US" sz="1600">
              <a:solidFill>
                <a:srgbClr val="000000"/>
              </a:solidFill>
            </a:endParaRPr>
          </a:p>
          <a:p>
            <a:pPr>
              <a:spcBef>
                <a:spcPts val="300"/>
              </a:spcBef>
              <a:spcAft>
                <a:spcPts val="300"/>
              </a:spcAft>
            </a:pPr>
            <a:r>
              <a:rPr lang="en-US" sz="1600">
                <a:solidFill>
                  <a:srgbClr val="000000"/>
                </a:solidFill>
              </a:rPr>
              <a:t>What the role of the human is vs agents</a:t>
            </a:r>
          </a:p>
          <a:p>
            <a:pPr>
              <a:spcBef>
                <a:spcPts val="300"/>
              </a:spcBef>
              <a:spcAft>
                <a:spcPts val="300"/>
              </a:spcAft>
            </a:pPr>
            <a:r>
              <a:rPr lang="en-US" sz="1600">
                <a:solidFill>
                  <a:srgbClr val="000000"/>
                </a:solidFill>
              </a:rPr>
              <a:t>What could be different here</a:t>
            </a:r>
          </a:p>
        </p:txBody>
      </p:sp>
    </p:spTree>
    <p:extLst>
      <p:ext uri="{BB962C8B-B14F-4D97-AF65-F5344CB8AC3E}">
        <p14:creationId xmlns:p14="http://schemas.microsoft.com/office/powerpoint/2010/main" val="450877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E67BF7B-4CAA-EF22-15B6-C989CBF7AC27}"/>
              </a:ext>
            </a:extLst>
          </p:cNvPr>
          <p:cNvGraphicFramePr>
            <a:graphicFrameLocks noChangeAspect="1"/>
          </p:cNvGraphicFramePr>
          <p:nvPr>
            <p:custDataLst>
              <p:tags r:id="rId1"/>
            </p:custDataLst>
            <p:extLst>
              <p:ext uri="{D42A27DB-BD31-4B8C-83A1-F6EECF244321}">
                <p14:modId xmlns:p14="http://schemas.microsoft.com/office/powerpoint/2010/main" val="2719866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 name="think-cell data - do not delete" hidden="1">
                        <a:extLst>
                          <a:ext uri="{FF2B5EF4-FFF2-40B4-BE49-F238E27FC236}">
                            <a16:creationId xmlns:a16="http://schemas.microsoft.com/office/drawing/2014/main" id="{EE67BF7B-4CAA-EF22-15B6-C989CBF7AC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E6C2898-F227-BD4A-F5A2-C1CE4AF3C4AE}"/>
              </a:ext>
            </a:extLst>
          </p:cNvPr>
          <p:cNvSpPr>
            <a:spLocks noGrp="1"/>
          </p:cNvSpPr>
          <p:nvPr>
            <p:ph type="title"/>
            <p:custDataLst>
              <p:tags r:id="rId2"/>
            </p:custDataLst>
          </p:nvPr>
        </p:nvSpPr>
        <p:spPr/>
        <p:txBody>
          <a:bodyPr vert="horz"/>
          <a:lstStyle/>
          <a:p>
            <a:r>
              <a:rPr lang="en-US"/>
              <a:t>Example screenshots from Cursor-based dashboard created for a similar Blue Currency currently running for another client </a:t>
            </a:r>
          </a:p>
        </p:txBody>
      </p:sp>
      <p:pic>
        <p:nvPicPr>
          <p:cNvPr id="12" name="Picture 11">
            <a:extLst>
              <a:ext uri="{FF2B5EF4-FFF2-40B4-BE49-F238E27FC236}">
                <a16:creationId xmlns:a16="http://schemas.microsoft.com/office/drawing/2014/main" id="{83018212-F95E-74C0-E263-A4456FF01CFE}"/>
              </a:ext>
            </a:extLst>
          </p:cNvPr>
          <p:cNvPicPr>
            <a:picLocks noChangeAspect="1"/>
          </p:cNvPicPr>
          <p:nvPr/>
        </p:nvPicPr>
        <p:blipFill>
          <a:blip r:embed="rId6"/>
          <a:stretch>
            <a:fillRect/>
          </a:stretch>
        </p:blipFill>
        <p:spPr>
          <a:xfrm>
            <a:off x="554735" y="1454522"/>
            <a:ext cx="5932003" cy="2633384"/>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72317B46-4CE1-355F-8499-5A7F3FD72E4E}"/>
              </a:ext>
            </a:extLst>
          </p:cNvPr>
          <p:cNvPicPr>
            <a:picLocks noChangeAspect="1"/>
          </p:cNvPicPr>
          <p:nvPr/>
        </p:nvPicPr>
        <p:blipFill>
          <a:blip r:embed="rId7"/>
          <a:stretch>
            <a:fillRect/>
          </a:stretch>
        </p:blipFill>
        <p:spPr>
          <a:xfrm>
            <a:off x="5693868" y="2959313"/>
            <a:ext cx="5724368" cy="324936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645620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PRESENTATIONDONOTDELETE" val="&lt;?xml version=&quot;1.0&quot; encoding=&quot;UTF-16&quot; standalone=&quot;yes&quot;?&gt;&lt;root reqver=&quot;25060&quot;&gt;&lt;version val=&quot;281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TEMPLATELASTEDITED" val="2024-05-30 01:34 PM"/>
  <p:tag name="LINKEDPICTURESLINKREMOVED" val="True"/>
  <p:tag name="ICONENCLOSURE" val="False"/>
  <p:tag name="ICONLINEFILL" val="Color [A=255, R=0, G=0, B=0]"/>
  <p:tag name="ICONLINEFILLTHEME" val="Text 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263.xml><?xml version="1.0" encoding="utf-8"?>
<p:tagLst xmlns:a="http://schemas.openxmlformats.org/drawingml/2006/main" xmlns:r="http://schemas.openxmlformats.org/officeDocument/2006/relationships" xmlns:p="http://schemas.openxmlformats.org/presentationml/2006/main">
  <p:tag name="SHAPENAME" val="Titl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NAME" val="ACET"/>
</p:tagLst>
</file>

<file path=ppt/tags/tag266.xml><?xml version="1.0" encoding="utf-8"?>
<p:tagLst xmlns:a="http://schemas.openxmlformats.org/drawingml/2006/main" xmlns:r="http://schemas.openxmlformats.org/officeDocument/2006/relationships" xmlns:p="http://schemas.openxmlformats.org/presentationml/2006/main">
  <p:tag name="NAME" val="ACET"/>
</p:tagLst>
</file>

<file path=ppt/tags/tag267.xml><?xml version="1.0" encoding="utf-8"?>
<p:tagLst xmlns:a="http://schemas.openxmlformats.org/drawingml/2006/main" xmlns:r="http://schemas.openxmlformats.org/officeDocument/2006/relationships" xmlns:p="http://schemas.openxmlformats.org/presentationml/2006/main">
  <p:tag name="NAME" val="TrackerNumBlue"/>
</p:tagLst>
</file>

<file path=ppt/tags/tag268.xml><?xml version="1.0" encoding="utf-8"?>
<p:tagLst xmlns:a="http://schemas.openxmlformats.org/drawingml/2006/main" xmlns:r="http://schemas.openxmlformats.org/officeDocument/2006/relationships" xmlns:p="http://schemas.openxmlformats.org/presentationml/2006/main">
  <p:tag name="NAME" val="TrackerNumBlue"/>
</p:tagLst>
</file>

<file path=ppt/tags/tag269.xml><?xml version="1.0" encoding="utf-8"?>
<p:tagLst xmlns:a="http://schemas.openxmlformats.org/drawingml/2006/main" xmlns:r="http://schemas.openxmlformats.org/officeDocument/2006/relationships" xmlns:p="http://schemas.openxmlformats.org/presentationml/2006/main">
  <p:tag name="NAME" val="TrackerNumBlue"/>
</p:tagLst>
</file>

<file path=ppt/tags/tag270.xml><?xml version="1.0" encoding="utf-8"?>
<p:tagLst xmlns:a="http://schemas.openxmlformats.org/drawingml/2006/main" xmlns:r="http://schemas.openxmlformats.org/officeDocument/2006/relationships" xmlns:p="http://schemas.openxmlformats.org/presentationml/2006/main">
  <p:tag name="SHAPENAME" val="4. Footnote"/>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nNw1DeIBTbS77erpz6A36g"/>
</p:tagLst>
</file>

<file path=ppt/tags/tag2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4.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5.xml><?xml version="1.0" encoding="utf-8"?>
<p:tagLst xmlns:a="http://schemas.openxmlformats.org/drawingml/2006/main" xmlns:r="http://schemas.openxmlformats.org/officeDocument/2006/relationships" xmlns:p="http://schemas.openxmlformats.org/presentationml/2006/main">
  <p:tag name="NAME" val="BigStat"/>
</p:tagLst>
</file>

<file path=ppt/tags/tag2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NAME" val="TrackerNumBlue"/>
</p:tagLst>
</file>

<file path=ppt/tags/tag279.xml><?xml version="1.0" encoding="utf-8"?>
<p:tagLst xmlns:a="http://schemas.openxmlformats.org/drawingml/2006/main" xmlns:r="http://schemas.openxmlformats.org/officeDocument/2006/relationships" xmlns:p="http://schemas.openxmlformats.org/presentationml/2006/main">
  <p:tag name="NAME" val="TrackerNumBlue"/>
</p:tagLst>
</file>

<file path=ppt/tags/tag2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1.xml><?xml version="1.0" encoding="utf-8"?>
<p:tagLst xmlns:a="http://schemas.openxmlformats.org/drawingml/2006/main" xmlns:r="http://schemas.openxmlformats.org/officeDocument/2006/relationships" xmlns:p="http://schemas.openxmlformats.org/presentationml/2006/main">
  <p:tag name="NAME" val="CustomIcon"/>
</p:tagLst>
</file>

<file path=ppt/tags/tag28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2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284.xml><?xml version="1.0" encoding="utf-8"?>
<p:tagLst xmlns:a="http://schemas.openxmlformats.org/drawingml/2006/main" xmlns:r="http://schemas.openxmlformats.org/officeDocument/2006/relationships" xmlns:p="http://schemas.openxmlformats.org/presentationml/2006/main">
  <p:tag name="NAME" val="CustomIcon"/>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BFhTLssERgoNWUqCW7shhg"/>
</p:tagLst>
</file>

<file path=ppt/tags/tag2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289.xml><?xml version="1.0" encoding="utf-8"?>
<p:tagLst xmlns:a="http://schemas.openxmlformats.org/drawingml/2006/main" xmlns:r="http://schemas.openxmlformats.org/officeDocument/2006/relationships" xmlns:p="http://schemas.openxmlformats.org/presentationml/2006/main">
  <p:tag name="NAME" val="CustomIcon"/>
</p:tagLst>
</file>

<file path=ppt/tags/tag290.xml><?xml version="1.0" encoding="utf-8"?>
<p:tagLst xmlns:a="http://schemas.openxmlformats.org/drawingml/2006/main" xmlns:r="http://schemas.openxmlformats.org/officeDocument/2006/relationships" xmlns:p="http://schemas.openxmlformats.org/presentationml/2006/main">
  <p:tag name="NAME" val="CustomIcon"/>
</p:tagLst>
</file>

<file path=ppt/tags/tag2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2.xml><?xml version="1.0" encoding="utf-8"?>
<p:tagLst xmlns:a="http://schemas.openxmlformats.org/drawingml/2006/main" xmlns:r="http://schemas.openxmlformats.org/officeDocument/2006/relationships" xmlns:p="http://schemas.openxmlformats.org/presentationml/2006/main">
  <p:tag name="NAME" val="TrackerNumBlue"/>
</p:tagLst>
</file>

<file path=ppt/tags/tag293.xml><?xml version="1.0" encoding="utf-8"?>
<p:tagLst xmlns:a="http://schemas.openxmlformats.org/drawingml/2006/main" xmlns:r="http://schemas.openxmlformats.org/officeDocument/2006/relationships" xmlns:p="http://schemas.openxmlformats.org/presentationml/2006/main">
  <p:tag name="NAME" val="TrackerNumBlue"/>
</p:tagLst>
</file>

<file path=ppt/tags/tag294.xml><?xml version="1.0" encoding="utf-8"?>
<p:tagLst xmlns:a="http://schemas.openxmlformats.org/drawingml/2006/main" xmlns:r="http://schemas.openxmlformats.org/officeDocument/2006/relationships" xmlns:p="http://schemas.openxmlformats.org/presentationml/2006/main">
  <p:tag name="NAME" val="TrackerNumBlue"/>
</p:tagLst>
</file>

<file path=ppt/tags/tag295.xml><?xml version="1.0" encoding="utf-8"?>
<p:tagLst xmlns:a="http://schemas.openxmlformats.org/drawingml/2006/main" xmlns:r="http://schemas.openxmlformats.org/officeDocument/2006/relationships" xmlns:p="http://schemas.openxmlformats.org/presentationml/2006/main">
  <p:tag name="NAME" val="TrackerNumBlue"/>
</p:tagLst>
</file>

<file path=ppt/tags/tag296.xml><?xml version="1.0" encoding="utf-8"?>
<p:tagLst xmlns:a="http://schemas.openxmlformats.org/drawingml/2006/main" xmlns:r="http://schemas.openxmlformats.org/officeDocument/2006/relationships" xmlns:p="http://schemas.openxmlformats.org/presentationml/2006/main">
  <p:tag name="NAME" val="TrackerNumBlue"/>
</p:tagLst>
</file>

<file path=ppt/tags/tag297.xml><?xml version="1.0" encoding="utf-8"?>
<p:tagLst xmlns:a="http://schemas.openxmlformats.org/drawingml/2006/main" xmlns:r="http://schemas.openxmlformats.org/officeDocument/2006/relationships" xmlns:p="http://schemas.openxmlformats.org/presentationml/2006/main">
  <p:tag name="NAME" val="TrackerNumBlue"/>
</p:tagLst>
</file>

<file path=ppt/tags/tag298.xml><?xml version="1.0" encoding="utf-8"?>
<p:tagLst xmlns:a="http://schemas.openxmlformats.org/drawingml/2006/main" xmlns:r="http://schemas.openxmlformats.org/officeDocument/2006/relationships" xmlns:p="http://schemas.openxmlformats.org/presentationml/2006/main">
  <p:tag name="NAME" val="TrackerNumBlue"/>
</p:tagLst>
</file>

<file path=ppt/tags/tag29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0.xml><?xml version="1.0" encoding="utf-8"?>
<p:tagLst xmlns:a="http://schemas.openxmlformats.org/drawingml/2006/main" xmlns:r="http://schemas.openxmlformats.org/officeDocument/2006/relationships" xmlns:p="http://schemas.openxmlformats.org/presentationml/2006/main">
  <p:tag name="NAME" val="TrackerNumBlue"/>
</p:tagLst>
</file>

<file path=ppt/tags/tag301.xml><?xml version="1.0" encoding="utf-8"?>
<p:tagLst xmlns:a="http://schemas.openxmlformats.org/drawingml/2006/main" xmlns:r="http://schemas.openxmlformats.org/officeDocument/2006/relationships" xmlns:p="http://schemas.openxmlformats.org/presentationml/2006/main">
  <p:tag name="NAME" val="TrackerNumBlue"/>
</p:tagLst>
</file>

<file path=ppt/tags/tag30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3.xml><?xml version="1.0" encoding="utf-8"?>
<p:tagLst xmlns:a="http://schemas.openxmlformats.org/drawingml/2006/main" xmlns:r="http://schemas.openxmlformats.org/officeDocument/2006/relationships" xmlns:p="http://schemas.openxmlformats.org/presentationml/2006/main">
  <p:tag name="NAME" val="TrackerNumBlue"/>
</p:tagLst>
</file>

<file path=ppt/tags/tag304.xml><?xml version="1.0" encoding="utf-8"?>
<p:tagLst xmlns:a="http://schemas.openxmlformats.org/drawingml/2006/main" xmlns:r="http://schemas.openxmlformats.org/officeDocument/2006/relationships" xmlns:p="http://schemas.openxmlformats.org/presentationml/2006/main">
  <p:tag name="NAME" val="TrackerNumBlue"/>
</p:tagLst>
</file>

<file path=ppt/tags/tag305.xml><?xml version="1.0" encoding="utf-8"?>
<p:tagLst xmlns:a="http://schemas.openxmlformats.org/drawingml/2006/main" xmlns:r="http://schemas.openxmlformats.org/officeDocument/2006/relationships" xmlns:p="http://schemas.openxmlformats.org/presentationml/2006/main">
  <p:tag name="NAME" val="TrackerNumBlue"/>
</p:tagLst>
</file>

<file path=ppt/tags/tag306.xml><?xml version="1.0" encoding="utf-8"?>
<p:tagLst xmlns:a="http://schemas.openxmlformats.org/drawingml/2006/main" xmlns:r="http://schemas.openxmlformats.org/officeDocument/2006/relationships" xmlns:p="http://schemas.openxmlformats.org/presentationml/2006/main">
  <p:tag name="NAME" val="TrackerNumBlue"/>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8.xml><?xml version="1.0" encoding="utf-8"?>
<p:tagLst xmlns:a="http://schemas.openxmlformats.org/drawingml/2006/main" xmlns:r="http://schemas.openxmlformats.org/officeDocument/2006/relationships" xmlns:p="http://schemas.openxmlformats.org/presentationml/2006/main">
  <p:tag name="NAME" val="SingleBoatShape"/>
</p:tagLst>
</file>

<file path=ppt/tags/tag309.xml><?xml version="1.0" encoding="utf-8"?>
<p:tagLst xmlns:a="http://schemas.openxmlformats.org/drawingml/2006/main" xmlns:r="http://schemas.openxmlformats.org/officeDocument/2006/relationships" xmlns:p="http://schemas.openxmlformats.org/presentationml/2006/main">
  <p:tag name="NAME" val="SingleBoatShape"/>
</p:tagLst>
</file>

<file path=ppt/tags/tag31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1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1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3.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314.xml><?xml version="1.0" encoding="utf-8"?>
<p:tagLst xmlns:a="http://schemas.openxmlformats.org/drawingml/2006/main" xmlns:r="http://schemas.openxmlformats.org/officeDocument/2006/relationships" xmlns:p="http://schemas.openxmlformats.org/presentationml/2006/main">
  <p:tag name="NAME" val="TrackerNumBlue"/>
</p:tagLst>
</file>

<file path=ppt/tags/tag315.xml><?xml version="1.0" encoding="utf-8"?>
<p:tagLst xmlns:a="http://schemas.openxmlformats.org/drawingml/2006/main" xmlns:r="http://schemas.openxmlformats.org/officeDocument/2006/relationships" xmlns:p="http://schemas.openxmlformats.org/presentationml/2006/main">
  <p:tag name="NAME" val="TrackerNumBlue"/>
</p:tagLst>
</file>

<file path=ppt/tags/tag316.xml><?xml version="1.0" encoding="utf-8"?>
<p:tagLst xmlns:a="http://schemas.openxmlformats.org/drawingml/2006/main" xmlns:r="http://schemas.openxmlformats.org/officeDocument/2006/relationships" xmlns:p="http://schemas.openxmlformats.org/presentationml/2006/main">
  <p:tag name="NAME" val="TrackerNumBlue"/>
</p:tagLst>
</file>

<file path=ppt/tags/tag317.xml><?xml version="1.0" encoding="utf-8"?>
<p:tagLst xmlns:a="http://schemas.openxmlformats.org/drawingml/2006/main" xmlns:r="http://schemas.openxmlformats.org/officeDocument/2006/relationships" xmlns:p="http://schemas.openxmlformats.org/presentationml/2006/main">
  <p:tag name="NAME" val="TrackerNumBlue"/>
</p:tagLst>
</file>

<file path=ppt/tags/tag318.xml><?xml version="1.0" encoding="utf-8"?>
<p:tagLst xmlns:a="http://schemas.openxmlformats.org/drawingml/2006/main" xmlns:r="http://schemas.openxmlformats.org/officeDocument/2006/relationships" xmlns:p="http://schemas.openxmlformats.org/presentationml/2006/main">
  <p:tag name="NAME" val="TrackerNumBlue"/>
</p:tagLst>
</file>

<file path=ppt/tags/tag319.xml><?xml version="1.0" encoding="utf-8"?>
<p:tagLst xmlns:a="http://schemas.openxmlformats.org/drawingml/2006/main" xmlns:r="http://schemas.openxmlformats.org/officeDocument/2006/relationships" xmlns:p="http://schemas.openxmlformats.org/presentationml/2006/main">
  <p:tag name="NAME" val="TrackerNumBlue"/>
</p:tagLst>
</file>

<file path=ppt/tags/tag320.xml><?xml version="1.0" encoding="utf-8"?>
<p:tagLst xmlns:a="http://schemas.openxmlformats.org/drawingml/2006/main" xmlns:r="http://schemas.openxmlformats.org/officeDocument/2006/relationships" xmlns:p="http://schemas.openxmlformats.org/presentationml/2006/main">
  <p:tag name="NAME" val="TrackerNumBlue"/>
</p:tagLst>
</file>

<file path=ppt/tags/tag321.xml><?xml version="1.0" encoding="utf-8"?>
<p:tagLst xmlns:a="http://schemas.openxmlformats.org/drawingml/2006/main" xmlns:r="http://schemas.openxmlformats.org/officeDocument/2006/relationships" xmlns:p="http://schemas.openxmlformats.org/presentationml/2006/main">
  <p:tag name="NAME" val="TrackerNumBlue"/>
</p:tagLst>
</file>

<file path=ppt/tags/tag322.xml><?xml version="1.0" encoding="utf-8"?>
<p:tagLst xmlns:a="http://schemas.openxmlformats.org/drawingml/2006/main" xmlns:r="http://schemas.openxmlformats.org/officeDocument/2006/relationships" xmlns:p="http://schemas.openxmlformats.org/presentationml/2006/main">
  <p:tag name="CIRCLESTATUS" val="White"/>
  <p:tag name="NAME" val="ChevronWhite"/>
  <p:tag name="SYMBOLNAME" val="Chevron"/>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aUjgiy9cM7Qcf43VnCgrEw"/>
</p:tagLst>
</file>

<file path=ppt/tags/tag3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6.xml><?xml version="1.0" encoding="utf-8"?>
<p:tagLst xmlns:a="http://schemas.openxmlformats.org/drawingml/2006/main" xmlns:r="http://schemas.openxmlformats.org/officeDocument/2006/relationships" xmlns:p="http://schemas.openxmlformats.org/presentationml/2006/main">
  <p:tag name="CIRCLESTATUS" val="White"/>
  <p:tag name="NAME" val="PlusSignWhite"/>
  <p:tag name="SYMBOLNAME" val="PlusSign"/>
</p:tagLst>
</file>

<file path=ppt/tags/tag327.xml><?xml version="1.0" encoding="utf-8"?>
<p:tagLst xmlns:a="http://schemas.openxmlformats.org/drawingml/2006/main" xmlns:r="http://schemas.openxmlformats.org/officeDocument/2006/relationships" xmlns:p="http://schemas.openxmlformats.org/presentationml/2006/main">
  <p:tag name="NAME" val="Sticky"/>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5.xml><?xml version="1.0" encoding="utf-8"?>
<p:tagLst xmlns:a="http://schemas.openxmlformats.org/drawingml/2006/main" xmlns:r="http://schemas.openxmlformats.org/officeDocument/2006/relationships" xmlns:p="http://schemas.openxmlformats.org/presentationml/2006/main">
  <p:tag name="NAME" val="LineSpecialityBullet"/>
</p:tagLst>
</file>

<file path=ppt/tags/tag336.xml><?xml version="1.0" encoding="utf-8"?>
<p:tagLst xmlns:a="http://schemas.openxmlformats.org/drawingml/2006/main" xmlns:r="http://schemas.openxmlformats.org/officeDocument/2006/relationships" xmlns:p="http://schemas.openxmlformats.org/presentationml/2006/main">
  <p:tag name="NAME" val="CustomIcon"/>
</p:tagLst>
</file>

<file path=ppt/tags/tag337.xml><?xml version="1.0" encoding="utf-8"?>
<p:tagLst xmlns:a="http://schemas.openxmlformats.org/drawingml/2006/main" xmlns:r="http://schemas.openxmlformats.org/officeDocument/2006/relationships" xmlns:p="http://schemas.openxmlformats.org/presentationml/2006/main">
  <p:tag name="NAME" val="CustomIcon"/>
</p:tagLst>
</file>

<file path=ppt/tags/tag338.xml><?xml version="1.0" encoding="utf-8"?>
<p:tagLst xmlns:a="http://schemas.openxmlformats.org/drawingml/2006/main" xmlns:r="http://schemas.openxmlformats.org/officeDocument/2006/relationships" xmlns:p="http://schemas.openxmlformats.org/presentationml/2006/main">
  <p:tag name="NAME" val="CustomIcon"/>
</p:tagLst>
</file>

<file path=ppt/tags/tag339.xml><?xml version="1.0" encoding="utf-8"?>
<p:tagLst xmlns:a="http://schemas.openxmlformats.org/drawingml/2006/main" xmlns:r="http://schemas.openxmlformats.org/officeDocument/2006/relationships" xmlns:p="http://schemas.openxmlformats.org/presentationml/2006/main">
  <p:tag name="NAME" val="Sticky"/>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1.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229FB231-AA91-4194-80BE-BFCE94AB411C}"/>
    </a:ext>
  </a:extLst>
</a:theme>
</file>

<file path=ppt/theme/theme3.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8">
    <wetp:webextensionref xmlns:r="http://schemas.openxmlformats.org/officeDocument/2006/relationships" r:id="rId1"/>
  </wetp:taskpane>
  <wetp:taskpane dockstate="right" visibility="1" width="350"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9C703CE-161A-4796-AB79-6F1EDD4EC967}">
  <we:reference id="5332053f-08b1-4ad5-b936-144d44d33f40" version="2.62.2.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0967CAB-0266-4A0E-B9D8-8DF01CA90CB1}">
  <we:reference id="7888317b-a425-4590-9747-4c188fd7be2e" version="2.40.2.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5762DEC12AEA479E66D30C69FBF331" ma:contentTypeVersion="8" ma:contentTypeDescription="Create a new document." ma:contentTypeScope="" ma:versionID="e41b985cb3c5bf02c2c93f97fb1d22f5">
  <xsd:schema xmlns:xsd="http://www.w3.org/2001/XMLSchema" xmlns:xs="http://www.w3.org/2001/XMLSchema" xmlns:p="http://schemas.microsoft.com/office/2006/metadata/properties" xmlns:ns2="a685f29f-8b29-4906-aa28-45c903b9817c" xmlns:ns3="8479f66d-0fab-4573-bb34-2faaa6c56896" targetNamespace="http://schemas.microsoft.com/office/2006/metadata/properties" ma:root="true" ma:fieldsID="c40f5f20b68abb4c69bcdcf3b641f6ce" ns2:_="" ns3:_="">
    <xsd:import namespace="a685f29f-8b29-4906-aa28-45c903b9817c"/>
    <xsd:import namespace="8479f66d-0fab-4573-bb34-2faaa6c568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f29f-8b29-4906-aa28-45c903b9817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9f66d-0fab-4573-bb34-2faaa6c568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a685f29f-8b29-4906-aa28-45c903b9817c">NVTPNQ4PUNZN-187013513-435</_dlc_DocId>
    <_dlc_DocIdUrl xmlns="a685f29f-8b29-4906-aa28-45c903b9817c">
      <Url>https://mckinsey.sharepoint.com/sites/spe-int-7r4ka1jda9/_layouts/15/DocIdRedir.aspx?ID=NVTPNQ4PUNZN-187013513-435</Url>
      <Description>NVTPNQ4PUNZN-187013513-435</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1CBBDFEA-39BA-42A6-9A26-33DF08761A3B}">
  <ds:schemaRefs>
    <ds:schemaRef ds:uri="8479f66d-0fab-4573-bb34-2faaa6c56896"/>
    <ds:schemaRef ds:uri="a685f29f-8b29-4906-aa28-45c903b9817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7DF283F-4B82-4892-8EF9-70B9B3E3286B}">
  <ds:schemaRefs>
    <ds:schemaRef ds:uri="8479f66d-0fab-4573-bb34-2faaa6c56896"/>
    <ds:schemaRef ds:uri="a685f29f-8b29-4906-aa28-45c903b9817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4.xml><?xml version="1.0" encoding="utf-8"?>
<ds:datastoreItem xmlns:ds="http://schemas.openxmlformats.org/officeDocument/2006/customXml" ds:itemID="{E423A683-9B41-4906-B8D2-900023F6F165}">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Widescreen</PresentationFormat>
  <Slides>11</Slides>
  <Notes>2</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White</vt:lpstr>
      <vt:lpstr>Contrast</vt:lpstr>
      <vt:lpstr>Accelerating value creation through AI</vt:lpstr>
      <vt:lpstr>Context &amp; Objectives</vt:lpstr>
      <vt:lpstr>1. The plan to productize our methodology, replicate with KKR, and scale to other PE funds</vt:lpstr>
      <vt:lpstr>1. What we are trying to achieve with the BC</vt:lpstr>
      <vt:lpstr>1. Our hypothesis on new capabilities we will build / further develop</vt:lpstr>
      <vt:lpstr>2. Our workplan for the Blue Currency</vt:lpstr>
      <vt:lpstr>3. Joint Private Capital and GM&amp;S support – Co-investing in the BC for the benefit of both Practices</vt:lpstr>
      <vt:lpstr>3. What do we need to get started </vt:lpstr>
      <vt:lpstr>Backup</vt:lpstr>
      <vt:lpstr>We will leverage the learning from Procurement / Pricing efforts, but recognize the differences</vt:lpstr>
      <vt:lpstr>Example screenshots from Cursor-based dashboard created for a similar Blue Currency currently running for another client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Emanuele D'Avolio</dc:creator>
  <cp:keywords/>
  <dc:description/>
  <cp:revision>3</cp:revision>
  <cp:lastPrinted>2018-10-30T20:37:12Z</cp:lastPrinted>
  <dcterms:created xsi:type="dcterms:W3CDTF">2026-04-29T03:30:07Z</dcterms:created>
  <dcterms:modified xsi:type="dcterms:W3CDTF">2026-06-11T14:40:59Z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0x010100905762DEC12AEA479E66D30C69FBF331</vt:lpwstr>
  </property>
  <property fmtid="{D5CDD505-2E9C-101B-9397-08002B2CF9AE}" pid="10" name="MSIP_Label_83303d7c-e5a3-4cc8-90eb-69bfd7570ac4_Enabled">
    <vt:lpwstr>true</vt:lpwstr>
  </property>
  <property fmtid="{D5CDD505-2E9C-101B-9397-08002B2CF9AE}" pid="11" name="MSIP_Label_83303d7c-e5a3-4cc8-90eb-69bfd7570ac4_SetDate">
    <vt:lpwstr>2026-04-29T05:26:37Z</vt:lpwstr>
  </property>
  <property fmtid="{D5CDD505-2E9C-101B-9397-08002B2CF9AE}" pid="12" name="MSIP_Label_83303d7c-e5a3-4cc8-90eb-69bfd7570ac4_Method">
    <vt:lpwstr>Standard</vt:lpwstr>
  </property>
  <property fmtid="{D5CDD505-2E9C-101B-9397-08002B2CF9AE}" pid="13" name="MSIP_Label_83303d7c-e5a3-4cc8-90eb-69bfd7570ac4_Name">
    <vt:lpwstr>Client Confidential Information-SLV1</vt:lpwstr>
  </property>
  <property fmtid="{D5CDD505-2E9C-101B-9397-08002B2CF9AE}" pid="14" name="MSIP_Label_83303d7c-e5a3-4cc8-90eb-69bfd7570ac4_SiteId">
    <vt:lpwstr>cc8936bc-9382-4fff-87cb-6f55999549e7</vt:lpwstr>
  </property>
  <property fmtid="{D5CDD505-2E9C-101B-9397-08002B2CF9AE}" pid="15" name="MSIP_Label_83303d7c-e5a3-4cc8-90eb-69bfd7570ac4_ActionId">
    <vt:lpwstr>4d39eac3-4afe-4556-84b5-664c30c3b92f</vt:lpwstr>
  </property>
  <property fmtid="{D5CDD505-2E9C-101B-9397-08002B2CF9AE}" pid="16" name="MSIP_Label_83303d7c-e5a3-4cc8-90eb-69bfd7570ac4_ContentBits">
    <vt:lpwstr>0</vt:lpwstr>
  </property>
  <property fmtid="{D5CDD505-2E9C-101B-9397-08002B2CF9AE}" pid="17" name="MSIP_Label_83303d7c-e5a3-4cc8-90eb-69bfd7570ac4_Tag">
    <vt:lpwstr>10, 3, 0, 1</vt:lpwstr>
  </property>
  <property fmtid="{D5CDD505-2E9C-101B-9397-08002B2CF9AE}" pid="18" name="_dlc_DocIdItemGuid">
    <vt:lpwstr>86908924-e16f-4f58-b98a-71071ea952a6</vt:lpwstr>
  </property>
</Properties>
</file>